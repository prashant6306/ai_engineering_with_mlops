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932D0320-2EE1-4201-8CD4-422AEBF2E7C4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F43F760-EABB-430A-9B9A-69F7F6103AA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C0E4151-0425-4753-AB71-0E0E3912B9D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3439255-2481-44BD-A911-006D3294233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5522374-932A-4687-885A-5C573E73BB8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D0A9F0E-6D7C-4A98-9932-998E6B23A60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75F47D5-DCB4-4E6D-B0AB-74C0AC0CB39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8729E18-81CE-4F0D-855B-214D4824F12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CB3577A-9A84-4CD6-8BF6-60E964F7200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BB84BEB-8343-4C1B-B8DB-93304B5DC09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BA95501-A180-4F76-8789-58F0D1EF5BC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E28B95A-A9F1-4815-9714-E2FA20FDAB1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493EDBC-6CE1-4BC6-90A0-35D885DFE00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457200" y="1828800"/>
            <a:ext cx="8229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400" spc="-1" strike="noStrike">
                <a:solidFill>
                  <a:srgbClr val="ffffff"/>
                </a:solidFill>
                <a:latin typeface="Georgia"/>
                <a:ea typeface="Georgia"/>
              </a:rPr>
              <a:t>Python Lists</a:t>
            </a:r>
            <a:endParaRPr b="0" lang="en-IN" sz="5400" spc="-1" strike="noStrike"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457200" y="33832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f5f5f5"/>
                </a:solidFill>
                <a:latin typeface="Calibri"/>
                <a:ea typeface="Calibri"/>
              </a:rPr>
              <a:t>Part 2: Slicing, Looping &amp; Basic Operations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457200" y="59436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5f5f5"/>
                </a:solidFill>
                <a:latin typeface="Calibri"/>
                <a:ea typeface="Calibri"/>
              </a:rPr>
              <a:t>Advanced List Manipulation Techniques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List Slicing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48" name="Text 1"/>
          <p:cNvSpPr/>
          <p:nvPr/>
        </p:nvSpPr>
        <p:spPr>
          <a:xfrm>
            <a:off x="640080" y="109728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String slicing allows you to extract a subset (sublist) of a list. You can slice a list to create a new list containing selected elements.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49" name="Text 2"/>
          <p:cNvSpPr/>
          <p:nvPr/>
        </p:nvSpPr>
        <p:spPr>
          <a:xfrm>
            <a:off x="640080" y="173736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65a82"/>
                </a:solidFill>
                <a:latin typeface="Calibri"/>
                <a:ea typeface="Calibri"/>
              </a:rPr>
              <a:t>Syntax: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50" name="Shape 3"/>
          <p:cNvSpPr/>
          <p:nvPr/>
        </p:nvSpPr>
        <p:spPr>
          <a:xfrm>
            <a:off x="640080" y="2148840"/>
            <a:ext cx="7863480" cy="548280"/>
          </a:xfrm>
          <a:prstGeom prst="rect">
            <a:avLst/>
          </a:prstGeom>
          <a:solidFill>
            <a:srgbClr val="f0f8ff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Text 4"/>
          <p:cNvSpPr/>
          <p:nvPr/>
        </p:nvSpPr>
        <p:spPr>
          <a:xfrm>
            <a:off x="914400" y="2331720"/>
            <a:ext cx="7314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onsolas"/>
                <a:ea typeface="Consolas"/>
              </a:rPr>
              <a:t>list_name[start:end]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2" name="Text 5"/>
          <p:cNvSpPr/>
          <p:nvPr/>
        </p:nvSpPr>
        <p:spPr>
          <a:xfrm>
            <a:off x="640080" y="283464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666666"/>
                </a:solidFill>
                <a:latin typeface="Calibri"/>
                <a:ea typeface="Calibri"/>
              </a:rPr>
              <a:t>Creates a new list from index 'start' up to (but not including) 'end'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3" name="Text 6"/>
          <p:cNvSpPr/>
          <p:nvPr/>
        </p:nvSpPr>
        <p:spPr>
          <a:xfrm>
            <a:off x="640080" y="329184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Example List: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4" name="Text 7"/>
          <p:cNvSpPr/>
          <p:nvPr/>
        </p:nvSpPr>
        <p:spPr>
          <a:xfrm>
            <a:off x="1645920" y="352044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onsolas"/>
                <a:ea typeface="Consolas"/>
              </a:rPr>
              <a:t>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5" name="Shape 8"/>
          <p:cNvSpPr/>
          <p:nvPr/>
        </p:nvSpPr>
        <p:spPr>
          <a:xfrm>
            <a:off x="1645920" y="3840480"/>
            <a:ext cx="914040" cy="5482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Text 9"/>
          <p:cNvSpPr/>
          <p:nvPr/>
        </p:nvSpPr>
        <p:spPr>
          <a:xfrm>
            <a:off x="1645920" y="397764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nsolas"/>
                <a:ea typeface="Consolas"/>
              </a:rPr>
              <a:t>10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57" name="Text 10"/>
          <p:cNvSpPr/>
          <p:nvPr/>
        </p:nvSpPr>
        <p:spPr>
          <a:xfrm>
            <a:off x="2743200" y="352044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onsolas"/>
                <a:ea typeface="Consolas"/>
              </a:rPr>
              <a:t>1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8" name="Shape 11"/>
          <p:cNvSpPr/>
          <p:nvPr/>
        </p:nvSpPr>
        <p:spPr>
          <a:xfrm>
            <a:off x="2743200" y="3840480"/>
            <a:ext cx="914040" cy="5482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Text 12"/>
          <p:cNvSpPr/>
          <p:nvPr/>
        </p:nvSpPr>
        <p:spPr>
          <a:xfrm>
            <a:off x="2743200" y="397764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nsolas"/>
                <a:ea typeface="Consolas"/>
              </a:rPr>
              <a:t>20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60" name="Text 13"/>
          <p:cNvSpPr/>
          <p:nvPr/>
        </p:nvSpPr>
        <p:spPr>
          <a:xfrm>
            <a:off x="3840480" y="352044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onsolas"/>
                <a:ea typeface="Consolas"/>
              </a:rPr>
              <a:t>2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1" name="Shape 14"/>
          <p:cNvSpPr/>
          <p:nvPr/>
        </p:nvSpPr>
        <p:spPr>
          <a:xfrm>
            <a:off x="3840480" y="3840480"/>
            <a:ext cx="914040" cy="5482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Text 15"/>
          <p:cNvSpPr/>
          <p:nvPr/>
        </p:nvSpPr>
        <p:spPr>
          <a:xfrm>
            <a:off x="3840480" y="397764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nsolas"/>
                <a:ea typeface="Consolas"/>
              </a:rPr>
              <a:t>30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63" name="Text 16"/>
          <p:cNvSpPr/>
          <p:nvPr/>
        </p:nvSpPr>
        <p:spPr>
          <a:xfrm>
            <a:off x="4937760" y="352044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onsolas"/>
                <a:ea typeface="Consolas"/>
              </a:rPr>
              <a:t>3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4" name="Shape 17"/>
          <p:cNvSpPr/>
          <p:nvPr/>
        </p:nvSpPr>
        <p:spPr>
          <a:xfrm>
            <a:off x="4937760" y="3840480"/>
            <a:ext cx="914040" cy="5482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Text 18"/>
          <p:cNvSpPr/>
          <p:nvPr/>
        </p:nvSpPr>
        <p:spPr>
          <a:xfrm>
            <a:off x="4937760" y="397764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nsolas"/>
                <a:ea typeface="Consolas"/>
              </a:rPr>
              <a:t>40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66" name="Text 19"/>
          <p:cNvSpPr/>
          <p:nvPr/>
        </p:nvSpPr>
        <p:spPr>
          <a:xfrm>
            <a:off x="6035040" y="352044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onsolas"/>
                <a:ea typeface="Consolas"/>
              </a:rPr>
              <a:t>4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7" name="Shape 20"/>
          <p:cNvSpPr/>
          <p:nvPr/>
        </p:nvSpPr>
        <p:spPr>
          <a:xfrm>
            <a:off x="6035040" y="3840480"/>
            <a:ext cx="914040" cy="5482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Text 21"/>
          <p:cNvSpPr/>
          <p:nvPr/>
        </p:nvSpPr>
        <p:spPr>
          <a:xfrm>
            <a:off x="6035040" y="397764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nsolas"/>
                <a:ea typeface="Consolas"/>
              </a:rPr>
              <a:t>50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69" name="Text 22"/>
          <p:cNvSpPr/>
          <p:nvPr/>
        </p:nvSpPr>
        <p:spPr>
          <a:xfrm>
            <a:off x="1645920" y="457200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666666"/>
                </a:solidFill>
                <a:latin typeface="Consolas"/>
                <a:ea typeface="Consolas"/>
              </a:rPr>
              <a:t>data = [10, 20, 30, 40, 50]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0" name="Text 23"/>
          <p:cNvSpPr/>
          <p:nvPr/>
        </p:nvSpPr>
        <p:spPr>
          <a:xfrm>
            <a:off x="640080" y="502920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Slicing Examples: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71" name="Text 24"/>
          <p:cNvSpPr/>
          <p:nvPr/>
        </p:nvSpPr>
        <p:spPr>
          <a:xfrm>
            <a:off x="914400" y="544068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data[0:2]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2" name="Text 25"/>
          <p:cNvSpPr/>
          <p:nvPr/>
        </p:nvSpPr>
        <p:spPr>
          <a:xfrm>
            <a:off x="2651760" y="5440680"/>
            <a:ext cx="273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1295c"/>
                </a:solidFill>
                <a:latin typeface="Calibri"/>
                <a:ea typeface="Calibri"/>
              </a:rPr>
              <a:t>→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3" name="Text 26"/>
          <p:cNvSpPr/>
          <p:nvPr/>
        </p:nvSpPr>
        <p:spPr>
          <a:xfrm>
            <a:off x="3017520" y="544068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333333"/>
                </a:solidFill>
                <a:latin typeface="Consolas"/>
                <a:ea typeface="Consolas"/>
              </a:rPr>
              <a:t>[10, 20]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4" name="Text 27"/>
          <p:cNvSpPr/>
          <p:nvPr/>
        </p:nvSpPr>
        <p:spPr>
          <a:xfrm>
            <a:off x="5029200" y="5440680"/>
            <a:ext cx="3382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66666"/>
                </a:solidFill>
                <a:latin typeface="Calibri"/>
                <a:ea typeface="Calibri"/>
              </a:rPr>
              <a:t>First 2 elements (index 0, 1)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75" name="Text 28"/>
          <p:cNvSpPr/>
          <p:nvPr/>
        </p:nvSpPr>
        <p:spPr>
          <a:xfrm>
            <a:off x="914400" y="580644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data[1:4]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6" name="Text 29"/>
          <p:cNvSpPr/>
          <p:nvPr/>
        </p:nvSpPr>
        <p:spPr>
          <a:xfrm>
            <a:off x="2651760" y="5806440"/>
            <a:ext cx="273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1295c"/>
                </a:solidFill>
                <a:latin typeface="Calibri"/>
                <a:ea typeface="Calibri"/>
              </a:rPr>
              <a:t>→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7" name="Text 30"/>
          <p:cNvSpPr/>
          <p:nvPr/>
        </p:nvSpPr>
        <p:spPr>
          <a:xfrm>
            <a:off x="3017520" y="580644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333333"/>
                </a:solidFill>
                <a:latin typeface="Consolas"/>
                <a:ea typeface="Consolas"/>
              </a:rPr>
              <a:t>[20, 30, 40]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8" name="Text 31"/>
          <p:cNvSpPr/>
          <p:nvPr/>
        </p:nvSpPr>
        <p:spPr>
          <a:xfrm>
            <a:off x="5029200" y="5806440"/>
            <a:ext cx="3382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66666"/>
                </a:solidFill>
                <a:latin typeface="Calibri"/>
                <a:ea typeface="Calibri"/>
              </a:rPr>
              <a:t>Index 1 through 3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79" name="Text 32"/>
          <p:cNvSpPr/>
          <p:nvPr/>
        </p:nvSpPr>
        <p:spPr>
          <a:xfrm>
            <a:off x="914400" y="617220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data[2:5]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0" name="Text 33"/>
          <p:cNvSpPr/>
          <p:nvPr/>
        </p:nvSpPr>
        <p:spPr>
          <a:xfrm>
            <a:off x="2651760" y="6172200"/>
            <a:ext cx="273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1295c"/>
                </a:solidFill>
                <a:latin typeface="Calibri"/>
                <a:ea typeface="Calibri"/>
              </a:rPr>
              <a:t>→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1" name="Text 34"/>
          <p:cNvSpPr/>
          <p:nvPr/>
        </p:nvSpPr>
        <p:spPr>
          <a:xfrm>
            <a:off x="3017520" y="617220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333333"/>
                </a:solidFill>
                <a:latin typeface="Consolas"/>
                <a:ea typeface="Consolas"/>
              </a:rPr>
              <a:t>[30, 40, 50]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2" name="Text 35"/>
          <p:cNvSpPr/>
          <p:nvPr/>
        </p:nvSpPr>
        <p:spPr>
          <a:xfrm>
            <a:off x="5029200" y="6172200"/>
            <a:ext cx="3382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66666"/>
                </a:solidFill>
                <a:latin typeface="Calibri"/>
                <a:ea typeface="Calibri"/>
              </a:rPr>
              <a:t>Index 2 through 4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Advanced Slicing Techniques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84" name="Text 1"/>
          <p:cNvSpPr/>
          <p:nvPr/>
        </p:nvSpPr>
        <p:spPr>
          <a:xfrm>
            <a:off x="640080" y="109728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1. Slice from Beginning: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5" name="Shape 2"/>
          <p:cNvSpPr/>
          <p:nvPr/>
        </p:nvSpPr>
        <p:spPr>
          <a:xfrm>
            <a:off x="640080" y="1508760"/>
            <a:ext cx="7863480" cy="822600"/>
          </a:xfrm>
          <a:prstGeom prst="rect">
            <a:avLst/>
          </a:prstGeom>
          <a:solidFill>
            <a:srgbClr val="f5f5f5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Text 3"/>
          <p:cNvSpPr/>
          <p:nvPr/>
        </p:nvSpPr>
        <p:spPr>
          <a:xfrm>
            <a:off x="822960" y="1645920"/>
            <a:ext cx="7497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data = [10, 20, 30, 40, 50]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print(data[0:3])    # [10, 20, 30]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print(data[:3])     # [10, 20, 30]  ← Omit 0 for beginning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7" name="Text 4"/>
          <p:cNvSpPr/>
          <p:nvPr/>
        </p:nvSpPr>
        <p:spPr>
          <a:xfrm>
            <a:off x="640080" y="251460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2. Slice to End: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8" name="Shape 5"/>
          <p:cNvSpPr/>
          <p:nvPr/>
        </p:nvSpPr>
        <p:spPr>
          <a:xfrm>
            <a:off x="640080" y="2926080"/>
            <a:ext cx="7863480" cy="822600"/>
          </a:xfrm>
          <a:prstGeom prst="rect">
            <a:avLst/>
          </a:prstGeom>
          <a:solidFill>
            <a:srgbClr val="f5f5f5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Text 6"/>
          <p:cNvSpPr/>
          <p:nvPr/>
        </p:nvSpPr>
        <p:spPr>
          <a:xfrm>
            <a:off x="822960" y="3063240"/>
            <a:ext cx="7497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data = [10, 20, 30, 40, 50]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print(data[2:5])    # [30, 40, 50]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print(data[2:])     # [30, 40, 50]  ← Omit end for rest of list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0" name="Text 7"/>
          <p:cNvSpPr/>
          <p:nvPr/>
        </p:nvSpPr>
        <p:spPr>
          <a:xfrm>
            <a:off x="640080" y="393192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3. Copy Entire List: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1" name="Shape 8"/>
          <p:cNvSpPr/>
          <p:nvPr/>
        </p:nvSpPr>
        <p:spPr>
          <a:xfrm>
            <a:off x="640080" y="4343400"/>
            <a:ext cx="7863480" cy="822600"/>
          </a:xfrm>
          <a:prstGeom prst="rect">
            <a:avLst/>
          </a:prstGeom>
          <a:solidFill>
            <a:srgbClr val="f5f5f5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Text 9"/>
          <p:cNvSpPr/>
          <p:nvPr/>
        </p:nvSpPr>
        <p:spPr>
          <a:xfrm>
            <a:off x="822960" y="4480560"/>
            <a:ext cx="7497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data = [10, 20, 30, 40, 50]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print(data[0:5])    # [10, 20, 30, 40, 50]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print(data[:])      # [10, 20, 30, 40, 50]  ← Copy all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3" name="Text 10"/>
          <p:cNvSpPr/>
          <p:nvPr/>
        </p:nvSpPr>
        <p:spPr>
          <a:xfrm>
            <a:off x="640080" y="539496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Slicing Shortcuts: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94" name="Shape 11"/>
          <p:cNvSpPr/>
          <p:nvPr/>
        </p:nvSpPr>
        <p:spPr>
          <a:xfrm>
            <a:off x="640080" y="5806440"/>
            <a:ext cx="7863480" cy="3196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Text 12"/>
          <p:cNvSpPr/>
          <p:nvPr/>
        </p:nvSpPr>
        <p:spPr>
          <a:xfrm>
            <a:off x="822960" y="585216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list[:n]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6" name="Text 13"/>
          <p:cNvSpPr/>
          <p:nvPr/>
        </p:nvSpPr>
        <p:spPr>
          <a:xfrm>
            <a:off x="2926080" y="585216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55555"/>
                </a:solidFill>
                <a:latin typeface="Calibri"/>
                <a:ea typeface="Calibri"/>
              </a:rPr>
              <a:t>First n elements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7" name="Text 14"/>
          <p:cNvSpPr/>
          <p:nvPr/>
        </p:nvSpPr>
        <p:spPr>
          <a:xfrm>
            <a:off x="5943600" y="585216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1295c"/>
                </a:solidFill>
                <a:latin typeface="Consolas"/>
                <a:ea typeface="Consolas"/>
              </a:rPr>
              <a:t>data[:3]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8" name="Shape 15"/>
          <p:cNvSpPr/>
          <p:nvPr/>
        </p:nvSpPr>
        <p:spPr>
          <a:xfrm>
            <a:off x="640080" y="6126480"/>
            <a:ext cx="7863480" cy="3196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Text 16"/>
          <p:cNvSpPr/>
          <p:nvPr/>
        </p:nvSpPr>
        <p:spPr>
          <a:xfrm>
            <a:off x="822960" y="617220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list[n:]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0" name="Text 17"/>
          <p:cNvSpPr/>
          <p:nvPr/>
        </p:nvSpPr>
        <p:spPr>
          <a:xfrm>
            <a:off x="2926080" y="617220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55555"/>
                </a:solidFill>
                <a:latin typeface="Calibri"/>
                <a:ea typeface="Calibri"/>
              </a:rPr>
              <a:t>From index n to end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1" name="Text 18"/>
          <p:cNvSpPr/>
          <p:nvPr/>
        </p:nvSpPr>
        <p:spPr>
          <a:xfrm>
            <a:off x="5943600" y="617220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1295c"/>
                </a:solidFill>
                <a:latin typeface="Consolas"/>
                <a:ea typeface="Consolas"/>
              </a:rPr>
              <a:t>data[2:]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2" name="Shape 19"/>
          <p:cNvSpPr/>
          <p:nvPr/>
        </p:nvSpPr>
        <p:spPr>
          <a:xfrm>
            <a:off x="640080" y="6446520"/>
            <a:ext cx="7863480" cy="3196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Text 20"/>
          <p:cNvSpPr/>
          <p:nvPr/>
        </p:nvSpPr>
        <p:spPr>
          <a:xfrm>
            <a:off x="822960" y="649224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list[:]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4" name="Text 21"/>
          <p:cNvSpPr/>
          <p:nvPr/>
        </p:nvSpPr>
        <p:spPr>
          <a:xfrm>
            <a:off x="2926080" y="649224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55555"/>
                </a:solidFill>
                <a:latin typeface="Calibri"/>
                <a:ea typeface="Calibri"/>
              </a:rPr>
              <a:t>Entire list (copy)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5" name="Text 22"/>
          <p:cNvSpPr/>
          <p:nvPr/>
        </p:nvSpPr>
        <p:spPr>
          <a:xfrm>
            <a:off x="5943600" y="649224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1295c"/>
                </a:solidFill>
                <a:latin typeface="Consolas"/>
                <a:ea typeface="Consolas"/>
              </a:rPr>
              <a:t>data[:]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Looping Through Lists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07" name="Text 1"/>
          <p:cNvSpPr/>
          <p:nvPr/>
        </p:nvSpPr>
        <p:spPr>
          <a:xfrm>
            <a:off x="640080" y="109728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To process each element of a list individually, we use loops. Python provides two main ways to iterate through lists: while loops and for loops.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08" name="Text 2"/>
          <p:cNvSpPr/>
          <p:nvPr/>
        </p:nvSpPr>
        <p:spPr>
          <a:xfrm>
            <a:off x="640080" y="173736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Two Approaches to Loop Through Lists: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9" name="Shape 3"/>
          <p:cNvSpPr/>
          <p:nvPr/>
        </p:nvSpPr>
        <p:spPr>
          <a:xfrm>
            <a:off x="457200" y="2194560"/>
            <a:ext cx="4023000" cy="4388760"/>
          </a:xfrm>
          <a:prstGeom prst="rect">
            <a:avLst/>
          </a:prstGeom>
          <a:solidFill>
            <a:srgbClr val="f5f5f5"/>
          </a:solidFill>
          <a:ln w="381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Shape 4"/>
          <p:cNvSpPr/>
          <p:nvPr/>
        </p:nvSpPr>
        <p:spPr>
          <a:xfrm>
            <a:off x="594360" y="2331720"/>
            <a:ext cx="365400" cy="36540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Text 5"/>
          <p:cNvSpPr/>
          <p:nvPr/>
        </p:nvSpPr>
        <p:spPr>
          <a:xfrm>
            <a:off x="1051560" y="233172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21295c"/>
                </a:solidFill>
                <a:latin typeface="Georgia"/>
                <a:ea typeface="Georgia"/>
              </a:rPr>
              <a:t>While Loop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12" name="Text 6"/>
          <p:cNvSpPr/>
          <p:nvPr/>
        </p:nvSpPr>
        <p:spPr>
          <a:xfrm>
            <a:off x="640080" y="278892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666666"/>
                </a:solidFill>
                <a:latin typeface="Calibri"/>
                <a:ea typeface="Calibri"/>
              </a:rPr>
              <a:t>Using index to iterate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13" name="Text 7"/>
          <p:cNvSpPr/>
          <p:nvPr/>
        </p:nvSpPr>
        <p:spPr>
          <a:xfrm>
            <a:off x="640080" y="315468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65a82"/>
                </a:solidFill>
                <a:latin typeface="Calibri"/>
                <a:ea typeface="Calibri"/>
              </a:rPr>
              <a:t>Code: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14" name="Text 8"/>
          <p:cNvSpPr/>
          <p:nvPr/>
        </p:nvSpPr>
        <p:spPr>
          <a:xfrm>
            <a:off x="731520" y="3429000"/>
            <a:ext cx="3657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numbers = [10, 20, 30]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index = 0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while (index &lt; len(numbers)):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print(numbers[index])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index = index + 1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5" name="Text 9"/>
          <p:cNvSpPr/>
          <p:nvPr/>
        </p:nvSpPr>
        <p:spPr>
          <a:xfrm>
            <a:off x="640080" y="466344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65a82"/>
                </a:solidFill>
                <a:latin typeface="Calibri"/>
                <a:ea typeface="Calibri"/>
              </a:rPr>
              <a:t>Output: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16" name="Text 10"/>
          <p:cNvSpPr/>
          <p:nvPr/>
        </p:nvSpPr>
        <p:spPr>
          <a:xfrm>
            <a:off x="731520" y="4937760"/>
            <a:ext cx="3657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onsolas"/>
                <a:ea typeface="Consolas"/>
              </a:rPr>
              <a:t>10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onsolas"/>
                <a:ea typeface="Consolas"/>
              </a:rPr>
              <a:t>20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onsolas"/>
                <a:ea typeface="Consolas"/>
              </a:rPr>
              <a:t>30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7" name="Text 11"/>
          <p:cNvSpPr/>
          <p:nvPr/>
        </p:nvSpPr>
        <p:spPr>
          <a:xfrm>
            <a:off x="640080" y="5852160"/>
            <a:ext cx="3657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55555"/>
                </a:solidFill>
                <a:latin typeface="Calibri"/>
                <a:ea typeface="Calibri"/>
              </a:rPr>
              <a:t>✓ </a:t>
            </a:r>
            <a:r>
              <a:rPr b="0" lang="en-US" sz="1100" spc="-1" strike="noStrike">
                <a:solidFill>
                  <a:srgbClr val="555555"/>
                </a:solidFill>
                <a:latin typeface="Calibri"/>
                <a:ea typeface="Calibri"/>
              </a:rPr>
              <a:t>Manual index management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55555"/>
                </a:solidFill>
                <a:latin typeface="Calibri"/>
                <a:ea typeface="Calibri"/>
              </a:rPr>
              <a:t>✓ </a:t>
            </a:r>
            <a:r>
              <a:rPr b="0" lang="en-US" sz="1100" spc="-1" strike="noStrike">
                <a:solidFill>
                  <a:srgbClr val="555555"/>
                </a:solidFill>
                <a:latin typeface="Calibri"/>
                <a:ea typeface="Calibri"/>
              </a:rPr>
              <a:t>More control over iteration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8" name="Shape 12"/>
          <p:cNvSpPr/>
          <p:nvPr/>
        </p:nvSpPr>
        <p:spPr>
          <a:xfrm>
            <a:off x="4663440" y="2194560"/>
            <a:ext cx="4023000" cy="4388760"/>
          </a:xfrm>
          <a:prstGeom prst="rect">
            <a:avLst/>
          </a:prstGeom>
          <a:solidFill>
            <a:srgbClr val="f5f5f5"/>
          </a:solidFill>
          <a:ln w="381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Shape 13"/>
          <p:cNvSpPr/>
          <p:nvPr/>
        </p:nvSpPr>
        <p:spPr>
          <a:xfrm>
            <a:off x="4800600" y="2331720"/>
            <a:ext cx="365400" cy="365400"/>
          </a:xfrm>
          <a:prstGeom prst="ellipse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0" name="Text 14"/>
          <p:cNvSpPr/>
          <p:nvPr/>
        </p:nvSpPr>
        <p:spPr>
          <a:xfrm>
            <a:off x="5257800" y="233172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21295c"/>
                </a:solidFill>
                <a:latin typeface="Georgia"/>
                <a:ea typeface="Georgia"/>
              </a:rPr>
              <a:t>For Loop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21" name="Text 15"/>
          <p:cNvSpPr/>
          <p:nvPr/>
        </p:nvSpPr>
        <p:spPr>
          <a:xfrm>
            <a:off x="4846320" y="278892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666666"/>
                </a:solidFill>
                <a:latin typeface="Calibri"/>
                <a:ea typeface="Calibri"/>
              </a:rPr>
              <a:t>Direct element access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22" name="Text 16"/>
          <p:cNvSpPr/>
          <p:nvPr/>
        </p:nvSpPr>
        <p:spPr>
          <a:xfrm>
            <a:off x="4846320" y="315468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65a82"/>
                </a:solidFill>
                <a:latin typeface="Calibri"/>
                <a:ea typeface="Calibri"/>
              </a:rPr>
              <a:t>Code: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3" name="Text 17"/>
          <p:cNvSpPr/>
          <p:nvPr/>
        </p:nvSpPr>
        <p:spPr>
          <a:xfrm>
            <a:off x="4937760" y="3429000"/>
            <a:ext cx="3657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numbers = [10, 20, 30]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for item in numbers: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print(item)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4" name="Text 18"/>
          <p:cNvSpPr/>
          <p:nvPr/>
        </p:nvSpPr>
        <p:spPr>
          <a:xfrm>
            <a:off x="4846320" y="466344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65a82"/>
                </a:solidFill>
                <a:latin typeface="Calibri"/>
                <a:ea typeface="Calibri"/>
              </a:rPr>
              <a:t>Output: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5" name="Text 19"/>
          <p:cNvSpPr/>
          <p:nvPr/>
        </p:nvSpPr>
        <p:spPr>
          <a:xfrm>
            <a:off x="4937760" y="4937760"/>
            <a:ext cx="3657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onsolas"/>
                <a:ea typeface="Consolas"/>
              </a:rPr>
              <a:t>10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onsolas"/>
                <a:ea typeface="Consolas"/>
              </a:rPr>
              <a:t>20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onsolas"/>
                <a:ea typeface="Consolas"/>
              </a:rPr>
              <a:t>30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6" name="Text 20"/>
          <p:cNvSpPr/>
          <p:nvPr/>
        </p:nvSpPr>
        <p:spPr>
          <a:xfrm>
            <a:off x="4846320" y="5760720"/>
            <a:ext cx="3657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55555"/>
                </a:solidFill>
                <a:latin typeface="Calibri"/>
                <a:ea typeface="Calibri"/>
              </a:rPr>
              <a:t>✓ </a:t>
            </a:r>
            <a:r>
              <a:rPr b="0" lang="en-US" sz="1100" spc="-1" strike="noStrike">
                <a:solidFill>
                  <a:srgbClr val="555555"/>
                </a:solidFill>
                <a:latin typeface="Calibri"/>
                <a:ea typeface="Calibri"/>
              </a:rPr>
              <a:t>Simpler syntax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55555"/>
                </a:solidFill>
                <a:latin typeface="Calibri"/>
                <a:ea typeface="Calibri"/>
              </a:rPr>
              <a:t>✓ </a:t>
            </a:r>
            <a:r>
              <a:rPr b="0" lang="en-US" sz="1100" spc="-1" strike="noStrike">
                <a:solidFill>
                  <a:srgbClr val="555555"/>
                </a:solidFill>
                <a:latin typeface="Calibri"/>
                <a:ea typeface="Calibri"/>
              </a:rPr>
              <a:t>No index needed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55555"/>
                </a:solidFill>
                <a:latin typeface="Calibri"/>
                <a:ea typeface="Calibri"/>
              </a:rPr>
              <a:t>✓ </a:t>
            </a:r>
            <a:r>
              <a:rPr b="0" lang="en-US" sz="1100" spc="-1" strike="noStrike">
                <a:solidFill>
                  <a:srgbClr val="555555"/>
                </a:solidFill>
                <a:latin typeface="Calibri"/>
                <a:ea typeface="Calibri"/>
              </a:rPr>
              <a:t>Preferred method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enumerate() Function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28" name="Text 1"/>
          <p:cNvSpPr/>
          <p:nvPr/>
        </p:nvSpPr>
        <p:spPr>
          <a:xfrm>
            <a:off x="640080" y="109728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When you need both the index and the element value while looping, use the enumerate() function instead of manually tracking the index.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29" name="Text 2"/>
          <p:cNvSpPr/>
          <p:nvPr/>
        </p:nvSpPr>
        <p:spPr>
          <a:xfrm>
            <a:off x="640080" y="173736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Syntax: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0" name="Shape 3"/>
          <p:cNvSpPr/>
          <p:nvPr/>
        </p:nvSpPr>
        <p:spPr>
          <a:xfrm>
            <a:off x="640080" y="2148840"/>
            <a:ext cx="7863480" cy="456840"/>
          </a:xfrm>
          <a:prstGeom prst="rect">
            <a:avLst/>
          </a:prstGeom>
          <a:solidFill>
            <a:srgbClr val="f0f8ff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Text 4"/>
          <p:cNvSpPr/>
          <p:nvPr/>
        </p:nvSpPr>
        <p:spPr>
          <a:xfrm>
            <a:off x="914400" y="2286000"/>
            <a:ext cx="7314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onsolas"/>
                <a:ea typeface="Consolas"/>
              </a:rPr>
              <a:t>for index, element in enumerate(list_name):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32" name="Shape 5"/>
          <p:cNvSpPr/>
          <p:nvPr/>
        </p:nvSpPr>
        <p:spPr>
          <a:xfrm>
            <a:off x="640080" y="2834640"/>
            <a:ext cx="7863480" cy="2194200"/>
          </a:xfrm>
          <a:prstGeom prst="rect">
            <a:avLst/>
          </a:prstGeom>
          <a:solidFill>
            <a:srgbClr val="f8f8f8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Text 6"/>
          <p:cNvSpPr/>
          <p:nvPr/>
        </p:nvSpPr>
        <p:spPr>
          <a:xfrm>
            <a:off x="822960" y="2971800"/>
            <a:ext cx="7497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1295c"/>
                </a:solidFill>
                <a:latin typeface="Calibri"/>
                <a:ea typeface="Calibri"/>
              </a:rPr>
              <a:t>Complete Example: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34" name="Text 7"/>
          <p:cNvSpPr/>
          <p:nvPr/>
        </p:nvSpPr>
        <p:spPr>
          <a:xfrm>
            <a:off x="822960" y="3337560"/>
            <a:ext cx="74977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fruits = ['apple', 'banana', 'cherry']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for index, item in enumerate(fruits):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    </a:t>
            </a:r>
            <a:r>
              <a:rPr b="0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print("index:", index, "item:", item)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35" name="Text 8"/>
          <p:cNvSpPr/>
          <p:nvPr/>
        </p:nvSpPr>
        <p:spPr>
          <a:xfrm>
            <a:off x="822960" y="4343400"/>
            <a:ext cx="7497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Output: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36" name="Text 9"/>
          <p:cNvSpPr/>
          <p:nvPr/>
        </p:nvSpPr>
        <p:spPr>
          <a:xfrm>
            <a:off x="822960" y="4617720"/>
            <a:ext cx="7497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onsolas"/>
                <a:ea typeface="Consolas"/>
              </a:rPr>
              <a:t>index: 0  item: apple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onsolas"/>
                <a:ea typeface="Consolas"/>
              </a:rPr>
              <a:t>index: 1  item: banana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onsolas"/>
                <a:ea typeface="Consolas"/>
              </a:rPr>
              <a:t>index: 2  item: cherry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7" name="Text 10"/>
          <p:cNvSpPr/>
          <p:nvPr/>
        </p:nvSpPr>
        <p:spPr>
          <a:xfrm>
            <a:off x="640080" y="530352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Benefits of enumerate():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38" name="Shape 11"/>
          <p:cNvSpPr/>
          <p:nvPr/>
        </p:nvSpPr>
        <p:spPr>
          <a:xfrm>
            <a:off x="731520" y="5715000"/>
            <a:ext cx="228240" cy="22824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Text 12"/>
          <p:cNvSpPr/>
          <p:nvPr/>
        </p:nvSpPr>
        <p:spPr>
          <a:xfrm>
            <a:off x="1097280" y="5669280"/>
            <a:ext cx="7131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Provides both index and element in one step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0" name="Shape 13"/>
          <p:cNvSpPr/>
          <p:nvPr/>
        </p:nvSpPr>
        <p:spPr>
          <a:xfrm>
            <a:off x="731520" y="6035040"/>
            <a:ext cx="228240" cy="22824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Text 14"/>
          <p:cNvSpPr/>
          <p:nvPr/>
        </p:nvSpPr>
        <p:spPr>
          <a:xfrm>
            <a:off x="1097280" y="5989320"/>
            <a:ext cx="7131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Cleaner code than manual index tracking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2" name="Shape 15"/>
          <p:cNvSpPr/>
          <p:nvPr/>
        </p:nvSpPr>
        <p:spPr>
          <a:xfrm>
            <a:off x="731520" y="6355080"/>
            <a:ext cx="228240" cy="22824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Text 16"/>
          <p:cNvSpPr/>
          <p:nvPr/>
        </p:nvSpPr>
        <p:spPr>
          <a:xfrm>
            <a:off x="1097280" y="6309360"/>
            <a:ext cx="7131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No need to use len() or increment counters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4" name="Shape 17"/>
          <p:cNvSpPr/>
          <p:nvPr/>
        </p:nvSpPr>
        <p:spPr>
          <a:xfrm>
            <a:off x="731520" y="6675120"/>
            <a:ext cx="228240" cy="22824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Text 18"/>
          <p:cNvSpPr/>
          <p:nvPr/>
        </p:nvSpPr>
        <p:spPr>
          <a:xfrm>
            <a:off x="1097280" y="6629400"/>
            <a:ext cx="7131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Pythonic way to access index during iteration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List Mutability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47" name="Text 1"/>
          <p:cNvSpPr/>
          <p:nvPr/>
        </p:nvSpPr>
        <p:spPr>
          <a:xfrm>
            <a:off x="640080" y="109728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Lists are mutable, meaning they can be modified after creation. Once we create a list, we can change, add, or remove elements.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48" name="Text 2"/>
          <p:cNvSpPr/>
          <p:nvPr/>
        </p:nvSpPr>
        <p:spPr>
          <a:xfrm>
            <a:off x="640080" y="173736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Modifying Elements: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9" name="Shape 3"/>
          <p:cNvSpPr/>
          <p:nvPr/>
        </p:nvSpPr>
        <p:spPr>
          <a:xfrm>
            <a:off x="640080" y="2148840"/>
            <a:ext cx="7863480" cy="164556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Text 4"/>
          <p:cNvSpPr/>
          <p:nvPr/>
        </p:nvSpPr>
        <p:spPr>
          <a:xfrm>
            <a:off x="822960" y="2286000"/>
            <a:ext cx="74977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numbers = [1, 2, 3]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print(numbers)           # [1, 2, 3]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numbers[0] = 10          # Change first element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print(numbers)           # [10, 2, 3]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51" name="Text 5"/>
          <p:cNvSpPr/>
          <p:nvPr/>
        </p:nvSpPr>
        <p:spPr>
          <a:xfrm>
            <a:off x="640080" y="397764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Visual Representation: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52" name="Text 6"/>
          <p:cNvSpPr/>
          <p:nvPr/>
        </p:nvSpPr>
        <p:spPr>
          <a:xfrm>
            <a:off x="914400" y="443484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666666"/>
                </a:solidFill>
                <a:latin typeface="Calibri"/>
                <a:ea typeface="Calibri"/>
              </a:rPr>
              <a:t>Before: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3" name="Shape 7"/>
          <p:cNvSpPr/>
          <p:nvPr/>
        </p:nvSpPr>
        <p:spPr>
          <a:xfrm>
            <a:off x="914400" y="4754880"/>
            <a:ext cx="639720" cy="4568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Text 8"/>
          <p:cNvSpPr/>
          <p:nvPr/>
        </p:nvSpPr>
        <p:spPr>
          <a:xfrm>
            <a:off x="914400" y="486468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1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5" name="Shape 9"/>
          <p:cNvSpPr/>
          <p:nvPr/>
        </p:nvSpPr>
        <p:spPr>
          <a:xfrm>
            <a:off x="1645920" y="4754880"/>
            <a:ext cx="639720" cy="4568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Text 10"/>
          <p:cNvSpPr/>
          <p:nvPr/>
        </p:nvSpPr>
        <p:spPr>
          <a:xfrm>
            <a:off x="1645920" y="486468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2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7" name="Shape 11"/>
          <p:cNvSpPr/>
          <p:nvPr/>
        </p:nvSpPr>
        <p:spPr>
          <a:xfrm>
            <a:off x="2377440" y="4754880"/>
            <a:ext cx="639720" cy="4568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Text 12"/>
          <p:cNvSpPr/>
          <p:nvPr/>
        </p:nvSpPr>
        <p:spPr>
          <a:xfrm>
            <a:off x="2377440" y="486468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3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9" name="Text 13"/>
          <p:cNvSpPr/>
          <p:nvPr/>
        </p:nvSpPr>
        <p:spPr>
          <a:xfrm>
            <a:off x="3200400" y="48463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21295c"/>
                </a:solidFill>
                <a:latin typeface="Calibri"/>
                <a:ea typeface="Calibri"/>
              </a:rPr>
              <a:t>→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60" name="Text 14"/>
          <p:cNvSpPr/>
          <p:nvPr/>
        </p:nvSpPr>
        <p:spPr>
          <a:xfrm>
            <a:off x="3840480" y="443484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666666"/>
                </a:solidFill>
                <a:latin typeface="Calibri"/>
                <a:ea typeface="Calibri"/>
              </a:rPr>
              <a:t>After: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61" name="Shape 15"/>
          <p:cNvSpPr/>
          <p:nvPr/>
        </p:nvSpPr>
        <p:spPr>
          <a:xfrm>
            <a:off x="3840480" y="4754880"/>
            <a:ext cx="639720" cy="45684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Text 16"/>
          <p:cNvSpPr/>
          <p:nvPr/>
        </p:nvSpPr>
        <p:spPr>
          <a:xfrm>
            <a:off x="3840480" y="486468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10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63" name="Shape 17"/>
          <p:cNvSpPr/>
          <p:nvPr/>
        </p:nvSpPr>
        <p:spPr>
          <a:xfrm>
            <a:off x="4572000" y="4754880"/>
            <a:ext cx="639720" cy="4568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Text 18"/>
          <p:cNvSpPr/>
          <p:nvPr/>
        </p:nvSpPr>
        <p:spPr>
          <a:xfrm>
            <a:off x="4572000" y="486468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2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65" name="Shape 19"/>
          <p:cNvSpPr/>
          <p:nvPr/>
        </p:nvSpPr>
        <p:spPr>
          <a:xfrm>
            <a:off x="5303520" y="4754880"/>
            <a:ext cx="639720" cy="4568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Text 20"/>
          <p:cNvSpPr/>
          <p:nvPr/>
        </p:nvSpPr>
        <p:spPr>
          <a:xfrm>
            <a:off x="5303520" y="486468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3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67" name="Text 21"/>
          <p:cNvSpPr/>
          <p:nvPr/>
        </p:nvSpPr>
        <p:spPr>
          <a:xfrm>
            <a:off x="3840480" y="5303520"/>
            <a:ext cx="1919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1100" spc="-1" strike="noStrike">
                <a:solidFill>
                  <a:srgbClr val="21295c"/>
                </a:solidFill>
                <a:latin typeface="Calibri"/>
                <a:ea typeface="Calibri"/>
              </a:rPr>
              <a:t>Changed!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8" name="Shape 22"/>
          <p:cNvSpPr/>
          <p:nvPr/>
        </p:nvSpPr>
        <p:spPr>
          <a:xfrm>
            <a:off x="640080" y="5760720"/>
            <a:ext cx="7863480" cy="1005480"/>
          </a:xfrm>
          <a:prstGeom prst="rect">
            <a:avLst/>
          </a:prstGeom>
          <a:solidFill>
            <a:srgbClr val="fff8dc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Text 23"/>
          <p:cNvSpPr/>
          <p:nvPr/>
        </p:nvSpPr>
        <p:spPr>
          <a:xfrm>
            <a:off x="822960" y="5897880"/>
            <a:ext cx="7497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📝 </a:t>
            </a: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Important Notes: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70" name="Text 24"/>
          <p:cNvSpPr/>
          <p:nvPr/>
        </p:nvSpPr>
        <p:spPr>
          <a:xfrm>
            <a:off x="822960" y="6172200"/>
            <a:ext cx="7497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55555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555555"/>
                </a:solidFill>
                <a:latin typeface="Calibri"/>
                <a:ea typeface="Calibri"/>
              </a:rPr>
              <a:t>Lists are mutable - they can be changed in place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55555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555555"/>
                </a:solidFill>
                <a:latin typeface="Calibri"/>
                <a:ea typeface="Calibri"/>
              </a:rPr>
              <a:t>This means once a list is created, we can modify it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55555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555555"/>
                </a:solidFill>
                <a:latin typeface="Calibri"/>
                <a:ea typeface="Calibri"/>
              </a:rPr>
              <a:t>Contrast with tuples and strings which are immutable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List Concatenation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72" name="Text 1"/>
          <p:cNvSpPr/>
          <p:nvPr/>
        </p:nvSpPr>
        <p:spPr>
          <a:xfrm>
            <a:off x="640080" y="109728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You can join two lists together to create a new combined list. We use the + operator to concatenate (merge) lists.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73" name="Text 2"/>
          <p:cNvSpPr/>
          <p:nvPr/>
        </p:nvSpPr>
        <p:spPr>
          <a:xfrm>
            <a:off x="640080" y="173736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Using + Operator: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4" name="Shape 3"/>
          <p:cNvSpPr/>
          <p:nvPr/>
        </p:nvSpPr>
        <p:spPr>
          <a:xfrm>
            <a:off x="640080" y="2148840"/>
            <a:ext cx="7863480" cy="456840"/>
          </a:xfrm>
          <a:prstGeom prst="rect">
            <a:avLst/>
          </a:prstGeom>
          <a:solidFill>
            <a:srgbClr val="f0f8ff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Text 4"/>
          <p:cNvSpPr/>
          <p:nvPr/>
        </p:nvSpPr>
        <p:spPr>
          <a:xfrm>
            <a:off x="914400" y="2286000"/>
            <a:ext cx="7314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onsolas"/>
                <a:ea typeface="Consolas"/>
              </a:rPr>
              <a:t>new_list = list1 + list2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76" name="Text 5"/>
          <p:cNvSpPr/>
          <p:nvPr/>
        </p:nvSpPr>
        <p:spPr>
          <a:xfrm>
            <a:off x="640080" y="283464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Visual Example: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77" name="Text 6"/>
          <p:cNvSpPr/>
          <p:nvPr/>
        </p:nvSpPr>
        <p:spPr>
          <a:xfrm>
            <a:off x="822960" y="329184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666666"/>
                </a:solidFill>
                <a:latin typeface="Consolas"/>
                <a:ea typeface="Consolas"/>
              </a:rPr>
              <a:t>list1 = [1, 2, 3]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8" name="Shape 7"/>
          <p:cNvSpPr/>
          <p:nvPr/>
        </p:nvSpPr>
        <p:spPr>
          <a:xfrm>
            <a:off x="822960" y="3611880"/>
            <a:ext cx="548280" cy="4568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Text 8"/>
          <p:cNvSpPr/>
          <p:nvPr/>
        </p:nvSpPr>
        <p:spPr>
          <a:xfrm>
            <a:off x="822960" y="372168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1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0" name="Shape 9"/>
          <p:cNvSpPr/>
          <p:nvPr/>
        </p:nvSpPr>
        <p:spPr>
          <a:xfrm>
            <a:off x="1463040" y="3611880"/>
            <a:ext cx="548280" cy="4568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Text 10"/>
          <p:cNvSpPr/>
          <p:nvPr/>
        </p:nvSpPr>
        <p:spPr>
          <a:xfrm>
            <a:off x="1463040" y="372168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2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2" name="Shape 11"/>
          <p:cNvSpPr/>
          <p:nvPr/>
        </p:nvSpPr>
        <p:spPr>
          <a:xfrm>
            <a:off x="2103120" y="3611880"/>
            <a:ext cx="548280" cy="4568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Text 12"/>
          <p:cNvSpPr/>
          <p:nvPr/>
        </p:nvSpPr>
        <p:spPr>
          <a:xfrm>
            <a:off x="2103120" y="372168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3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4" name="Text 13"/>
          <p:cNvSpPr/>
          <p:nvPr/>
        </p:nvSpPr>
        <p:spPr>
          <a:xfrm>
            <a:off x="3017520" y="370332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21295c"/>
                </a:solidFill>
                <a:latin typeface="Calibri"/>
                <a:ea typeface="Calibri"/>
              </a:rPr>
              <a:t>+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85" name="Text 14"/>
          <p:cNvSpPr/>
          <p:nvPr/>
        </p:nvSpPr>
        <p:spPr>
          <a:xfrm>
            <a:off x="3566160" y="329184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666666"/>
                </a:solidFill>
                <a:latin typeface="Consolas"/>
                <a:ea typeface="Consolas"/>
              </a:rPr>
              <a:t>list2 = [4, 5, 6]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6" name="Shape 15"/>
          <p:cNvSpPr/>
          <p:nvPr/>
        </p:nvSpPr>
        <p:spPr>
          <a:xfrm>
            <a:off x="3566160" y="3611880"/>
            <a:ext cx="548280" cy="45684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Text 16"/>
          <p:cNvSpPr/>
          <p:nvPr/>
        </p:nvSpPr>
        <p:spPr>
          <a:xfrm>
            <a:off x="3566160" y="372168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4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8" name="Shape 17"/>
          <p:cNvSpPr/>
          <p:nvPr/>
        </p:nvSpPr>
        <p:spPr>
          <a:xfrm>
            <a:off x="4206240" y="3611880"/>
            <a:ext cx="548280" cy="45684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9" name="Text 18"/>
          <p:cNvSpPr/>
          <p:nvPr/>
        </p:nvSpPr>
        <p:spPr>
          <a:xfrm>
            <a:off x="4206240" y="372168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0" name="Shape 19"/>
          <p:cNvSpPr/>
          <p:nvPr/>
        </p:nvSpPr>
        <p:spPr>
          <a:xfrm>
            <a:off x="4846320" y="3611880"/>
            <a:ext cx="548280" cy="45684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Text 20"/>
          <p:cNvSpPr/>
          <p:nvPr/>
        </p:nvSpPr>
        <p:spPr>
          <a:xfrm>
            <a:off x="4846320" y="372168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6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2" name="Text 21"/>
          <p:cNvSpPr/>
          <p:nvPr/>
        </p:nvSpPr>
        <p:spPr>
          <a:xfrm>
            <a:off x="5760720" y="370332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21295c"/>
                </a:solidFill>
                <a:latin typeface="Calibri"/>
                <a:ea typeface="Calibri"/>
              </a:rPr>
              <a:t>=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93" name="Text 22"/>
          <p:cNvSpPr/>
          <p:nvPr/>
        </p:nvSpPr>
        <p:spPr>
          <a:xfrm>
            <a:off x="822960" y="4389120"/>
            <a:ext cx="4114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666666"/>
                </a:solidFill>
                <a:latin typeface="Consolas"/>
                <a:ea typeface="Consolas"/>
              </a:rPr>
              <a:t>list3 = [1, 2, 3, 4, 5, 6]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94" name="Shape 23"/>
          <p:cNvSpPr/>
          <p:nvPr/>
        </p:nvSpPr>
        <p:spPr>
          <a:xfrm>
            <a:off x="822960" y="4709160"/>
            <a:ext cx="548280" cy="4568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5" name="Text 24"/>
          <p:cNvSpPr/>
          <p:nvPr/>
        </p:nvSpPr>
        <p:spPr>
          <a:xfrm>
            <a:off x="822960" y="481896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1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6" name="Shape 25"/>
          <p:cNvSpPr/>
          <p:nvPr/>
        </p:nvSpPr>
        <p:spPr>
          <a:xfrm>
            <a:off x="1463040" y="4709160"/>
            <a:ext cx="548280" cy="4568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Text 26"/>
          <p:cNvSpPr/>
          <p:nvPr/>
        </p:nvSpPr>
        <p:spPr>
          <a:xfrm>
            <a:off x="1463040" y="481896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2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8" name="Shape 27"/>
          <p:cNvSpPr/>
          <p:nvPr/>
        </p:nvSpPr>
        <p:spPr>
          <a:xfrm>
            <a:off x="2103120" y="4709160"/>
            <a:ext cx="548280" cy="4568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Text 28"/>
          <p:cNvSpPr/>
          <p:nvPr/>
        </p:nvSpPr>
        <p:spPr>
          <a:xfrm>
            <a:off x="2103120" y="481896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3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00" name="Shape 29"/>
          <p:cNvSpPr/>
          <p:nvPr/>
        </p:nvSpPr>
        <p:spPr>
          <a:xfrm>
            <a:off x="2743200" y="4709160"/>
            <a:ext cx="548280" cy="45684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1" name="Text 30"/>
          <p:cNvSpPr/>
          <p:nvPr/>
        </p:nvSpPr>
        <p:spPr>
          <a:xfrm>
            <a:off x="2743200" y="481896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4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02" name="Shape 31"/>
          <p:cNvSpPr/>
          <p:nvPr/>
        </p:nvSpPr>
        <p:spPr>
          <a:xfrm>
            <a:off x="3383280" y="4709160"/>
            <a:ext cx="548280" cy="45684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3" name="Text 32"/>
          <p:cNvSpPr/>
          <p:nvPr/>
        </p:nvSpPr>
        <p:spPr>
          <a:xfrm>
            <a:off x="3383280" y="481896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04" name="Shape 33"/>
          <p:cNvSpPr/>
          <p:nvPr/>
        </p:nvSpPr>
        <p:spPr>
          <a:xfrm>
            <a:off x="4023360" y="4709160"/>
            <a:ext cx="548280" cy="45684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5" name="Text 34"/>
          <p:cNvSpPr/>
          <p:nvPr/>
        </p:nvSpPr>
        <p:spPr>
          <a:xfrm>
            <a:off x="4023360" y="481896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6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06" name="Shape 35"/>
          <p:cNvSpPr/>
          <p:nvPr/>
        </p:nvSpPr>
        <p:spPr>
          <a:xfrm>
            <a:off x="640080" y="5486400"/>
            <a:ext cx="7863480" cy="1188360"/>
          </a:xfrm>
          <a:prstGeom prst="rect">
            <a:avLst/>
          </a:prstGeom>
          <a:solidFill>
            <a:srgbClr val="f8f8f8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7" name="Text 36"/>
          <p:cNvSpPr/>
          <p:nvPr/>
        </p:nvSpPr>
        <p:spPr>
          <a:xfrm>
            <a:off x="822960" y="5623560"/>
            <a:ext cx="7497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Code Example: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08" name="Text 37"/>
          <p:cNvSpPr/>
          <p:nvPr/>
        </p:nvSpPr>
        <p:spPr>
          <a:xfrm>
            <a:off x="822960" y="5897880"/>
            <a:ext cx="74977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list1 = [1, 2, 3]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list2 = [4, 5, 6]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list3 = list1 + list2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print(list3)              # [1, 2, 3, 4, 5, 6]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Merging Lists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210" name="Text 1"/>
          <p:cNvSpPr/>
          <p:nvPr/>
        </p:nvSpPr>
        <p:spPr>
          <a:xfrm>
            <a:off x="640080" y="109728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We can create a new list by merging two lists. This is similar to concatenation and uses the + operator.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11" name="Text 2"/>
          <p:cNvSpPr/>
          <p:nvPr/>
        </p:nvSpPr>
        <p:spPr>
          <a:xfrm>
            <a:off x="640080" y="173736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Example 1: Merging Number Lists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12" name="Shape 3"/>
          <p:cNvSpPr/>
          <p:nvPr/>
        </p:nvSpPr>
        <p:spPr>
          <a:xfrm>
            <a:off x="640080" y="2148840"/>
            <a:ext cx="7863480" cy="127980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3" name="Text 4"/>
          <p:cNvSpPr/>
          <p:nvPr/>
        </p:nvSpPr>
        <p:spPr>
          <a:xfrm>
            <a:off x="822960" y="2286000"/>
            <a:ext cx="74977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first_half = [1, 2, 3]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second_half = [4, 5, 6]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complete = first_half + second_half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print(complete)          # [1, 2, 3, 4, 5, 6]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14" name="Text 5"/>
          <p:cNvSpPr/>
          <p:nvPr/>
        </p:nvSpPr>
        <p:spPr>
          <a:xfrm>
            <a:off x="640080" y="365760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Example 2: Merging String Lists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15" name="Shape 6"/>
          <p:cNvSpPr/>
          <p:nvPr/>
        </p:nvSpPr>
        <p:spPr>
          <a:xfrm>
            <a:off x="640080" y="4069080"/>
            <a:ext cx="7863480" cy="127980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Text 7"/>
          <p:cNvSpPr/>
          <p:nvPr/>
        </p:nvSpPr>
        <p:spPr>
          <a:xfrm>
            <a:off x="822960" y="4206240"/>
            <a:ext cx="74977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fruits = ['apple', 'banana']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vegetables = ['carrot', 'potato']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groceries = fruits + vegetables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print(groceries)         # ['apple', 'banana', 'carrot', 'potato']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17" name="Shape 8"/>
          <p:cNvSpPr/>
          <p:nvPr/>
        </p:nvSpPr>
        <p:spPr>
          <a:xfrm>
            <a:off x="640080" y="5577840"/>
            <a:ext cx="7863480" cy="1096920"/>
          </a:xfrm>
          <a:prstGeom prst="rect">
            <a:avLst/>
          </a:prstGeom>
          <a:solidFill>
            <a:srgbClr val="fff8dc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8" name="Text 9"/>
          <p:cNvSpPr/>
          <p:nvPr/>
        </p:nvSpPr>
        <p:spPr>
          <a:xfrm>
            <a:off x="822960" y="5715000"/>
            <a:ext cx="7497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📝 </a:t>
            </a: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Key Points: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19" name="Text 10"/>
          <p:cNvSpPr/>
          <p:nvPr/>
        </p:nvSpPr>
        <p:spPr>
          <a:xfrm>
            <a:off x="822960" y="5989320"/>
            <a:ext cx="7497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55555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555555"/>
                </a:solidFill>
                <a:latin typeface="Calibri"/>
                <a:ea typeface="Calibri"/>
              </a:rPr>
              <a:t>The + operator creates a NEW list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55555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555555"/>
                </a:solidFill>
                <a:latin typeface="Calibri"/>
                <a:ea typeface="Calibri"/>
              </a:rPr>
              <a:t>Original lists remain unchanged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55555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555555"/>
                </a:solidFill>
                <a:latin typeface="Calibri"/>
                <a:ea typeface="Calibri"/>
              </a:rPr>
              <a:t>Order is preserved (first list items come first)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55555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555555"/>
                </a:solidFill>
                <a:latin typeface="Calibri"/>
                <a:ea typeface="Calibri"/>
              </a:rPr>
              <a:t>Can merge lists of any data type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Converting String to List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221" name="Text 1"/>
          <p:cNvSpPr/>
          <p:nvPr/>
        </p:nvSpPr>
        <p:spPr>
          <a:xfrm>
            <a:off x="640080" y="109728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Using list() conversion function, we can convert a string into a list. Each character becomes a separate element in the list.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22" name="Text 2"/>
          <p:cNvSpPr/>
          <p:nvPr/>
        </p:nvSpPr>
        <p:spPr>
          <a:xfrm>
            <a:off x="640080" y="173736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Syntax: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23" name="Shape 3"/>
          <p:cNvSpPr/>
          <p:nvPr/>
        </p:nvSpPr>
        <p:spPr>
          <a:xfrm>
            <a:off x="640080" y="2148840"/>
            <a:ext cx="7863480" cy="456840"/>
          </a:xfrm>
          <a:prstGeom prst="rect">
            <a:avLst/>
          </a:prstGeom>
          <a:solidFill>
            <a:srgbClr val="f0f8ff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4" name="Text 4"/>
          <p:cNvSpPr/>
          <p:nvPr/>
        </p:nvSpPr>
        <p:spPr>
          <a:xfrm>
            <a:off x="914400" y="2286000"/>
            <a:ext cx="7314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onsolas"/>
                <a:ea typeface="Consolas"/>
              </a:rPr>
              <a:t>char_list = list(my_string)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25" name="Text 5"/>
          <p:cNvSpPr/>
          <p:nvPr/>
        </p:nvSpPr>
        <p:spPr>
          <a:xfrm>
            <a:off x="640080" y="283464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Visual Conversion: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26" name="Text 6"/>
          <p:cNvSpPr/>
          <p:nvPr/>
        </p:nvSpPr>
        <p:spPr>
          <a:xfrm>
            <a:off x="914400" y="329184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666666"/>
                </a:solidFill>
                <a:latin typeface="Calibri"/>
                <a:ea typeface="Calibri"/>
              </a:rPr>
              <a:t>String: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27" name="Text 7"/>
          <p:cNvSpPr/>
          <p:nvPr/>
        </p:nvSpPr>
        <p:spPr>
          <a:xfrm>
            <a:off x="2377440" y="329184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65a82"/>
                </a:solidFill>
                <a:latin typeface="Consolas"/>
                <a:ea typeface="Consolas"/>
              </a:rPr>
              <a:t>"hello"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28" name="Text 8"/>
          <p:cNvSpPr/>
          <p:nvPr/>
        </p:nvSpPr>
        <p:spPr>
          <a:xfrm>
            <a:off x="1828800" y="365760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21295c"/>
                </a:solidFill>
                <a:latin typeface="Calibri"/>
                <a:ea typeface="Calibri"/>
              </a:rPr>
              <a:t>↓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229" name="Text 9"/>
          <p:cNvSpPr/>
          <p:nvPr/>
        </p:nvSpPr>
        <p:spPr>
          <a:xfrm>
            <a:off x="1371600" y="3977640"/>
            <a:ext cx="1828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888888"/>
                </a:solidFill>
                <a:latin typeface="Calibri"/>
                <a:ea typeface="Calibri"/>
              </a:rPr>
              <a:t>list() function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30" name="Text 10"/>
          <p:cNvSpPr/>
          <p:nvPr/>
        </p:nvSpPr>
        <p:spPr>
          <a:xfrm>
            <a:off x="1828800" y="420624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21295c"/>
                </a:solidFill>
                <a:latin typeface="Calibri"/>
                <a:ea typeface="Calibri"/>
              </a:rPr>
              <a:t>↓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231" name="Text 11"/>
          <p:cNvSpPr/>
          <p:nvPr/>
        </p:nvSpPr>
        <p:spPr>
          <a:xfrm>
            <a:off x="914400" y="457200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666666"/>
                </a:solidFill>
                <a:latin typeface="Calibri"/>
                <a:ea typeface="Calibri"/>
              </a:rPr>
              <a:t>List: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32" name="Shape 12"/>
          <p:cNvSpPr/>
          <p:nvPr/>
        </p:nvSpPr>
        <p:spPr>
          <a:xfrm>
            <a:off x="914400" y="4892040"/>
            <a:ext cx="639720" cy="4568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3" name="Text 13"/>
          <p:cNvSpPr/>
          <p:nvPr/>
        </p:nvSpPr>
        <p:spPr>
          <a:xfrm>
            <a:off x="914400" y="500184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'h'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34" name="Shape 14"/>
          <p:cNvSpPr/>
          <p:nvPr/>
        </p:nvSpPr>
        <p:spPr>
          <a:xfrm>
            <a:off x="1645920" y="4892040"/>
            <a:ext cx="639720" cy="4568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5" name="Text 15"/>
          <p:cNvSpPr/>
          <p:nvPr/>
        </p:nvSpPr>
        <p:spPr>
          <a:xfrm>
            <a:off x="1645920" y="500184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'e'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36" name="Shape 16"/>
          <p:cNvSpPr/>
          <p:nvPr/>
        </p:nvSpPr>
        <p:spPr>
          <a:xfrm>
            <a:off x="2377440" y="4892040"/>
            <a:ext cx="639720" cy="4568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7" name="Text 17"/>
          <p:cNvSpPr/>
          <p:nvPr/>
        </p:nvSpPr>
        <p:spPr>
          <a:xfrm>
            <a:off x="2377440" y="500184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'l'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38" name="Shape 18"/>
          <p:cNvSpPr/>
          <p:nvPr/>
        </p:nvSpPr>
        <p:spPr>
          <a:xfrm>
            <a:off x="3108960" y="4892040"/>
            <a:ext cx="639720" cy="4568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Text 19"/>
          <p:cNvSpPr/>
          <p:nvPr/>
        </p:nvSpPr>
        <p:spPr>
          <a:xfrm>
            <a:off x="3108960" y="500184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'l'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0" name="Shape 20"/>
          <p:cNvSpPr/>
          <p:nvPr/>
        </p:nvSpPr>
        <p:spPr>
          <a:xfrm>
            <a:off x="3840480" y="4892040"/>
            <a:ext cx="639720" cy="4568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1" name="Text 21"/>
          <p:cNvSpPr/>
          <p:nvPr/>
        </p:nvSpPr>
        <p:spPr>
          <a:xfrm>
            <a:off x="3840480" y="500184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'o'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2" name="Shape 22"/>
          <p:cNvSpPr/>
          <p:nvPr/>
        </p:nvSpPr>
        <p:spPr>
          <a:xfrm>
            <a:off x="4572000" y="3200400"/>
            <a:ext cx="3931560" cy="2377080"/>
          </a:xfrm>
          <a:prstGeom prst="rect">
            <a:avLst/>
          </a:prstGeom>
          <a:solidFill>
            <a:srgbClr val="f8f8f8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3" name="Text 23"/>
          <p:cNvSpPr/>
          <p:nvPr/>
        </p:nvSpPr>
        <p:spPr>
          <a:xfrm>
            <a:off x="4754880" y="333756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Code Example: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44" name="Text 24"/>
          <p:cNvSpPr/>
          <p:nvPr/>
        </p:nvSpPr>
        <p:spPr>
          <a:xfrm>
            <a:off x="4754880" y="3657600"/>
            <a:ext cx="356580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text = "hello"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char_list = list(text)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print(char_list)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# Output: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# ['h', 'e', 'l', 'l', 'o']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5" name="Text 25"/>
          <p:cNvSpPr/>
          <p:nvPr/>
        </p:nvSpPr>
        <p:spPr>
          <a:xfrm>
            <a:off x="640080" y="566928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More Examples: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46" name="Text 26"/>
          <p:cNvSpPr/>
          <p:nvPr/>
        </p:nvSpPr>
        <p:spPr>
          <a:xfrm>
            <a:off x="914400" y="6035040"/>
            <a:ext cx="6857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list("Python")  →  ['P', 'y', 't', 'h', 'o', 'n']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list("123")     →  ['1', '2', '3']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Converting Tuple to List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248" name="Text 1"/>
          <p:cNvSpPr/>
          <p:nvPr/>
        </p:nvSpPr>
        <p:spPr>
          <a:xfrm>
            <a:off x="640080" y="109728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Tuples are immutable, but we can convert them to lists (which are mutable) using the list() function.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49" name="Text 2"/>
          <p:cNvSpPr/>
          <p:nvPr/>
        </p:nvSpPr>
        <p:spPr>
          <a:xfrm>
            <a:off x="640080" y="173736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Syntax: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50" name="Shape 3"/>
          <p:cNvSpPr/>
          <p:nvPr/>
        </p:nvSpPr>
        <p:spPr>
          <a:xfrm>
            <a:off x="640080" y="2148840"/>
            <a:ext cx="7863480" cy="456840"/>
          </a:xfrm>
          <a:prstGeom prst="rect">
            <a:avLst/>
          </a:prstGeom>
          <a:solidFill>
            <a:srgbClr val="f0f8ff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1" name="Text 4"/>
          <p:cNvSpPr/>
          <p:nvPr/>
        </p:nvSpPr>
        <p:spPr>
          <a:xfrm>
            <a:off x="914400" y="2286000"/>
            <a:ext cx="7314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onsolas"/>
                <a:ea typeface="Consolas"/>
              </a:rPr>
              <a:t>new_list = list(tuple_name)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52" name="Text 5"/>
          <p:cNvSpPr/>
          <p:nvPr/>
        </p:nvSpPr>
        <p:spPr>
          <a:xfrm>
            <a:off x="640080" y="283464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Visual Conversion: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53" name="Text 6"/>
          <p:cNvSpPr/>
          <p:nvPr/>
        </p:nvSpPr>
        <p:spPr>
          <a:xfrm>
            <a:off x="914400" y="329184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666666"/>
                </a:solidFill>
                <a:latin typeface="Calibri"/>
                <a:ea typeface="Calibri"/>
              </a:rPr>
              <a:t>Tuple (immutable):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54" name="Shape 7"/>
          <p:cNvSpPr/>
          <p:nvPr/>
        </p:nvSpPr>
        <p:spPr>
          <a:xfrm>
            <a:off x="914400" y="3611880"/>
            <a:ext cx="639720" cy="456840"/>
          </a:xfrm>
          <a:prstGeom prst="rect">
            <a:avLst/>
          </a:prstGeom>
          <a:solidFill>
            <a:srgbClr val="ffa500"/>
          </a:solidFill>
          <a:ln w="25400">
            <a:solidFill>
              <a:srgbClr val="cc84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5" name="Text 8"/>
          <p:cNvSpPr/>
          <p:nvPr/>
        </p:nvSpPr>
        <p:spPr>
          <a:xfrm>
            <a:off x="914400" y="372168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1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56" name="Shape 9"/>
          <p:cNvSpPr/>
          <p:nvPr/>
        </p:nvSpPr>
        <p:spPr>
          <a:xfrm>
            <a:off x="1645920" y="3611880"/>
            <a:ext cx="639720" cy="456840"/>
          </a:xfrm>
          <a:prstGeom prst="rect">
            <a:avLst/>
          </a:prstGeom>
          <a:solidFill>
            <a:srgbClr val="ffa500"/>
          </a:solidFill>
          <a:ln w="25400">
            <a:solidFill>
              <a:srgbClr val="cc84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7" name="Text 10"/>
          <p:cNvSpPr/>
          <p:nvPr/>
        </p:nvSpPr>
        <p:spPr>
          <a:xfrm>
            <a:off x="1645920" y="372168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2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58" name="Shape 11"/>
          <p:cNvSpPr/>
          <p:nvPr/>
        </p:nvSpPr>
        <p:spPr>
          <a:xfrm>
            <a:off x="2377440" y="3611880"/>
            <a:ext cx="639720" cy="456840"/>
          </a:xfrm>
          <a:prstGeom prst="rect">
            <a:avLst/>
          </a:prstGeom>
          <a:solidFill>
            <a:srgbClr val="ffa500"/>
          </a:solidFill>
          <a:ln w="25400">
            <a:solidFill>
              <a:srgbClr val="cc84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9" name="Text 12"/>
          <p:cNvSpPr/>
          <p:nvPr/>
        </p:nvSpPr>
        <p:spPr>
          <a:xfrm>
            <a:off x="2377440" y="372168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3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60" name="Text 13"/>
          <p:cNvSpPr/>
          <p:nvPr/>
        </p:nvSpPr>
        <p:spPr>
          <a:xfrm>
            <a:off x="914400" y="4206240"/>
            <a:ext cx="2102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66666"/>
                </a:solidFill>
                <a:latin typeface="Consolas"/>
                <a:ea typeface="Consolas"/>
              </a:rPr>
              <a:t>(1, 2, 3)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1" name="Text 14"/>
          <p:cNvSpPr/>
          <p:nvPr/>
        </p:nvSpPr>
        <p:spPr>
          <a:xfrm>
            <a:off x="3200400" y="37033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21295c"/>
                </a:solidFill>
                <a:latin typeface="Calibri"/>
                <a:ea typeface="Calibri"/>
              </a:rPr>
              <a:t>→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262" name="Text 15"/>
          <p:cNvSpPr/>
          <p:nvPr/>
        </p:nvSpPr>
        <p:spPr>
          <a:xfrm>
            <a:off x="2926080" y="4114800"/>
            <a:ext cx="1096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888888"/>
                </a:solidFill>
                <a:latin typeface="Calibri"/>
                <a:ea typeface="Calibri"/>
              </a:rPr>
              <a:t>list()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3" name="Text 16"/>
          <p:cNvSpPr/>
          <p:nvPr/>
        </p:nvSpPr>
        <p:spPr>
          <a:xfrm>
            <a:off x="4114800" y="329184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666666"/>
                </a:solidFill>
                <a:latin typeface="Calibri"/>
                <a:ea typeface="Calibri"/>
              </a:rPr>
              <a:t>List (mutable):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64" name="Shape 17"/>
          <p:cNvSpPr/>
          <p:nvPr/>
        </p:nvSpPr>
        <p:spPr>
          <a:xfrm>
            <a:off x="4114800" y="3611880"/>
            <a:ext cx="639720" cy="4568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5" name="Text 18"/>
          <p:cNvSpPr/>
          <p:nvPr/>
        </p:nvSpPr>
        <p:spPr>
          <a:xfrm>
            <a:off x="4114800" y="372168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1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66" name="Shape 19"/>
          <p:cNvSpPr/>
          <p:nvPr/>
        </p:nvSpPr>
        <p:spPr>
          <a:xfrm>
            <a:off x="4846320" y="3611880"/>
            <a:ext cx="639720" cy="4568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7" name="Text 20"/>
          <p:cNvSpPr/>
          <p:nvPr/>
        </p:nvSpPr>
        <p:spPr>
          <a:xfrm>
            <a:off x="4846320" y="372168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2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68" name="Shape 21"/>
          <p:cNvSpPr/>
          <p:nvPr/>
        </p:nvSpPr>
        <p:spPr>
          <a:xfrm>
            <a:off x="5577840" y="3611880"/>
            <a:ext cx="639720" cy="4568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9" name="Text 22"/>
          <p:cNvSpPr/>
          <p:nvPr/>
        </p:nvSpPr>
        <p:spPr>
          <a:xfrm>
            <a:off x="5577840" y="372168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3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70" name="Text 23"/>
          <p:cNvSpPr/>
          <p:nvPr/>
        </p:nvSpPr>
        <p:spPr>
          <a:xfrm>
            <a:off x="4114800" y="4206240"/>
            <a:ext cx="2102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66666"/>
                </a:solidFill>
                <a:latin typeface="Consolas"/>
                <a:ea typeface="Consolas"/>
              </a:rPr>
              <a:t>[1, 2, 3]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1" name="Shape 24"/>
          <p:cNvSpPr/>
          <p:nvPr/>
        </p:nvSpPr>
        <p:spPr>
          <a:xfrm>
            <a:off x="640080" y="4754880"/>
            <a:ext cx="7863480" cy="1737000"/>
          </a:xfrm>
          <a:prstGeom prst="rect">
            <a:avLst/>
          </a:prstGeom>
          <a:solidFill>
            <a:srgbClr val="f8f8f8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2" name="Text 25"/>
          <p:cNvSpPr/>
          <p:nvPr/>
        </p:nvSpPr>
        <p:spPr>
          <a:xfrm>
            <a:off x="822960" y="4892040"/>
            <a:ext cx="7497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Code Example: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73" name="Text 26"/>
          <p:cNvSpPr/>
          <p:nvPr/>
        </p:nvSpPr>
        <p:spPr>
          <a:xfrm>
            <a:off x="822960" y="5212080"/>
            <a:ext cx="74977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coordinates = (1, 2, 3)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coord_list = list(coordinates)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print(coord_list)        # [1, 2, 3]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# Now we can modify it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coord_list[0] = 10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print(coord_list)        # [10, 2, 3]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21295c"/>
                </a:solidFill>
                <a:latin typeface="Georgia"/>
                <a:ea typeface="Georgia"/>
              </a:rPr>
              <a:t>Converting Set &amp; Dictionary to List</a:t>
            </a:r>
            <a:endParaRPr b="0" lang="en-IN" sz="3800" spc="-1" strike="noStrike">
              <a:latin typeface="Arial"/>
            </a:endParaRPr>
          </a:p>
        </p:txBody>
      </p:sp>
      <p:sp>
        <p:nvSpPr>
          <p:cNvPr id="275" name="Text 1"/>
          <p:cNvSpPr/>
          <p:nvPr/>
        </p:nvSpPr>
        <p:spPr>
          <a:xfrm>
            <a:off x="640080" y="109728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65a82"/>
                </a:solidFill>
                <a:latin typeface="Calibri"/>
                <a:ea typeface="Calibri"/>
              </a:rPr>
              <a:t>1. Set to List: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76" name="Shape 2"/>
          <p:cNvSpPr/>
          <p:nvPr/>
        </p:nvSpPr>
        <p:spPr>
          <a:xfrm>
            <a:off x="640080" y="1508760"/>
            <a:ext cx="7863480" cy="137124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7" name="Text 3"/>
          <p:cNvSpPr/>
          <p:nvPr/>
        </p:nvSpPr>
        <p:spPr>
          <a:xfrm>
            <a:off x="822960" y="1645920"/>
            <a:ext cx="74977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unique_ids = {1, 2, 3, 4}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id_list = list(unique_ids)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print(id_list)           # [1, 2, 3, 4]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# Note: Order may vary as sets are unordered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78" name="Text 4"/>
          <p:cNvSpPr/>
          <p:nvPr/>
        </p:nvSpPr>
        <p:spPr>
          <a:xfrm>
            <a:off x="640080" y="310896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65a82"/>
                </a:solidFill>
                <a:latin typeface="Calibri"/>
                <a:ea typeface="Calibri"/>
              </a:rPr>
              <a:t>2. Dictionary to List: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79" name="Text 5"/>
          <p:cNvSpPr/>
          <p:nvPr/>
        </p:nvSpPr>
        <p:spPr>
          <a:xfrm>
            <a:off x="640080" y="3520440"/>
            <a:ext cx="7863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666666"/>
                </a:solidFill>
                <a:latin typeface="Calibri"/>
                <a:ea typeface="Calibri"/>
              </a:rPr>
              <a:t>Converting dictionary keys only: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80" name="Shape 6"/>
          <p:cNvSpPr/>
          <p:nvPr/>
        </p:nvSpPr>
        <p:spPr>
          <a:xfrm>
            <a:off x="640080" y="3840480"/>
            <a:ext cx="7863480" cy="118836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Text 7"/>
          <p:cNvSpPr/>
          <p:nvPr/>
        </p:nvSpPr>
        <p:spPr>
          <a:xfrm>
            <a:off x="822960" y="3977640"/>
            <a:ext cx="74977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student = {'name': 'Alice', 'age': 20}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key_list = list(student)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print(key_list)          # ['name', 'age']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82" name="Text 8"/>
          <p:cNvSpPr/>
          <p:nvPr/>
        </p:nvSpPr>
        <p:spPr>
          <a:xfrm>
            <a:off x="640080" y="525780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Conversion Summary: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83" name="Shape 9"/>
          <p:cNvSpPr/>
          <p:nvPr/>
        </p:nvSpPr>
        <p:spPr>
          <a:xfrm>
            <a:off x="640080" y="5669280"/>
            <a:ext cx="7863480" cy="3196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4" name="Text 10"/>
          <p:cNvSpPr/>
          <p:nvPr/>
        </p:nvSpPr>
        <p:spPr>
          <a:xfrm>
            <a:off x="822960" y="571500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alibri"/>
                <a:ea typeface="Calibri"/>
              </a:rPr>
              <a:t>String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85" name="Text 11"/>
          <p:cNvSpPr/>
          <p:nvPr/>
        </p:nvSpPr>
        <p:spPr>
          <a:xfrm>
            <a:off x="2651760" y="571500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55555"/>
                </a:solidFill>
                <a:latin typeface="Calibri"/>
                <a:ea typeface="Calibri"/>
              </a:rPr>
              <a:t>List of characters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6" name="Text 12"/>
          <p:cNvSpPr/>
          <p:nvPr/>
        </p:nvSpPr>
        <p:spPr>
          <a:xfrm>
            <a:off x="5120640" y="5715000"/>
            <a:ext cx="3200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list('hi') → ['h', 'i']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87" name="Shape 13"/>
          <p:cNvSpPr/>
          <p:nvPr/>
        </p:nvSpPr>
        <p:spPr>
          <a:xfrm>
            <a:off x="640080" y="5989320"/>
            <a:ext cx="7863480" cy="3196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8" name="Text 14"/>
          <p:cNvSpPr/>
          <p:nvPr/>
        </p:nvSpPr>
        <p:spPr>
          <a:xfrm>
            <a:off x="822960" y="603504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alibri"/>
                <a:ea typeface="Calibri"/>
              </a:rPr>
              <a:t>Tuple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89" name="Text 15"/>
          <p:cNvSpPr/>
          <p:nvPr/>
        </p:nvSpPr>
        <p:spPr>
          <a:xfrm>
            <a:off x="2651760" y="603504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55555"/>
                </a:solidFill>
                <a:latin typeface="Calibri"/>
                <a:ea typeface="Calibri"/>
              </a:rPr>
              <a:t>List of elements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0" name="Text 16"/>
          <p:cNvSpPr/>
          <p:nvPr/>
        </p:nvSpPr>
        <p:spPr>
          <a:xfrm>
            <a:off x="5120640" y="6035040"/>
            <a:ext cx="3200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list((1,2)) → [1, 2]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91" name="Shape 17"/>
          <p:cNvSpPr/>
          <p:nvPr/>
        </p:nvSpPr>
        <p:spPr>
          <a:xfrm>
            <a:off x="640080" y="6309360"/>
            <a:ext cx="7863480" cy="3196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2" name="Text 18"/>
          <p:cNvSpPr/>
          <p:nvPr/>
        </p:nvSpPr>
        <p:spPr>
          <a:xfrm>
            <a:off x="822960" y="635508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alibri"/>
                <a:ea typeface="Calibri"/>
              </a:rPr>
              <a:t>Set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93" name="Text 19"/>
          <p:cNvSpPr/>
          <p:nvPr/>
        </p:nvSpPr>
        <p:spPr>
          <a:xfrm>
            <a:off x="2651760" y="635508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55555"/>
                </a:solidFill>
                <a:latin typeface="Calibri"/>
                <a:ea typeface="Calibri"/>
              </a:rPr>
              <a:t>List of elements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4" name="Text 20"/>
          <p:cNvSpPr/>
          <p:nvPr/>
        </p:nvSpPr>
        <p:spPr>
          <a:xfrm>
            <a:off x="5120640" y="6355080"/>
            <a:ext cx="3200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list({1,2}) → [1, 2]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95" name="Shape 21"/>
          <p:cNvSpPr/>
          <p:nvPr/>
        </p:nvSpPr>
        <p:spPr>
          <a:xfrm>
            <a:off x="640080" y="6629400"/>
            <a:ext cx="7863480" cy="3196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6" name="Text 22"/>
          <p:cNvSpPr/>
          <p:nvPr/>
        </p:nvSpPr>
        <p:spPr>
          <a:xfrm>
            <a:off x="822960" y="667512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alibri"/>
                <a:ea typeface="Calibri"/>
              </a:rPr>
              <a:t>Dictionary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97" name="Text 23"/>
          <p:cNvSpPr/>
          <p:nvPr/>
        </p:nvSpPr>
        <p:spPr>
          <a:xfrm>
            <a:off x="2651760" y="667512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55555"/>
                </a:solidFill>
                <a:latin typeface="Calibri"/>
                <a:ea typeface="Calibri"/>
              </a:rPr>
              <a:t>List of keys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8" name="Text 24"/>
          <p:cNvSpPr/>
          <p:nvPr/>
        </p:nvSpPr>
        <p:spPr>
          <a:xfrm>
            <a:off x="5120640" y="6675120"/>
            <a:ext cx="3200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list({'a':1}) → ['a']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Converting Range to List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300" name="Text 1"/>
          <p:cNvSpPr/>
          <p:nvPr/>
        </p:nvSpPr>
        <p:spPr>
          <a:xfrm>
            <a:off x="640080" y="109728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The range() function generates a sequence of numbers. We can convert it to a list using list() function.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01" name="Text 2"/>
          <p:cNvSpPr/>
          <p:nvPr/>
        </p:nvSpPr>
        <p:spPr>
          <a:xfrm>
            <a:off x="640080" y="173736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Syntax: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02" name="Shape 3"/>
          <p:cNvSpPr/>
          <p:nvPr/>
        </p:nvSpPr>
        <p:spPr>
          <a:xfrm>
            <a:off x="640080" y="2148840"/>
            <a:ext cx="7863480" cy="456840"/>
          </a:xfrm>
          <a:prstGeom prst="rect">
            <a:avLst/>
          </a:prstGeom>
          <a:solidFill>
            <a:srgbClr val="f0f8ff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3" name="Text 4"/>
          <p:cNvSpPr/>
          <p:nvPr/>
        </p:nvSpPr>
        <p:spPr>
          <a:xfrm>
            <a:off x="914400" y="2286000"/>
            <a:ext cx="7314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onsolas"/>
                <a:ea typeface="Consolas"/>
              </a:rPr>
              <a:t>number_list = list(range(n))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304" name="Text 5"/>
          <p:cNvSpPr/>
          <p:nvPr/>
        </p:nvSpPr>
        <p:spPr>
          <a:xfrm>
            <a:off x="640080" y="283464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Example 1: range(5)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305" name="Shape 6"/>
          <p:cNvSpPr/>
          <p:nvPr/>
        </p:nvSpPr>
        <p:spPr>
          <a:xfrm>
            <a:off x="640080" y="3246120"/>
            <a:ext cx="7863480" cy="91404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6" name="Text 7"/>
          <p:cNvSpPr/>
          <p:nvPr/>
        </p:nvSpPr>
        <p:spPr>
          <a:xfrm>
            <a:off x="822960" y="3383280"/>
            <a:ext cx="7497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numbers = range(5)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num_list = list(numbers)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print(num_list)          # [0, 1, 2, 3, 4]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07" name="Text 8"/>
          <p:cNvSpPr/>
          <p:nvPr/>
        </p:nvSpPr>
        <p:spPr>
          <a:xfrm>
            <a:off x="640080" y="438912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Example 2: More range() uses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308" name="Text 9"/>
          <p:cNvSpPr/>
          <p:nvPr/>
        </p:nvSpPr>
        <p:spPr>
          <a:xfrm>
            <a:off x="914400" y="480060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list(range(3))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09" name="Text 10"/>
          <p:cNvSpPr/>
          <p:nvPr/>
        </p:nvSpPr>
        <p:spPr>
          <a:xfrm>
            <a:off x="3749040" y="4800600"/>
            <a:ext cx="273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1295c"/>
                </a:solidFill>
                <a:latin typeface="Calibri"/>
                <a:ea typeface="Calibri"/>
              </a:rPr>
              <a:t>→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10" name="Text 11"/>
          <p:cNvSpPr/>
          <p:nvPr/>
        </p:nvSpPr>
        <p:spPr>
          <a:xfrm>
            <a:off x="4114800" y="480060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333333"/>
                </a:solidFill>
                <a:latin typeface="Consolas"/>
                <a:ea typeface="Consolas"/>
              </a:rPr>
              <a:t>[0, 1, 2]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11" name="Text 12"/>
          <p:cNvSpPr/>
          <p:nvPr/>
        </p:nvSpPr>
        <p:spPr>
          <a:xfrm>
            <a:off x="6583680" y="480060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66666"/>
                </a:solidFill>
                <a:latin typeface="Calibri"/>
                <a:ea typeface="Calibri"/>
              </a:rPr>
              <a:t>First 3 numbers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12" name="Text 13"/>
          <p:cNvSpPr/>
          <p:nvPr/>
        </p:nvSpPr>
        <p:spPr>
          <a:xfrm>
            <a:off x="914400" y="516636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list(range(1, 6))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13" name="Text 14"/>
          <p:cNvSpPr/>
          <p:nvPr/>
        </p:nvSpPr>
        <p:spPr>
          <a:xfrm>
            <a:off x="3749040" y="5166360"/>
            <a:ext cx="273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1295c"/>
                </a:solidFill>
                <a:latin typeface="Calibri"/>
                <a:ea typeface="Calibri"/>
              </a:rPr>
              <a:t>→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14" name="Text 15"/>
          <p:cNvSpPr/>
          <p:nvPr/>
        </p:nvSpPr>
        <p:spPr>
          <a:xfrm>
            <a:off x="4114800" y="516636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333333"/>
                </a:solidFill>
                <a:latin typeface="Consolas"/>
                <a:ea typeface="Consolas"/>
              </a:rPr>
              <a:t>[1, 2, 3, 4, 5]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15" name="Text 16"/>
          <p:cNvSpPr/>
          <p:nvPr/>
        </p:nvSpPr>
        <p:spPr>
          <a:xfrm>
            <a:off x="6583680" y="516636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66666"/>
                </a:solidFill>
                <a:latin typeface="Calibri"/>
                <a:ea typeface="Calibri"/>
              </a:rPr>
              <a:t>From 1 to 5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16" name="Text 17"/>
          <p:cNvSpPr/>
          <p:nvPr/>
        </p:nvSpPr>
        <p:spPr>
          <a:xfrm>
            <a:off x="914400" y="553212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list(range(0, 10, 2))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17" name="Text 18"/>
          <p:cNvSpPr/>
          <p:nvPr/>
        </p:nvSpPr>
        <p:spPr>
          <a:xfrm>
            <a:off x="3749040" y="5532120"/>
            <a:ext cx="273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1295c"/>
                </a:solidFill>
                <a:latin typeface="Calibri"/>
                <a:ea typeface="Calibri"/>
              </a:rPr>
              <a:t>→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18" name="Text 19"/>
          <p:cNvSpPr/>
          <p:nvPr/>
        </p:nvSpPr>
        <p:spPr>
          <a:xfrm>
            <a:off x="4114800" y="553212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333333"/>
                </a:solidFill>
                <a:latin typeface="Consolas"/>
                <a:ea typeface="Consolas"/>
              </a:rPr>
              <a:t>[0, 2, 4, 6, 8]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19" name="Text 20"/>
          <p:cNvSpPr/>
          <p:nvPr/>
        </p:nvSpPr>
        <p:spPr>
          <a:xfrm>
            <a:off x="6583680" y="553212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66666"/>
                </a:solidFill>
                <a:latin typeface="Calibri"/>
                <a:ea typeface="Calibri"/>
              </a:rPr>
              <a:t>Even numbers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20" name="Shape 21"/>
          <p:cNvSpPr/>
          <p:nvPr/>
        </p:nvSpPr>
        <p:spPr>
          <a:xfrm>
            <a:off x="640080" y="6035040"/>
            <a:ext cx="7863480" cy="639720"/>
          </a:xfrm>
          <a:prstGeom prst="rect">
            <a:avLst/>
          </a:prstGeom>
          <a:solidFill>
            <a:srgbClr val="fff8dc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1" name="Text 22"/>
          <p:cNvSpPr/>
          <p:nvPr/>
        </p:nvSpPr>
        <p:spPr>
          <a:xfrm>
            <a:off x="822960" y="6172200"/>
            <a:ext cx="7497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alibri"/>
                <a:ea typeface="Calibri"/>
              </a:rPr>
              <a:t>📝 </a:t>
            </a:r>
            <a:r>
              <a:rPr b="1" lang="en-US" sz="1200" spc="-1" strike="noStrike">
                <a:solidFill>
                  <a:srgbClr val="21295c"/>
                </a:solidFill>
                <a:latin typeface="Calibri"/>
                <a:ea typeface="Calibri"/>
              </a:rPr>
              <a:t>Range Parameters: range(start, stop, step)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22" name="Text 23"/>
          <p:cNvSpPr/>
          <p:nvPr/>
        </p:nvSpPr>
        <p:spPr>
          <a:xfrm>
            <a:off x="822960" y="6400800"/>
            <a:ext cx="7497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66666"/>
                </a:solidFill>
                <a:latin typeface="Calibri"/>
                <a:ea typeface="Calibri"/>
              </a:rPr>
              <a:t>start: starting number (default 0)  |  stop: ending number (exclusive)  |  step: increment (default 1)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2026-02-11T08:23:36Z</dcterms:created>
  <dc:creator>PptxGenJS</dc:creator>
  <dc:description/>
  <dc:language>en-IN</dc:language>
  <cp:lastModifiedBy>PptxGenJS</cp:lastModifiedBy>
  <dcterms:modified xsi:type="dcterms:W3CDTF">2026-02-11T08:23:36Z</dcterms:modified>
  <cp:revision>1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