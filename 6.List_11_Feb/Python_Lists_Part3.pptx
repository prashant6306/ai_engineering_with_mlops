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</a:t>
            </a:r>
            <a:r>
              <a:rPr b="0" lang="en-IN" sz="2000" spc="-1" strike="noStrike">
                <a:latin typeface="Arial"/>
              </a:rPr>
              <a:t>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0D86767C-8B67-42B8-975C-FD94D4BA4D40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7303A22-4F81-4636-AD86-992B9C91039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CB3636A-AA65-49E9-94BA-9516D028101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D979810-A20E-4543-899F-46D5A2AA629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B772B76-56A1-4990-A1EE-14D9EEBC6A7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3393741-6627-4046-9C9B-B824FF913C0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E2F97D7-9E74-42DE-B03A-56C00D8FB5F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C739243-E32A-4809-902A-494949AA6CE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7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FDBAE75-75EB-49C6-9FF5-B9AC9DB04EC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7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00773E0-0C38-4295-AC0F-642AE8E4B1F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7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9C818AE-6335-4E32-BE8C-3B7749E6A6A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83F4182-9A88-4768-8DFA-FB27BC7E6BB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84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7BFB188-0216-4767-A270-73D6597A608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IN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0"/>
          <p:cNvSpPr/>
          <p:nvPr/>
        </p:nvSpPr>
        <p:spPr>
          <a:xfrm>
            <a:off x="457200" y="1828800"/>
            <a:ext cx="82292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400" spc="-1" strike="noStrike">
                <a:solidFill>
                  <a:srgbClr val="ffffff"/>
                </a:solidFill>
                <a:latin typeface="Georgia"/>
                <a:ea typeface="Georgia"/>
              </a:rPr>
              <a:t>Python Lists</a:t>
            </a:r>
            <a:endParaRPr b="0" lang="en-IN" sz="5400" spc="-1" strike="noStrike">
              <a:latin typeface="Arial"/>
            </a:endParaRPr>
          </a:p>
        </p:txBody>
      </p:sp>
      <p:sp>
        <p:nvSpPr>
          <p:cNvPr id="45" name="Text 1"/>
          <p:cNvSpPr/>
          <p:nvPr/>
        </p:nvSpPr>
        <p:spPr>
          <a:xfrm>
            <a:off x="457200" y="338328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f5f5f5"/>
                </a:solidFill>
                <a:latin typeface="Calibri"/>
                <a:ea typeface="Calibri"/>
              </a:rPr>
              <a:t>Part 3: Aliasing, Cloning &amp; Identity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46" name="Text 2"/>
          <p:cNvSpPr/>
          <p:nvPr/>
        </p:nvSpPr>
        <p:spPr>
          <a:xfrm>
            <a:off x="457200" y="594360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f5f5f5"/>
                </a:solidFill>
                <a:latin typeface="Calibri"/>
                <a:ea typeface="Calibri"/>
              </a:rPr>
              <a:t>Understanding List References and Identity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0"/>
          <p:cNvSpPr/>
          <p:nvPr/>
        </p:nvSpPr>
        <p:spPr>
          <a:xfrm>
            <a:off x="457200" y="3657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Aliasing – Shallow copy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48" name="Text 1"/>
          <p:cNvSpPr/>
          <p:nvPr/>
        </p:nvSpPr>
        <p:spPr>
          <a:xfrm>
            <a:off x="640080" y="1097280"/>
            <a:ext cx="7863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  <a:ea typeface="Calibri"/>
              </a:rPr>
              <a:t>Aliasing occurs when multiple variables refer to (reference) the same list object in memory. When one variable is assigned to another, they point to the same location.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49" name="Text 2"/>
          <p:cNvSpPr/>
          <p:nvPr/>
        </p:nvSpPr>
        <p:spPr>
          <a:xfrm>
            <a:off x="640080" y="182880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Definition: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0" name="Text 3"/>
          <p:cNvSpPr/>
          <p:nvPr/>
        </p:nvSpPr>
        <p:spPr>
          <a:xfrm>
            <a:off x="640080" y="224028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001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555555"/>
                </a:solidFill>
                <a:latin typeface="Calibri"/>
                <a:ea typeface="Calibri"/>
              </a:rPr>
              <a:t>In aliasing, multiple variables refer to the same list object in memory. Changes made through one variable affect all others.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1" name="Text 4"/>
          <p:cNvSpPr/>
          <p:nvPr/>
        </p:nvSpPr>
        <p:spPr>
          <a:xfrm>
            <a:off x="640080" y="288036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Memory Representation: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52" name="Shape 5"/>
          <p:cNvSpPr/>
          <p:nvPr/>
        </p:nvSpPr>
        <p:spPr>
          <a:xfrm>
            <a:off x="3657600" y="3474720"/>
            <a:ext cx="1828440" cy="1096920"/>
          </a:xfrm>
          <a:prstGeom prst="rect">
            <a:avLst/>
          </a:prstGeom>
          <a:solidFill>
            <a:srgbClr val="1c7293"/>
          </a:solidFill>
          <a:ln w="381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Text 6"/>
          <p:cNvSpPr/>
          <p:nvPr/>
        </p:nvSpPr>
        <p:spPr>
          <a:xfrm>
            <a:off x="3657600" y="3520440"/>
            <a:ext cx="18284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Memory</a:t>
            </a:r>
            <a:endParaRPr b="0" lang="en-IN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Location</a:t>
            </a:r>
            <a:endParaRPr b="0" lang="en-IN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100123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4" name="Shape 7"/>
          <p:cNvSpPr/>
          <p:nvPr/>
        </p:nvSpPr>
        <p:spPr>
          <a:xfrm>
            <a:off x="3794760" y="3977640"/>
            <a:ext cx="456840" cy="365400"/>
          </a:xfrm>
          <a:prstGeom prst="rect">
            <a:avLst/>
          </a:prstGeom>
          <a:solidFill>
            <a:srgbClr val="f5f5f5"/>
          </a:solidFill>
          <a:ln w="127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" name="Text 8"/>
          <p:cNvSpPr/>
          <p:nvPr/>
        </p:nvSpPr>
        <p:spPr>
          <a:xfrm>
            <a:off x="3794760" y="404172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1295c"/>
                </a:solidFill>
                <a:latin typeface="Consolas"/>
                <a:ea typeface="Consolas"/>
              </a:rPr>
              <a:t>1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6" name="Shape 9"/>
          <p:cNvSpPr/>
          <p:nvPr/>
        </p:nvSpPr>
        <p:spPr>
          <a:xfrm>
            <a:off x="4297680" y="3977640"/>
            <a:ext cx="456840" cy="365400"/>
          </a:xfrm>
          <a:prstGeom prst="rect">
            <a:avLst/>
          </a:prstGeom>
          <a:solidFill>
            <a:srgbClr val="f5f5f5"/>
          </a:solidFill>
          <a:ln w="127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Text 10"/>
          <p:cNvSpPr/>
          <p:nvPr/>
        </p:nvSpPr>
        <p:spPr>
          <a:xfrm>
            <a:off x="4297680" y="404172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1295c"/>
                </a:solidFill>
                <a:latin typeface="Consolas"/>
                <a:ea typeface="Consolas"/>
              </a:rPr>
              <a:t>2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8" name="Shape 11"/>
          <p:cNvSpPr/>
          <p:nvPr/>
        </p:nvSpPr>
        <p:spPr>
          <a:xfrm>
            <a:off x="4800600" y="3977640"/>
            <a:ext cx="456840" cy="365400"/>
          </a:xfrm>
          <a:prstGeom prst="rect">
            <a:avLst/>
          </a:prstGeom>
          <a:solidFill>
            <a:srgbClr val="f5f5f5"/>
          </a:solidFill>
          <a:ln w="127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Text 12"/>
          <p:cNvSpPr/>
          <p:nvPr/>
        </p:nvSpPr>
        <p:spPr>
          <a:xfrm>
            <a:off x="4800600" y="404172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1295c"/>
                </a:solidFill>
                <a:latin typeface="Consolas"/>
                <a:ea typeface="Consolas"/>
              </a:rPr>
              <a:t>3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60" name="Text 13"/>
          <p:cNvSpPr/>
          <p:nvPr/>
        </p:nvSpPr>
        <p:spPr>
          <a:xfrm>
            <a:off x="914400" y="3657600"/>
            <a:ext cx="1645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65a82"/>
                </a:solidFill>
                <a:latin typeface="Consolas"/>
                <a:ea typeface="Consolas"/>
              </a:rPr>
              <a:t>original_list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1" name="Shape 14"/>
          <p:cNvSpPr/>
          <p:nvPr/>
        </p:nvSpPr>
        <p:spPr>
          <a:xfrm>
            <a:off x="2560320" y="3794760"/>
            <a:ext cx="1005840" cy="360"/>
          </a:xfrm>
          <a:prstGeom prst="line">
            <a:avLst/>
          </a:prstGeom>
          <a:ln w="25400">
            <a:solidFill>
              <a:srgbClr val="065a8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2" name="Text 15"/>
          <p:cNvSpPr/>
          <p:nvPr/>
        </p:nvSpPr>
        <p:spPr>
          <a:xfrm>
            <a:off x="914400" y="4206240"/>
            <a:ext cx="1645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1295c"/>
                </a:solidFill>
                <a:latin typeface="Consolas"/>
                <a:ea typeface="Consolas"/>
              </a:rPr>
              <a:t>alias_list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3" name="Shape 16"/>
          <p:cNvSpPr/>
          <p:nvPr/>
        </p:nvSpPr>
        <p:spPr>
          <a:xfrm>
            <a:off x="2560320" y="4343400"/>
            <a:ext cx="1005840" cy="360"/>
          </a:xfrm>
          <a:prstGeom prst="line">
            <a:avLst/>
          </a:prstGeom>
          <a:ln w="25400">
            <a:solidFill>
              <a:srgbClr val="21295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4" name="Text 17"/>
          <p:cNvSpPr/>
          <p:nvPr/>
        </p:nvSpPr>
        <p:spPr>
          <a:xfrm>
            <a:off x="914400" y="48463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1300" spc="-1" strike="noStrike">
                <a:solidFill>
                  <a:srgbClr val="21295c"/>
                </a:solidFill>
                <a:latin typeface="Calibri"/>
                <a:ea typeface="Calibri"/>
              </a:rPr>
              <a:t>Both variables point to the SAME list in memory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5" name="Shape 18"/>
          <p:cNvSpPr/>
          <p:nvPr/>
        </p:nvSpPr>
        <p:spPr>
          <a:xfrm>
            <a:off x="640080" y="5303520"/>
            <a:ext cx="7863480" cy="1371240"/>
          </a:xfrm>
          <a:prstGeom prst="rect">
            <a:avLst/>
          </a:prstGeom>
          <a:solidFill>
            <a:srgbClr val="f8f8f8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6" name="Text 19"/>
          <p:cNvSpPr/>
          <p:nvPr/>
        </p:nvSpPr>
        <p:spPr>
          <a:xfrm>
            <a:off x="822960" y="5440680"/>
            <a:ext cx="7497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1295c"/>
                </a:solidFill>
                <a:latin typeface="Calibri"/>
                <a:ea typeface="Calibri"/>
              </a:rPr>
              <a:t>Example Code: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7" name="Text 20"/>
          <p:cNvSpPr/>
          <p:nvPr/>
        </p:nvSpPr>
        <p:spPr>
          <a:xfrm>
            <a:off x="822960" y="5760720"/>
            <a:ext cx="74977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original_list = [1, 2, 3]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alias_list = original_list      # Both point to same list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print(alias_list)                # [1, 2, 3]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 0"/>
          <p:cNvSpPr/>
          <p:nvPr/>
        </p:nvSpPr>
        <p:spPr>
          <a:xfrm>
            <a:off x="457200" y="3657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Aliasing Behavior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69" name="Text 1"/>
          <p:cNvSpPr/>
          <p:nvPr/>
        </p:nvSpPr>
        <p:spPr>
          <a:xfrm>
            <a:off x="640080" y="109728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  <a:ea typeface="Calibri"/>
              </a:rPr>
              <a:t>When you change a list using one variable, the change is reflected in all other variables that reference the same list.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70" name="Text 2"/>
          <p:cNvSpPr/>
          <p:nvPr/>
        </p:nvSpPr>
        <p:spPr>
          <a:xfrm>
            <a:off x="640080" y="173736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Step-by-Step Demonstration: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1" name="Shape 3"/>
          <p:cNvSpPr/>
          <p:nvPr/>
        </p:nvSpPr>
        <p:spPr>
          <a:xfrm>
            <a:off x="640080" y="2194560"/>
            <a:ext cx="7863480" cy="118836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2" name="Text 4"/>
          <p:cNvSpPr/>
          <p:nvPr/>
        </p:nvSpPr>
        <p:spPr>
          <a:xfrm>
            <a:off x="822960" y="2331720"/>
            <a:ext cx="7497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1295c"/>
                </a:solidFill>
                <a:latin typeface="Calibri"/>
                <a:ea typeface="Calibri"/>
              </a:rPr>
              <a:t>Step 1: Create list and alias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3" name="Text 5"/>
          <p:cNvSpPr/>
          <p:nvPr/>
        </p:nvSpPr>
        <p:spPr>
          <a:xfrm>
            <a:off x="822960" y="2606040"/>
            <a:ext cx="74977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original_list = [1, 2, 3]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alias_list = original_list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print(original_list)             # [1, 2, 3]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print(alias_list)                # [1, 2, 3]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74" name="Shape 6"/>
          <p:cNvSpPr/>
          <p:nvPr/>
        </p:nvSpPr>
        <p:spPr>
          <a:xfrm>
            <a:off x="640080" y="3566160"/>
            <a:ext cx="7863480" cy="118836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5" name="Text 7"/>
          <p:cNvSpPr/>
          <p:nvPr/>
        </p:nvSpPr>
        <p:spPr>
          <a:xfrm>
            <a:off x="822960" y="3703320"/>
            <a:ext cx="7497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1295c"/>
                </a:solidFill>
                <a:latin typeface="Calibri"/>
                <a:ea typeface="Calibri"/>
              </a:rPr>
              <a:t>Step 2: Modify using one variable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6" name="Text 8"/>
          <p:cNvSpPr/>
          <p:nvPr/>
        </p:nvSpPr>
        <p:spPr>
          <a:xfrm>
            <a:off x="822960" y="3977640"/>
            <a:ext cx="74977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original_list[0] = 100           # Change first element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print(original_list)             # [100, 2, 3]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print(alias_list)                # [100, 2, 3]  ← Also changed!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77" name="Shape 9"/>
          <p:cNvSpPr/>
          <p:nvPr/>
        </p:nvSpPr>
        <p:spPr>
          <a:xfrm>
            <a:off x="640080" y="4937760"/>
            <a:ext cx="7863480" cy="118836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8" name="Text 10"/>
          <p:cNvSpPr/>
          <p:nvPr/>
        </p:nvSpPr>
        <p:spPr>
          <a:xfrm>
            <a:off x="822960" y="5074920"/>
            <a:ext cx="7497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1295c"/>
                </a:solidFill>
                <a:latin typeface="Calibri"/>
                <a:ea typeface="Calibri"/>
              </a:rPr>
              <a:t>Step 3: Modify using other variable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9" name="Text 11"/>
          <p:cNvSpPr/>
          <p:nvPr/>
        </p:nvSpPr>
        <p:spPr>
          <a:xfrm>
            <a:off x="822960" y="5349240"/>
            <a:ext cx="74977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alias_list[1] = 200              # Change second element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print(original_list)             # [100, 200, 3]  ← Also changed!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print(alias_list)                # [100, 200, 3]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80" name="Shape 12"/>
          <p:cNvSpPr/>
          <p:nvPr/>
        </p:nvSpPr>
        <p:spPr>
          <a:xfrm>
            <a:off x="640080" y="6309360"/>
            <a:ext cx="7863480" cy="456840"/>
          </a:xfrm>
          <a:prstGeom prst="rect">
            <a:avLst/>
          </a:prstGeom>
          <a:solidFill>
            <a:srgbClr val="fff8dc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1" name="Text 13"/>
          <p:cNvSpPr/>
          <p:nvPr/>
        </p:nvSpPr>
        <p:spPr>
          <a:xfrm>
            <a:off x="822960" y="6400800"/>
            <a:ext cx="7497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1295c"/>
                </a:solidFill>
                <a:latin typeface="Calibri"/>
                <a:ea typeface="Calibri"/>
              </a:rPr>
              <a:t>🔑 </a:t>
            </a:r>
            <a:r>
              <a:rPr b="1" lang="en-US" sz="1300" spc="-1" strike="noStrike">
                <a:solidFill>
                  <a:srgbClr val="21295c"/>
                </a:solidFill>
                <a:latin typeface="Calibri"/>
                <a:ea typeface="Calibri"/>
              </a:rPr>
              <a:t>Key Insight: Changes through ANY variable affect ALL variables pointing to the same list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 0"/>
          <p:cNvSpPr/>
          <p:nvPr/>
        </p:nvSpPr>
        <p:spPr>
          <a:xfrm>
            <a:off x="457200" y="3657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Cloning (Copying) Lists – Deep copy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83" name="Text 1"/>
          <p:cNvSpPr/>
          <p:nvPr/>
        </p:nvSpPr>
        <p:spPr>
          <a:xfrm>
            <a:off x="640080" y="126000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  <a:ea typeface="Calibri"/>
              </a:rPr>
              <a:t>Cloning creates a separate copy of a list in a different memory location. Changes to one list do not affect the other.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84" name="Text 2"/>
          <p:cNvSpPr/>
          <p:nvPr/>
        </p:nvSpPr>
        <p:spPr>
          <a:xfrm>
            <a:off x="640080" y="173736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Definition: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5" name="Text 3"/>
          <p:cNvSpPr/>
          <p:nvPr/>
        </p:nvSpPr>
        <p:spPr>
          <a:xfrm>
            <a:off x="640080" y="214884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001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555555"/>
                </a:solidFill>
                <a:latin typeface="Calibri"/>
                <a:ea typeface="Calibri"/>
              </a:rPr>
              <a:t>In cloning, we copy the content of one list into a different list, creating two separate list objects with the same content.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6" name="Text 4"/>
          <p:cNvSpPr/>
          <p:nvPr/>
        </p:nvSpPr>
        <p:spPr>
          <a:xfrm>
            <a:off x="640080" y="278892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Memory Representation: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87" name="Shape 5"/>
          <p:cNvSpPr/>
          <p:nvPr/>
        </p:nvSpPr>
        <p:spPr>
          <a:xfrm>
            <a:off x="1371600" y="3383280"/>
            <a:ext cx="2285640" cy="1279800"/>
          </a:xfrm>
          <a:prstGeom prst="rect">
            <a:avLst/>
          </a:prstGeom>
          <a:solidFill>
            <a:srgbClr val="1c7293"/>
          </a:solidFill>
          <a:ln w="381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8" name="Text 6"/>
          <p:cNvSpPr/>
          <p:nvPr/>
        </p:nvSpPr>
        <p:spPr>
          <a:xfrm>
            <a:off x="1371600" y="3474720"/>
            <a:ext cx="2285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Memory Location</a:t>
            </a:r>
            <a:endParaRPr b="0" lang="en-IN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100123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89" name="Shape 7"/>
          <p:cNvSpPr/>
          <p:nvPr/>
        </p:nvSpPr>
        <p:spPr>
          <a:xfrm>
            <a:off x="1554480" y="4114800"/>
            <a:ext cx="456840" cy="365400"/>
          </a:xfrm>
          <a:prstGeom prst="rect">
            <a:avLst/>
          </a:prstGeom>
          <a:solidFill>
            <a:srgbClr val="f5f5f5"/>
          </a:solidFill>
          <a:ln w="127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Text 8"/>
          <p:cNvSpPr/>
          <p:nvPr/>
        </p:nvSpPr>
        <p:spPr>
          <a:xfrm>
            <a:off x="1554480" y="417888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1295c"/>
                </a:solidFill>
                <a:latin typeface="Consolas"/>
                <a:ea typeface="Consolas"/>
              </a:rPr>
              <a:t>1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1" name="Shape 9"/>
          <p:cNvSpPr/>
          <p:nvPr/>
        </p:nvSpPr>
        <p:spPr>
          <a:xfrm>
            <a:off x="2103120" y="4114800"/>
            <a:ext cx="456840" cy="365400"/>
          </a:xfrm>
          <a:prstGeom prst="rect">
            <a:avLst/>
          </a:prstGeom>
          <a:solidFill>
            <a:srgbClr val="f5f5f5"/>
          </a:solidFill>
          <a:ln w="127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2" name="Text 10"/>
          <p:cNvSpPr/>
          <p:nvPr/>
        </p:nvSpPr>
        <p:spPr>
          <a:xfrm>
            <a:off x="2103120" y="417888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1295c"/>
                </a:solidFill>
                <a:latin typeface="Consolas"/>
                <a:ea typeface="Consolas"/>
              </a:rPr>
              <a:t>2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3" name="Shape 11"/>
          <p:cNvSpPr/>
          <p:nvPr/>
        </p:nvSpPr>
        <p:spPr>
          <a:xfrm>
            <a:off x="2651760" y="4114800"/>
            <a:ext cx="456840" cy="365400"/>
          </a:xfrm>
          <a:prstGeom prst="rect">
            <a:avLst/>
          </a:prstGeom>
          <a:solidFill>
            <a:srgbClr val="f5f5f5"/>
          </a:solidFill>
          <a:ln w="127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4" name="Text 12"/>
          <p:cNvSpPr/>
          <p:nvPr/>
        </p:nvSpPr>
        <p:spPr>
          <a:xfrm>
            <a:off x="2651760" y="417888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1295c"/>
                </a:solidFill>
                <a:latin typeface="Consolas"/>
                <a:ea typeface="Consolas"/>
              </a:rPr>
              <a:t>3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5" name="Text 13"/>
          <p:cNvSpPr/>
          <p:nvPr/>
        </p:nvSpPr>
        <p:spPr>
          <a:xfrm>
            <a:off x="1371600" y="4800600"/>
            <a:ext cx="2285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original_list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6" name="Shape 14"/>
          <p:cNvSpPr/>
          <p:nvPr/>
        </p:nvSpPr>
        <p:spPr>
          <a:xfrm>
            <a:off x="5486400" y="3383280"/>
            <a:ext cx="2285640" cy="1279800"/>
          </a:xfrm>
          <a:prstGeom prst="rect">
            <a:avLst/>
          </a:prstGeom>
          <a:solidFill>
            <a:srgbClr val="50808e"/>
          </a:solidFill>
          <a:ln w="38100">
            <a:solidFill>
              <a:srgbClr val="2f5a6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7" name="Text 15"/>
          <p:cNvSpPr/>
          <p:nvPr/>
        </p:nvSpPr>
        <p:spPr>
          <a:xfrm>
            <a:off x="5486400" y="3474720"/>
            <a:ext cx="2285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Memory Location</a:t>
            </a:r>
            <a:endParaRPr b="0" lang="en-IN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100124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8" name="Shape 16"/>
          <p:cNvSpPr/>
          <p:nvPr/>
        </p:nvSpPr>
        <p:spPr>
          <a:xfrm>
            <a:off x="5669280" y="4114800"/>
            <a:ext cx="456840" cy="365400"/>
          </a:xfrm>
          <a:prstGeom prst="rect">
            <a:avLst/>
          </a:prstGeom>
          <a:solidFill>
            <a:srgbClr val="f5f5f5"/>
          </a:solidFill>
          <a:ln w="12700">
            <a:solidFill>
              <a:srgbClr val="2f5a6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Text 17"/>
          <p:cNvSpPr/>
          <p:nvPr/>
        </p:nvSpPr>
        <p:spPr>
          <a:xfrm>
            <a:off x="5669280" y="417888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f5a6a"/>
                </a:solidFill>
                <a:latin typeface="Consolas"/>
                <a:ea typeface="Consolas"/>
              </a:rPr>
              <a:t>1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0" name="Shape 18"/>
          <p:cNvSpPr/>
          <p:nvPr/>
        </p:nvSpPr>
        <p:spPr>
          <a:xfrm>
            <a:off x="6217920" y="4114800"/>
            <a:ext cx="456840" cy="365400"/>
          </a:xfrm>
          <a:prstGeom prst="rect">
            <a:avLst/>
          </a:prstGeom>
          <a:solidFill>
            <a:srgbClr val="f5f5f5"/>
          </a:solidFill>
          <a:ln w="12700">
            <a:solidFill>
              <a:srgbClr val="2f5a6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1" name="Text 19"/>
          <p:cNvSpPr/>
          <p:nvPr/>
        </p:nvSpPr>
        <p:spPr>
          <a:xfrm>
            <a:off x="6217920" y="417888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f5a6a"/>
                </a:solidFill>
                <a:latin typeface="Consolas"/>
                <a:ea typeface="Consolas"/>
              </a:rPr>
              <a:t>2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2" name="Shape 20"/>
          <p:cNvSpPr/>
          <p:nvPr/>
        </p:nvSpPr>
        <p:spPr>
          <a:xfrm>
            <a:off x="6766560" y="4114800"/>
            <a:ext cx="456840" cy="365400"/>
          </a:xfrm>
          <a:prstGeom prst="rect">
            <a:avLst/>
          </a:prstGeom>
          <a:solidFill>
            <a:srgbClr val="f5f5f5"/>
          </a:solidFill>
          <a:ln w="12700">
            <a:solidFill>
              <a:srgbClr val="2f5a6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Text 21"/>
          <p:cNvSpPr/>
          <p:nvPr/>
        </p:nvSpPr>
        <p:spPr>
          <a:xfrm>
            <a:off x="6766560" y="417888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f5a6a"/>
                </a:solidFill>
                <a:latin typeface="Consolas"/>
                <a:ea typeface="Consolas"/>
              </a:rPr>
              <a:t>3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4" name="Text 22"/>
          <p:cNvSpPr/>
          <p:nvPr/>
        </p:nvSpPr>
        <p:spPr>
          <a:xfrm>
            <a:off x="5486400" y="4800600"/>
            <a:ext cx="2285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f5a6a"/>
                </a:solidFill>
                <a:latin typeface="Consolas"/>
                <a:ea typeface="Consolas"/>
              </a:rPr>
              <a:t>cloned_list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05" name="Text 23"/>
          <p:cNvSpPr/>
          <p:nvPr/>
        </p:nvSpPr>
        <p:spPr>
          <a:xfrm>
            <a:off x="3840480" y="3657600"/>
            <a:ext cx="137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1100" spc="-1" strike="noStrike">
                <a:solidFill>
                  <a:srgbClr val="21295c"/>
                </a:solidFill>
                <a:latin typeface="Calibri"/>
                <a:ea typeface="Calibri"/>
              </a:rPr>
              <a:t>Different</a:t>
            </a:r>
            <a:endParaRPr b="0" lang="en-IN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1100" spc="-1" strike="noStrike">
                <a:solidFill>
                  <a:srgbClr val="21295c"/>
                </a:solidFill>
                <a:latin typeface="Calibri"/>
                <a:ea typeface="Calibri"/>
              </a:rPr>
              <a:t>Memory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6" name="Text 24"/>
          <p:cNvSpPr/>
          <p:nvPr/>
        </p:nvSpPr>
        <p:spPr>
          <a:xfrm>
            <a:off x="1371600" y="52120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1300" spc="-1" strike="noStrike">
                <a:solidFill>
                  <a:srgbClr val="21295c"/>
                </a:solidFill>
                <a:latin typeface="Calibri"/>
                <a:ea typeface="Calibri"/>
              </a:rPr>
              <a:t>Two separate lists with same content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07" name="Shape 25"/>
          <p:cNvSpPr/>
          <p:nvPr/>
        </p:nvSpPr>
        <p:spPr>
          <a:xfrm>
            <a:off x="640080" y="5669280"/>
            <a:ext cx="7863480" cy="1096920"/>
          </a:xfrm>
          <a:prstGeom prst="rect">
            <a:avLst/>
          </a:prstGeom>
          <a:solidFill>
            <a:srgbClr val="f8f8f8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Text 26"/>
          <p:cNvSpPr/>
          <p:nvPr/>
        </p:nvSpPr>
        <p:spPr>
          <a:xfrm>
            <a:off x="822960" y="5806440"/>
            <a:ext cx="7497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1295c"/>
                </a:solidFill>
                <a:latin typeface="Calibri"/>
                <a:ea typeface="Calibri"/>
              </a:rPr>
              <a:t>Creating a Clone using copy():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09" name="Text 27"/>
          <p:cNvSpPr/>
          <p:nvPr/>
        </p:nvSpPr>
        <p:spPr>
          <a:xfrm>
            <a:off x="822960" y="6126480"/>
            <a:ext cx="7497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original_list = [1, 2, 3]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cloned_list = original_list.copy()    # Creates separate copy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print(cloned_list)                     # [1, 2, 3]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 0"/>
          <p:cNvSpPr/>
          <p:nvPr/>
        </p:nvSpPr>
        <p:spPr>
          <a:xfrm>
            <a:off x="457200" y="3657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Cloning Behavior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11" name="Text 1"/>
          <p:cNvSpPr/>
          <p:nvPr/>
        </p:nvSpPr>
        <p:spPr>
          <a:xfrm>
            <a:off x="640080" y="109728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  <a:ea typeface="Calibri"/>
              </a:rPr>
              <a:t>When you change one list, the change does NOT reflect in the other list because they are separate objects in memory.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12" name="Text 2"/>
          <p:cNvSpPr/>
          <p:nvPr/>
        </p:nvSpPr>
        <p:spPr>
          <a:xfrm>
            <a:off x="640080" y="173736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Step-by-Step Demonstration: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3" name="Shape 3"/>
          <p:cNvSpPr/>
          <p:nvPr/>
        </p:nvSpPr>
        <p:spPr>
          <a:xfrm>
            <a:off x="640080" y="2194560"/>
            <a:ext cx="7863480" cy="118836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Text 4"/>
          <p:cNvSpPr/>
          <p:nvPr/>
        </p:nvSpPr>
        <p:spPr>
          <a:xfrm>
            <a:off x="822960" y="2331720"/>
            <a:ext cx="7497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1295c"/>
                </a:solidFill>
                <a:latin typeface="Calibri"/>
                <a:ea typeface="Calibri"/>
              </a:rPr>
              <a:t>Step 1: Create list and clone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15" name="Text 5"/>
          <p:cNvSpPr/>
          <p:nvPr/>
        </p:nvSpPr>
        <p:spPr>
          <a:xfrm>
            <a:off x="822960" y="2606040"/>
            <a:ext cx="74977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original_list = [10, 20, 30]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cloned_list = original_list.copy()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print(original_list)             # [10, 20, 30]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print(cloned_list)               # [10, 20, 30]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6" name="Shape 6"/>
          <p:cNvSpPr/>
          <p:nvPr/>
        </p:nvSpPr>
        <p:spPr>
          <a:xfrm>
            <a:off x="640080" y="3566160"/>
            <a:ext cx="7863480" cy="118836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Text 7"/>
          <p:cNvSpPr/>
          <p:nvPr/>
        </p:nvSpPr>
        <p:spPr>
          <a:xfrm>
            <a:off x="822960" y="3703320"/>
            <a:ext cx="7497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1295c"/>
                </a:solidFill>
                <a:latin typeface="Calibri"/>
                <a:ea typeface="Calibri"/>
              </a:rPr>
              <a:t>Step 2: Modify original list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18" name="Text 8"/>
          <p:cNvSpPr/>
          <p:nvPr/>
        </p:nvSpPr>
        <p:spPr>
          <a:xfrm>
            <a:off x="822960" y="3977640"/>
            <a:ext cx="74977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original_list[0] = 100           # Change original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print(original_list)             # [100, 20, 30]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print(cloned_list)               # [10, 20, 30]  ← NOT changed!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9" name="Shape 9"/>
          <p:cNvSpPr/>
          <p:nvPr/>
        </p:nvSpPr>
        <p:spPr>
          <a:xfrm>
            <a:off x="640080" y="4937760"/>
            <a:ext cx="7863480" cy="118836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0" name="Text 10"/>
          <p:cNvSpPr/>
          <p:nvPr/>
        </p:nvSpPr>
        <p:spPr>
          <a:xfrm>
            <a:off x="822960" y="5074920"/>
            <a:ext cx="7497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1295c"/>
                </a:solidFill>
                <a:latin typeface="Calibri"/>
                <a:ea typeface="Calibri"/>
              </a:rPr>
              <a:t>Step 3: Modify cloned list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21" name="Text 11"/>
          <p:cNvSpPr/>
          <p:nvPr/>
        </p:nvSpPr>
        <p:spPr>
          <a:xfrm>
            <a:off x="822960" y="5349240"/>
            <a:ext cx="74977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cloned_list[1] = 200             # Change clone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print(original_list)             # [100, 20, 30]  ← NOT changed!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print(cloned_list)               # [10, 200, 30]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2" name="Shape 12"/>
          <p:cNvSpPr/>
          <p:nvPr/>
        </p:nvSpPr>
        <p:spPr>
          <a:xfrm>
            <a:off x="640080" y="6309360"/>
            <a:ext cx="7863480" cy="456840"/>
          </a:xfrm>
          <a:prstGeom prst="rect">
            <a:avLst/>
          </a:prstGeom>
          <a:solidFill>
            <a:srgbClr val="fff8dc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Text 13"/>
          <p:cNvSpPr/>
          <p:nvPr/>
        </p:nvSpPr>
        <p:spPr>
          <a:xfrm>
            <a:off x="822960" y="6400800"/>
            <a:ext cx="7497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1295c"/>
                </a:solidFill>
                <a:latin typeface="Calibri"/>
                <a:ea typeface="Calibri"/>
              </a:rPr>
              <a:t>🔑 </a:t>
            </a:r>
            <a:r>
              <a:rPr b="1" lang="en-US" sz="1300" spc="-1" strike="noStrike">
                <a:solidFill>
                  <a:srgbClr val="21295c"/>
                </a:solidFill>
                <a:latin typeface="Calibri"/>
                <a:ea typeface="Calibri"/>
              </a:rPr>
              <a:t>Key Insight: Changes to one list do NOT affect the other - they are independent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 0"/>
          <p:cNvSpPr/>
          <p:nvPr/>
        </p:nvSpPr>
        <p:spPr>
          <a:xfrm>
            <a:off x="457200" y="3657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Deep Copy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25" name="Text 1"/>
          <p:cNvSpPr/>
          <p:nvPr/>
        </p:nvSpPr>
        <p:spPr>
          <a:xfrm>
            <a:off x="640080" y="109728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  <a:ea typeface="Calibri"/>
              </a:rPr>
              <a:t>Deep copy is a technique where we copy both the list AND any nested lists or objects inside it, creating completely independent copies.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26" name="Text 2"/>
          <p:cNvSpPr/>
          <p:nvPr/>
        </p:nvSpPr>
        <p:spPr>
          <a:xfrm>
            <a:off x="640080" y="173736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When is Deep Copy Needed?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7" name="Text 3"/>
          <p:cNvSpPr/>
          <p:nvPr/>
        </p:nvSpPr>
        <p:spPr>
          <a:xfrm>
            <a:off x="640080" y="214884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001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Deep copy is needed when your list contains other lists (nested lists) and you want complete independence between the original and the copy.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28" name="Shape 4"/>
          <p:cNvSpPr/>
          <p:nvPr/>
        </p:nvSpPr>
        <p:spPr>
          <a:xfrm>
            <a:off x="457200" y="2743200"/>
            <a:ext cx="4023000" cy="384012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9" name="Text 5"/>
          <p:cNvSpPr/>
          <p:nvPr/>
        </p:nvSpPr>
        <p:spPr>
          <a:xfrm>
            <a:off x="640080" y="288036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1295c"/>
                </a:solidFill>
                <a:latin typeface="Calibri"/>
                <a:ea typeface="Calibri"/>
              </a:rPr>
              <a:t>Shallow Copy (.copy())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30" name="Text 6"/>
          <p:cNvSpPr/>
          <p:nvPr/>
        </p:nvSpPr>
        <p:spPr>
          <a:xfrm>
            <a:off x="640080" y="324612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666666"/>
                </a:solidFill>
                <a:latin typeface="Calibri"/>
                <a:ea typeface="Calibri"/>
              </a:rPr>
              <a:t>Copies outer list only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1" name="Text 7"/>
          <p:cNvSpPr/>
          <p:nvPr/>
        </p:nvSpPr>
        <p:spPr>
          <a:xfrm>
            <a:off x="731520" y="3566160"/>
            <a:ext cx="347436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original = [[1, 2], [3, 4]]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shallow = original.copy()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shallow[0][0] = 99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print(original)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# [[99, 2], [3, 4]]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# ← Inner list changed!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32" name="Shape 8"/>
          <p:cNvSpPr/>
          <p:nvPr/>
        </p:nvSpPr>
        <p:spPr>
          <a:xfrm>
            <a:off x="4663440" y="2743200"/>
            <a:ext cx="4023000" cy="3840120"/>
          </a:xfrm>
          <a:prstGeom prst="rect">
            <a:avLst/>
          </a:prstGeom>
          <a:solidFill>
            <a:srgbClr val="f5f5f5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Text 9"/>
          <p:cNvSpPr/>
          <p:nvPr/>
        </p:nvSpPr>
        <p:spPr>
          <a:xfrm>
            <a:off x="4846320" y="288036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1295c"/>
                </a:solidFill>
                <a:latin typeface="Calibri"/>
                <a:ea typeface="Calibri"/>
              </a:rPr>
              <a:t>Deep Copy (copy.deepcopy())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34" name="Text 10"/>
          <p:cNvSpPr/>
          <p:nvPr/>
        </p:nvSpPr>
        <p:spPr>
          <a:xfrm>
            <a:off x="4846320" y="324612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666666"/>
                </a:solidFill>
                <a:latin typeface="Calibri"/>
                <a:ea typeface="Calibri"/>
              </a:rPr>
              <a:t>Copies all nested structures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5" name="Text 11"/>
          <p:cNvSpPr/>
          <p:nvPr/>
        </p:nvSpPr>
        <p:spPr>
          <a:xfrm>
            <a:off x="4846320" y="3566160"/>
            <a:ext cx="347436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import copy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original = [[1, 2], [3, 4]]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deep = copy.deepcopy(original)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deep[0][0] = 99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print(original)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# [[1, 2], [3, 4]]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# ← NOT changed!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 0"/>
          <p:cNvSpPr/>
          <p:nvPr/>
        </p:nvSpPr>
        <p:spPr>
          <a:xfrm>
            <a:off x="457200" y="3657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The 'in' Operator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37" name="Text 1"/>
          <p:cNvSpPr/>
          <p:nvPr/>
        </p:nvSpPr>
        <p:spPr>
          <a:xfrm>
            <a:off x="640080" y="109728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  <a:ea typeface="Calibri"/>
              </a:rPr>
              <a:t>The 'in' operator is used to check whether a particular element exists in a list. It returns True if the element is found, False otherwise.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38" name="Text 2"/>
          <p:cNvSpPr/>
          <p:nvPr/>
        </p:nvSpPr>
        <p:spPr>
          <a:xfrm>
            <a:off x="640080" y="173736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Syntax: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9" name="Shape 3"/>
          <p:cNvSpPr/>
          <p:nvPr/>
        </p:nvSpPr>
        <p:spPr>
          <a:xfrm>
            <a:off x="640080" y="2148840"/>
            <a:ext cx="7863480" cy="456840"/>
          </a:xfrm>
          <a:prstGeom prst="rect">
            <a:avLst/>
          </a:prstGeom>
          <a:solidFill>
            <a:srgbClr val="f0f8ff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0" name="Text 4"/>
          <p:cNvSpPr/>
          <p:nvPr/>
        </p:nvSpPr>
        <p:spPr>
          <a:xfrm>
            <a:off x="914400" y="2286000"/>
            <a:ext cx="7314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onsolas"/>
                <a:ea typeface="Consolas"/>
              </a:rPr>
              <a:t>element in list_name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41" name="Text 5"/>
          <p:cNvSpPr/>
          <p:nvPr/>
        </p:nvSpPr>
        <p:spPr>
          <a:xfrm>
            <a:off x="640080" y="283464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Visual Search: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42" name="Shape 6"/>
          <p:cNvSpPr/>
          <p:nvPr/>
        </p:nvSpPr>
        <p:spPr>
          <a:xfrm>
            <a:off x="1371600" y="3383280"/>
            <a:ext cx="822600" cy="5482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Text 7"/>
          <p:cNvSpPr/>
          <p:nvPr/>
        </p:nvSpPr>
        <p:spPr>
          <a:xfrm>
            <a:off x="1371600" y="352044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onsolas"/>
                <a:ea typeface="Consolas"/>
              </a:rPr>
              <a:t>1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44" name="Shape 8"/>
          <p:cNvSpPr/>
          <p:nvPr/>
        </p:nvSpPr>
        <p:spPr>
          <a:xfrm>
            <a:off x="2377440" y="3383280"/>
            <a:ext cx="822600" cy="5482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5" name="Text 9"/>
          <p:cNvSpPr/>
          <p:nvPr/>
        </p:nvSpPr>
        <p:spPr>
          <a:xfrm>
            <a:off x="2377440" y="352044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onsolas"/>
                <a:ea typeface="Consolas"/>
              </a:rPr>
              <a:t>2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46" name="Shape 10"/>
          <p:cNvSpPr/>
          <p:nvPr/>
        </p:nvSpPr>
        <p:spPr>
          <a:xfrm>
            <a:off x="3383280" y="3383280"/>
            <a:ext cx="822600" cy="548280"/>
          </a:xfrm>
          <a:prstGeom prst="rect">
            <a:avLst/>
          </a:prstGeom>
          <a:solidFill>
            <a:srgbClr val="21295c"/>
          </a:solidFill>
          <a:ln w="381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7" name="Text 11"/>
          <p:cNvSpPr/>
          <p:nvPr/>
        </p:nvSpPr>
        <p:spPr>
          <a:xfrm>
            <a:off x="3383280" y="352044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onsolas"/>
                <a:ea typeface="Consolas"/>
              </a:rPr>
              <a:t>3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48" name="Shape 12"/>
          <p:cNvSpPr/>
          <p:nvPr/>
        </p:nvSpPr>
        <p:spPr>
          <a:xfrm>
            <a:off x="4389120" y="3383280"/>
            <a:ext cx="822600" cy="5482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9" name="Text 13"/>
          <p:cNvSpPr/>
          <p:nvPr/>
        </p:nvSpPr>
        <p:spPr>
          <a:xfrm>
            <a:off x="4389120" y="352044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onsolas"/>
                <a:ea typeface="Consolas"/>
              </a:rPr>
              <a:t>4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50" name="Shape 14"/>
          <p:cNvSpPr/>
          <p:nvPr/>
        </p:nvSpPr>
        <p:spPr>
          <a:xfrm>
            <a:off x="5394960" y="3383280"/>
            <a:ext cx="822600" cy="5482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1" name="Text 15"/>
          <p:cNvSpPr/>
          <p:nvPr/>
        </p:nvSpPr>
        <p:spPr>
          <a:xfrm>
            <a:off x="5394960" y="352044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onsolas"/>
                <a:ea typeface="Consolas"/>
              </a:rPr>
              <a:t>5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52" name="Text 16"/>
          <p:cNvSpPr/>
          <p:nvPr/>
        </p:nvSpPr>
        <p:spPr>
          <a:xfrm>
            <a:off x="1371600" y="4114800"/>
            <a:ext cx="5028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666666"/>
                </a:solidFill>
                <a:latin typeface="Consolas"/>
                <a:ea typeface="Consolas"/>
              </a:rPr>
              <a:t>numbers = [1, 2, 3, 4, 5]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3" name="Text 17"/>
          <p:cNvSpPr/>
          <p:nvPr/>
        </p:nvSpPr>
        <p:spPr>
          <a:xfrm>
            <a:off x="1371600" y="4434840"/>
            <a:ext cx="5028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1295c"/>
                </a:solidFill>
                <a:latin typeface="Calibri"/>
                <a:ea typeface="Calibri"/>
              </a:rPr>
              <a:t>Checking: 3 in numbers → True ✓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54" name="Shape 18"/>
          <p:cNvSpPr/>
          <p:nvPr/>
        </p:nvSpPr>
        <p:spPr>
          <a:xfrm>
            <a:off x="640080" y="4937760"/>
            <a:ext cx="7863480" cy="1737000"/>
          </a:xfrm>
          <a:prstGeom prst="rect">
            <a:avLst/>
          </a:prstGeom>
          <a:solidFill>
            <a:srgbClr val="f8f8f8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5" name="Text 19"/>
          <p:cNvSpPr/>
          <p:nvPr/>
        </p:nvSpPr>
        <p:spPr>
          <a:xfrm>
            <a:off x="822960" y="5074920"/>
            <a:ext cx="7497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1295c"/>
                </a:solidFill>
                <a:latin typeface="Calibri"/>
                <a:ea typeface="Calibri"/>
              </a:rPr>
              <a:t>Code Examples: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56" name="Text 20"/>
          <p:cNvSpPr/>
          <p:nvPr/>
        </p:nvSpPr>
        <p:spPr>
          <a:xfrm>
            <a:off x="822960" y="5394960"/>
            <a:ext cx="74977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items = [1, 2, 3, 4, 5]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print(3 in items)        # True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print(8 in items)        # False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if 3 in items: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print("3 is present in list")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else: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print("3 is not present in list")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Text 0"/>
          <p:cNvSpPr/>
          <p:nvPr/>
        </p:nvSpPr>
        <p:spPr>
          <a:xfrm>
            <a:off x="457200" y="3657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Using 'in' Operator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58" name="Text 1"/>
          <p:cNvSpPr/>
          <p:nvPr/>
        </p:nvSpPr>
        <p:spPr>
          <a:xfrm>
            <a:off x="640080" y="109728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Common Use Cases: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9" name="Shape 2"/>
          <p:cNvSpPr/>
          <p:nvPr/>
        </p:nvSpPr>
        <p:spPr>
          <a:xfrm>
            <a:off x="640080" y="1554480"/>
            <a:ext cx="7863480" cy="146268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0" name="Shape 3"/>
          <p:cNvSpPr/>
          <p:nvPr/>
        </p:nvSpPr>
        <p:spPr>
          <a:xfrm>
            <a:off x="777240" y="1691640"/>
            <a:ext cx="273960" cy="27396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Text 4"/>
          <p:cNvSpPr/>
          <p:nvPr/>
        </p:nvSpPr>
        <p:spPr>
          <a:xfrm>
            <a:off x="1143000" y="169164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1295c"/>
                </a:solidFill>
                <a:latin typeface="Calibri"/>
                <a:ea typeface="Calibri"/>
              </a:rPr>
              <a:t>Validation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62" name="Text 5"/>
          <p:cNvSpPr/>
          <p:nvPr/>
        </p:nvSpPr>
        <p:spPr>
          <a:xfrm>
            <a:off x="777240" y="2030040"/>
            <a:ext cx="7223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555555"/>
                </a:solidFill>
                <a:latin typeface="Calibri"/>
                <a:ea typeface="Calibri"/>
              </a:rPr>
              <a:t>Check if user input is in allowed values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63" name="Text 6"/>
          <p:cNvSpPr/>
          <p:nvPr/>
        </p:nvSpPr>
        <p:spPr>
          <a:xfrm>
            <a:off x="777240" y="2331720"/>
            <a:ext cx="7223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allowed = ['yes', 'no', 'maybe']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if user_input in allowed: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process_input()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64" name="Shape 7"/>
          <p:cNvSpPr/>
          <p:nvPr/>
        </p:nvSpPr>
        <p:spPr>
          <a:xfrm>
            <a:off x="640080" y="3200400"/>
            <a:ext cx="7863480" cy="146268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5" name="Shape 8"/>
          <p:cNvSpPr/>
          <p:nvPr/>
        </p:nvSpPr>
        <p:spPr>
          <a:xfrm>
            <a:off x="777240" y="3337560"/>
            <a:ext cx="273960" cy="27396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6" name="Text 9"/>
          <p:cNvSpPr/>
          <p:nvPr/>
        </p:nvSpPr>
        <p:spPr>
          <a:xfrm>
            <a:off x="1143000" y="333756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1295c"/>
                </a:solidFill>
                <a:latin typeface="Calibri"/>
                <a:ea typeface="Calibri"/>
              </a:rPr>
              <a:t>Search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67" name="Text 10"/>
          <p:cNvSpPr/>
          <p:nvPr/>
        </p:nvSpPr>
        <p:spPr>
          <a:xfrm>
            <a:off x="777240" y="3675960"/>
            <a:ext cx="7223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555555"/>
                </a:solidFill>
                <a:latin typeface="Calibri"/>
                <a:ea typeface="Calibri"/>
              </a:rPr>
              <a:t>Find if an item exists before processing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68" name="Text 11"/>
          <p:cNvSpPr/>
          <p:nvPr/>
        </p:nvSpPr>
        <p:spPr>
          <a:xfrm>
            <a:off x="777240" y="3977640"/>
            <a:ext cx="7223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products = ['phone', 'laptop', 'tablet']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if 'laptop' in products: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print('Available!')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69" name="Shape 12"/>
          <p:cNvSpPr/>
          <p:nvPr/>
        </p:nvSpPr>
        <p:spPr>
          <a:xfrm>
            <a:off x="640080" y="4846320"/>
            <a:ext cx="7863480" cy="146268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0" name="Shape 13"/>
          <p:cNvSpPr/>
          <p:nvPr/>
        </p:nvSpPr>
        <p:spPr>
          <a:xfrm>
            <a:off x="777240" y="4983480"/>
            <a:ext cx="273960" cy="27396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1" name="Text 14"/>
          <p:cNvSpPr/>
          <p:nvPr/>
        </p:nvSpPr>
        <p:spPr>
          <a:xfrm>
            <a:off x="1143000" y="49834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1295c"/>
                </a:solidFill>
                <a:latin typeface="Calibri"/>
                <a:ea typeface="Calibri"/>
              </a:rPr>
              <a:t>Filtering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72" name="Text 15"/>
          <p:cNvSpPr/>
          <p:nvPr/>
        </p:nvSpPr>
        <p:spPr>
          <a:xfrm>
            <a:off x="777240" y="5321880"/>
            <a:ext cx="7223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555555"/>
                </a:solidFill>
                <a:latin typeface="Calibri"/>
                <a:ea typeface="Calibri"/>
              </a:rPr>
              <a:t>Check membership for conditional logic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73" name="Text 16"/>
          <p:cNvSpPr/>
          <p:nvPr/>
        </p:nvSpPr>
        <p:spPr>
          <a:xfrm>
            <a:off x="777240" y="5623560"/>
            <a:ext cx="7223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premium_users = [101, 102, 103]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if user_id in premium_users: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grant_access()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ext 0"/>
          <p:cNvSpPr/>
          <p:nvPr/>
        </p:nvSpPr>
        <p:spPr>
          <a:xfrm>
            <a:off x="457200" y="3657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The 'is' Operator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75" name="Text 1"/>
          <p:cNvSpPr/>
          <p:nvPr/>
        </p:nvSpPr>
        <p:spPr>
          <a:xfrm>
            <a:off x="640080" y="109728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  <a:ea typeface="Calibri"/>
              </a:rPr>
              <a:t>The 'is' operator checks whether two variables refer to the same object in memory (same memory location/reference), not just equal values.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76" name="Text 2"/>
          <p:cNvSpPr/>
          <p:nvPr/>
        </p:nvSpPr>
        <p:spPr>
          <a:xfrm>
            <a:off x="640080" y="173736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Syntax: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77" name="Shape 3"/>
          <p:cNvSpPr/>
          <p:nvPr/>
        </p:nvSpPr>
        <p:spPr>
          <a:xfrm>
            <a:off x="640080" y="2148840"/>
            <a:ext cx="7863480" cy="456840"/>
          </a:xfrm>
          <a:prstGeom prst="rect">
            <a:avLst/>
          </a:prstGeom>
          <a:solidFill>
            <a:srgbClr val="f0f8ff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Text 4"/>
          <p:cNvSpPr/>
          <p:nvPr/>
        </p:nvSpPr>
        <p:spPr>
          <a:xfrm>
            <a:off x="914400" y="2286000"/>
            <a:ext cx="7314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onsolas"/>
                <a:ea typeface="Consolas"/>
              </a:rPr>
              <a:t>variable1 is variable2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79" name="Text 5"/>
          <p:cNvSpPr/>
          <p:nvPr/>
        </p:nvSpPr>
        <p:spPr>
          <a:xfrm>
            <a:off x="640080" y="283464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Identity vs Equality: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80" name="Shape 6"/>
          <p:cNvSpPr/>
          <p:nvPr/>
        </p:nvSpPr>
        <p:spPr>
          <a:xfrm>
            <a:off x="640080" y="3291840"/>
            <a:ext cx="7863480" cy="118836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1" name="Text 7"/>
          <p:cNvSpPr/>
          <p:nvPr/>
        </p:nvSpPr>
        <p:spPr>
          <a:xfrm>
            <a:off x="822960" y="3429000"/>
            <a:ext cx="7497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1295c"/>
                </a:solidFill>
                <a:latin typeface="Calibri"/>
                <a:ea typeface="Calibri"/>
              </a:rPr>
              <a:t>Aliasing (same object):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82" name="Text 8"/>
          <p:cNvSpPr/>
          <p:nvPr/>
        </p:nvSpPr>
        <p:spPr>
          <a:xfrm>
            <a:off x="822960" y="3703320"/>
            <a:ext cx="74977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list_a = [1, 2, 3]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list_b = list_a              # Both point to same object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print(list_a is list_b)      # True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print(list_a == list_b)      # True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83" name="Shape 9"/>
          <p:cNvSpPr/>
          <p:nvPr/>
        </p:nvSpPr>
        <p:spPr>
          <a:xfrm>
            <a:off x="640080" y="4663440"/>
            <a:ext cx="7863480" cy="1188360"/>
          </a:xfrm>
          <a:prstGeom prst="rect">
            <a:avLst/>
          </a:prstGeom>
          <a:solidFill>
            <a:srgbClr val="f5f5f5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4" name="Text 10"/>
          <p:cNvSpPr/>
          <p:nvPr/>
        </p:nvSpPr>
        <p:spPr>
          <a:xfrm>
            <a:off x="822960" y="4800600"/>
            <a:ext cx="7497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1295c"/>
                </a:solidFill>
                <a:latin typeface="Calibri"/>
                <a:ea typeface="Calibri"/>
              </a:rPr>
              <a:t>Cloning (different objects):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85" name="Text 11"/>
          <p:cNvSpPr/>
          <p:nvPr/>
        </p:nvSpPr>
        <p:spPr>
          <a:xfrm>
            <a:off x="822960" y="5074920"/>
            <a:ext cx="74977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list_a = [1, 2, 3]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list_b = list_a.copy()       # Different object, same content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print(list_a is list_b)      # False ← Different objects!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print(list_a == list_b)      # True  ← Same content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86" name="Shape 12"/>
          <p:cNvSpPr/>
          <p:nvPr/>
        </p:nvSpPr>
        <p:spPr>
          <a:xfrm>
            <a:off x="640080" y="6035040"/>
            <a:ext cx="7863480" cy="639720"/>
          </a:xfrm>
          <a:prstGeom prst="rect">
            <a:avLst/>
          </a:prstGeom>
          <a:solidFill>
            <a:srgbClr val="fff8dc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7" name="Text 13"/>
          <p:cNvSpPr/>
          <p:nvPr/>
        </p:nvSpPr>
        <p:spPr>
          <a:xfrm>
            <a:off x="822960" y="6172200"/>
            <a:ext cx="74977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1295c"/>
                </a:solidFill>
                <a:latin typeface="Calibri"/>
                <a:ea typeface="Calibri"/>
              </a:rPr>
              <a:t>📝 </a:t>
            </a:r>
            <a:r>
              <a:rPr b="1" lang="en-US" sz="1300" spc="-1" strike="noStrike">
                <a:solidFill>
                  <a:srgbClr val="21295c"/>
                </a:solidFill>
                <a:latin typeface="Calibri"/>
                <a:ea typeface="Calibri"/>
              </a:rPr>
              <a:t>Key Difference: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88" name="Text 14"/>
          <p:cNvSpPr/>
          <p:nvPr/>
        </p:nvSpPr>
        <p:spPr>
          <a:xfrm>
            <a:off x="822960" y="6400800"/>
            <a:ext cx="74977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666666"/>
                </a:solidFill>
                <a:latin typeface="Calibri"/>
                <a:ea typeface="Calibri"/>
              </a:rPr>
              <a:t>'is' checks identity (same object)  |  '==' checks equality (same values)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 0"/>
          <p:cNvSpPr/>
          <p:nvPr/>
        </p:nvSpPr>
        <p:spPr>
          <a:xfrm>
            <a:off x="457200" y="3657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Identity Comparison Examples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90" name="Text 1"/>
          <p:cNvSpPr/>
          <p:nvPr/>
        </p:nvSpPr>
        <p:spPr>
          <a:xfrm>
            <a:off x="640080" y="1097280"/>
            <a:ext cx="7863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  <a:ea typeface="Calibri"/>
              </a:rPr>
              <a:t>Let's explore different scenarios to understand when 'is' returns True or False.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91" name="Text 2"/>
          <p:cNvSpPr/>
          <p:nvPr/>
        </p:nvSpPr>
        <p:spPr>
          <a:xfrm>
            <a:off x="640080" y="164592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Scenario 1: Direct Assignment (Aliasing)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92" name="Shape 3"/>
          <p:cNvSpPr/>
          <p:nvPr/>
        </p:nvSpPr>
        <p:spPr>
          <a:xfrm>
            <a:off x="640080" y="2057400"/>
            <a:ext cx="7863480" cy="100548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3" name="Text 4"/>
          <p:cNvSpPr/>
          <p:nvPr/>
        </p:nvSpPr>
        <p:spPr>
          <a:xfrm>
            <a:off x="822960" y="2194560"/>
            <a:ext cx="74977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a = [1, 2, 3]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b = a                        # b points to same object as a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print(a is b)                # True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print(a == b)                # True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94" name="Text 5"/>
          <p:cNvSpPr/>
          <p:nvPr/>
        </p:nvSpPr>
        <p:spPr>
          <a:xfrm>
            <a:off x="640080" y="324612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Scenario 2: Using copy() Method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95" name="Shape 6"/>
          <p:cNvSpPr/>
          <p:nvPr/>
        </p:nvSpPr>
        <p:spPr>
          <a:xfrm>
            <a:off x="640080" y="3657600"/>
            <a:ext cx="7863480" cy="100548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6" name="Text 7"/>
          <p:cNvSpPr/>
          <p:nvPr/>
        </p:nvSpPr>
        <p:spPr>
          <a:xfrm>
            <a:off x="822960" y="3794760"/>
            <a:ext cx="74977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a = [1, 2, 3]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b = a.copy()                 # b is separate copy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print(a is b)                # False ← Different objects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print(a == b)                # True  ← Same values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97" name="Text 8"/>
          <p:cNvSpPr/>
          <p:nvPr/>
        </p:nvSpPr>
        <p:spPr>
          <a:xfrm>
            <a:off x="640080" y="484632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Scenario 3: Creating Separate Lists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98" name="Shape 9"/>
          <p:cNvSpPr/>
          <p:nvPr/>
        </p:nvSpPr>
        <p:spPr>
          <a:xfrm>
            <a:off x="640080" y="5257800"/>
            <a:ext cx="7863480" cy="100548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9" name="Text 10"/>
          <p:cNvSpPr/>
          <p:nvPr/>
        </p:nvSpPr>
        <p:spPr>
          <a:xfrm>
            <a:off x="822960" y="5394960"/>
            <a:ext cx="74977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a = [1, 2, 3]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b = [1, 2, 3]                # Separate list with same content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print(a is b)                # False ← Different objects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print(a == b)                # True  ← Same values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ext 0"/>
          <p:cNvSpPr/>
          <p:nvPr/>
        </p:nvSpPr>
        <p:spPr>
          <a:xfrm>
            <a:off x="457200" y="3657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Summary: Aliasing vs Cloning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201" name="Shape 1"/>
          <p:cNvSpPr/>
          <p:nvPr/>
        </p:nvSpPr>
        <p:spPr>
          <a:xfrm>
            <a:off x="640080" y="1188720"/>
            <a:ext cx="7863480" cy="456840"/>
          </a:xfrm>
          <a:prstGeom prst="rect">
            <a:avLst/>
          </a:prstGeom>
          <a:solidFill>
            <a:srgbClr val="065a82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2" name="Text 2"/>
          <p:cNvSpPr/>
          <p:nvPr/>
        </p:nvSpPr>
        <p:spPr>
          <a:xfrm>
            <a:off x="822960" y="126180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Aspect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03" name="Text 3"/>
          <p:cNvSpPr/>
          <p:nvPr/>
        </p:nvSpPr>
        <p:spPr>
          <a:xfrm>
            <a:off x="3017520" y="126180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Aliasing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04" name="Text 4"/>
          <p:cNvSpPr/>
          <p:nvPr/>
        </p:nvSpPr>
        <p:spPr>
          <a:xfrm>
            <a:off x="5760720" y="126180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Cloning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05" name="Shape 5"/>
          <p:cNvSpPr/>
          <p:nvPr/>
        </p:nvSpPr>
        <p:spPr>
          <a:xfrm>
            <a:off x="640080" y="1645920"/>
            <a:ext cx="7863480" cy="456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6" name="Text 6"/>
          <p:cNvSpPr/>
          <p:nvPr/>
        </p:nvSpPr>
        <p:spPr>
          <a:xfrm>
            <a:off x="822960" y="171900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333333"/>
                </a:solidFill>
                <a:latin typeface="Calibri"/>
                <a:ea typeface="Calibri"/>
              </a:rPr>
              <a:t>Definition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07" name="Text 7"/>
          <p:cNvSpPr/>
          <p:nvPr/>
        </p:nvSpPr>
        <p:spPr>
          <a:xfrm>
            <a:off x="3017520" y="171900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333333"/>
                </a:solidFill>
                <a:latin typeface="Consolas"/>
                <a:ea typeface="Consolas"/>
              </a:rPr>
              <a:t>Same object, multiple names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08" name="Text 8"/>
          <p:cNvSpPr/>
          <p:nvPr/>
        </p:nvSpPr>
        <p:spPr>
          <a:xfrm>
            <a:off x="5760720" y="171900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333333"/>
                </a:solidFill>
                <a:latin typeface="Consolas"/>
                <a:ea typeface="Consolas"/>
              </a:rPr>
              <a:t>Separate copy of object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09" name="Shape 9"/>
          <p:cNvSpPr/>
          <p:nvPr/>
        </p:nvSpPr>
        <p:spPr>
          <a:xfrm>
            <a:off x="640080" y="2103120"/>
            <a:ext cx="7863480" cy="4568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0" name="Text 10"/>
          <p:cNvSpPr/>
          <p:nvPr/>
        </p:nvSpPr>
        <p:spPr>
          <a:xfrm>
            <a:off x="822960" y="217620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333333"/>
                </a:solidFill>
                <a:latin typeface="Calibri"/>
                <a:ea typeface="Calibri"/>
              </a:rPr>
              <a:t>Memory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11" name="Text 11"/>
          <p:cNvSpPr/>
          <p:nvPr/>
        </p:nvSpPr>
        <p:spPr>
          <a:xfrm>
            <a:off x="3017520" y="217620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333333"/>
                </a:solidFill>
                <a:latin typeface="Consolas"/>
                <a:ea typeface="Consolas"/>
              </a:rPr>
              <a:t>One location shared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12" name="Text 12"/>
          <p:cNvSpPr/>
          <p:nvPr/>
        </p:nvSpPr>
        <p:spPr>
          <a:xfrm>
            <a:off x="5760720" y="217620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333333"/>
                </a:solidFill>
                <a:latin typeface="Consolas"/>
                <a:ea typeface="Consolas"/>
              </a:rPr>
              <a:t>Two different locations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13" name="Shape 13"/>
          <p:cNvSpPr/>
          <p:nvPr/>
        </p:nvSpPr>
        <p:spPr>
          <a:xfrm>
            <a:off x="640080" y="2560320"/>
            <a:ext cx="7863480" cy="456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4" name="Text 14"/>
          <p:cNvSpPr/>
          <p:nvPr/>
        </p:nvSpPr>
        <p:spPr>
          <a:xfrm>
            <a:off x="822960" y="263340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333333"/>
                </a:solidFill>
                <a:latin typeface="Calibri"/>
                <a:ea typeface="Calibri"/>
              </a:rPr>
              <a:t>Modification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15" name="Text 15"/>
          <p:cNvSpPr/>
          <p:nvPr/>
        </p:nvSpPr>
        <p:spPr>
          <a:xfrm>
            <a:off x="3017520" y="263340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333333"/>
                </a:solidFill>
                <a:latin typeface="Consolas"/>
                <a:ea typeface="Consolas"/>
              </a:rPr>
              <a:t>Affects all references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16" name="Text 16"/>
          <p:cNvSpPr/>
          <p:nvPr/>
        </p:nvSpPr>
        <p:spPr>
          <a:xfrm>
            <a:off x="5760720" y="263340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333333"/>
                </a:solidFill>
                <a:latin typeface="Consolas"/>
                <a:ea typeface="Consolas"/>
              </a:rPr>
              <a:t>Independent changes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17" name="Shape 17"/>
          <p:cNvSpPr/>
          <p:nvPr/>
        </p:nvSpPr>
        <p:spPr>
          <a:xfrm>
            <a:off x="640080" y="3017520"/>
            <a:ext cx="7863480" cy="4568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8" name="Text 18"/>
          <p:cNvSpPr/>
          <p:nvPr/>
        </p:nvSpPr>
        <p:spPr>
          <a:xfrm>
            <a:off x="822960" y="309060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333333"/>
                </a:solidFill>
                <a:latin typeface="Calibri"/>
                <a:ea typeface="Calibri"/>
              </a:rPr>
              <a:t>Syntax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19" name="Text 19"/>
          <p:cNvSpPr/>
          <p:nvPr/>
        </p:nvSpPr>
        <p:spPr>
          <a:xfrm>
            <a:off x="3017520" y="309060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333333"/>
                </a:solidFill>
                <a:latin typeface="Consolas"/>
                <a:ea typeface="Consolas"/>
              </a:rPr>
              <a:t>b = a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20" name="Text 20"/>
          <p:cNvSpPr/>
          <p:nvPr/>
        </p:nvSpPr>
        <p:spPr>
          <a:xfrm>
            <a:off x="5760720" y="309060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333333"/>
                </a:solidFill>
                <a:latin typeface="Consolas"/>
                <a:ea typeface="Consolas"/>
              </a:rPr>
              <a:t>b = a.copy()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21" name="Shape 21"/>
          <p:cNvSpPr/>
          <p:nvPr/>
        </p:nvSpPr>
        <p:spPr>
          <a:xfrm>
            <a:off x="640080" y="3474720"/>
            <a:ext cx="7863480" cy="456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2" name="Text 22"/>
          <p:cNvSpPr/>
          <p:nvPr/>
        </p:nvSpPr>
        <p:spPr>
          <a:xfrm>
            <a:off x="822960" y="354780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333333"/>
                </a:solidFill>
                <a:latin typeface="Calibri"/>
                <a:ea typeface="Calibri"/>
              </a:rPr>
              <a:t>'is' operator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23" name="Text 23"/>
          <p:cNvSpPr/>
          <p:nvPr/>
        </p:nvSpPr>
        <p:spPr>
          <a:xfrm>
            <a:off x="3017520" y="354780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333333"/>
                </a:solidFill>
                <a:latin typeface="Consolas"/>
                <a:ea typeface="Consolas"/>
              </a:rPr>
              <a:t>Returns True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24" name="Text 24"/>
          <p:cNvSpPr/>
          <p:nvPr/>
        </p:nvSpPr>
        <p:spPr>
          <a:xfrm>
            <a:off x="5760720" y="354780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333333"/>
                </a:solidFill>
                <a:latin typeface="Consolas"/>
                <a:ea typeface="Consolas"/>
              </a:rPr>
              <a:t>Returns False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25" name="Shape 25"/>
          <p:cNvSpPr/>
          <p:nvPr/>
        </p:nvSpPr>
        <p:spPr>
          <a:xfrm>
            <a:off x="640080" y="3931920"/>
            <a:ext cx="7863480" cy="4568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6" name="Text 26"/>
          <p:cNvSpPr/>
          <p:nvPr/>
        </p:nvSpPr>
        <p:spPr>
          <a:xfrm>
            <a:off x="822960" y="400500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333333"/>
                </a:solidFill>
                <a:latin typeface="Calibri"/>
                <a:ea typeface="Calibri"/>
              </a:rPr>
              <a:t>'==' operator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27" name="Text 27"/>
          <p:cNvSpPr/>
          <p:nvPr/>
        </p:nvSpPr>
        <p:spPr>
          <a:xfrm>
            <a:off x="3017520" y="400500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333333"/>
                </a:solidFill>
                <a:latin typeface="Consolas"/>
                <a:ea typeface="Consolas"/>
              </a:rPr>
              <a:t>Returns True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28" name="Text 28"/>
          <p:cNvSpPr/>
          <p:nvPr/>
        </p:nvSpPr>
        <p:spPr>
          <a:xfrm>
            <a:off x="5760720" y="400500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333333"/>
                </a:solidFill>
                <a:latin typeface="Consolas"/>
                <a:ea typeface="Consolas"/>
              </a:rPr>
              <a:t>Returns True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29" name="Text 29"/>
          <p:cNvSpPr/>
          <p:nvPr/>
        </p:nvSpPr>
        <p:spPr>
          <a:xfrm>
            <a:off x="640080" y="493776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Visual Memory Representation: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30" name="Text 30"/>
          <p:cNvSpPr/>
          <p:nvPr/>
        </p:nvSpPr>
        <p:spPr>
          <a:xfrm>
            <a:off x="914400" y="539496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65a82"/>
                </a:solidFill>
                <a:latin typeface="Calibri"/>
                <a:ea typeface="Calibri"/>
              </a:rPr>
              <a:t>Aliasing: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31" name="Shape 31"/>
          <p:cNvSpPr/>
          <p:nvPr/>
        </p:nvSpPr>
        <p:spPr>
          <a:xfrm>
            <a:off x="1371600" y="5715000"/>
            <a:ext cx="1371240" cy="5482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2" name="Text 32"/>
          <p:cNvSpPr/>
          <p:nvPr/>
        </p:nvSpPr>
        <p:spPr>
          <a:xfrm>
            <a:off x="1371600" y="5824800"/>
            <a:ext cx="1371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100123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33" name="Text 33"/>
          <p:cNvSpPr/>
          <p:nvPr/>
        </p:nvSpPr>
        <p:spPr>
          <a:xfrm>
            <a:off x="731520" y="580644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a →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34" name="Text 34"/>
          <p:cNvSpPr/>
          <p:nvPr/>
        </p:nvSpPr>
        <p:spPr>
          <a:xfrm>
            <a:off x="731520" y="598932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1295c"/>
                </a:solidFill>
                <a:latin typeface="Consolas"/>
                <a:ea typeface="Consolas"/>
              </a:rPr>
              <a:t>b →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35" name="Text 35"/>
          <p:cNvSpPr/>
          <p:nvPr/>
        </p:nvSpPr>
        <p:spPr>
          <a:xfrm>
            <a:off x="4572000" y="539496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65a82"/>
                </a:solidFill>
                <a:latin typeface="Calibri"/>
                <a:ea typeface="Calibri"/>
              </a:rPr>
              <a:t>Cloning: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36" name="Shape 36"/>
          <p:cNvSpPr/>
          <p:nvPr/>
        </p:nvSpPr>
        <p:spPr>
          <a:xfrm>
            <a:off x="4572000" y="5715000"/>
            <a:ext cx="1096920" cy="5482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7" name="Text 37"/>
          <p:cNvSpPr/>
          <p:nvPr/>
        </p:nvSpPr>
        <p:spPr>
          <a:xfrm>
            <a:off x="4572000" y="5824800"/>
            <a:ext cx="1096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100123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38" name="Shape 38"/>
          <p:cNvSpPr/>
          <p:nvPr/>
        </p:nvSpPr>
        <p:spPr>
          <a:xfrm>
            <a:off x="6217920" y="5715000"/>
            <a:ext cx="1096920" cy="548280"/>
          </a:xfrm>
          <a:prstGeom prst="rect">
            <a:avLst/>
          </a:prstGeom>
          <a:solidFill>
            <a:srgbClr val="50808e"/>
          </a:solidFill>
          <a:ln w="25400">
            <a:solidFill>
              <a:srgbClr val="2f5a6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9" name="Text 39"/>
          <p:cNvSpPr/>
          <p:nvPr/>
        </p:nvSpPr>
        <p:spPr>
          <a:xfrm>
            <a:off x="6217920" y="5824800"/>
            <a:ext cx="1096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100124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40" name="Text 40"/>
          <p:cNvSpPr/>
          <p:nvPr/>
        </p:nvSpPr>
        <p:spPr>
          <a:xfrm>
            <a:off x="4114800" y="585216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a →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41" name="Text 41"/>
          <p:cNvSpPr/>
          <p:nvPr/>
        </p:nvSpPr>
        <p:spPr>
          <a:xfrm>
            <a:off x="5760720" y="585216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f5a6a"/>
                </a:solidFill>
                <a:latin typeface="Consolas"/>
                <a:ea typeface="Consolas"/>
              </a:rPr>
              <a:t>b →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Text 0"/>
          <p:cNvSpPr/>
          <p:nvPr/>
        </p:nvSpPr>
        <p:spPr>
          <a:xfrm>
            <a:off x="457200" y="228600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Georgia"/>
                <a:ea typeface="Georgia"/>
              </a:rPr>
              <a:t>End of Part 3</a:t>
            </a:r>
            <a:endParaRPr b="0" lang="en-IN" sz="4800" spc="-1" strike="noStrike">
              <a:latin typeface="Arial"/>
            </a:endParaRPr>
          </a:p>
        </p:txBody>
      </p:sp>
      <p:sp>
        <p:nvSpPr>
          <p:cNvPr id="243" name="Text 1"/>
          <p:cNvSpPr/>
          <p:nvPr/>
        </p:nvSpPr>
        <p:spPr>
          <a:xfrm>
            <a:off x="457200" y="365760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5f5f5"/>
                </a:solidFill>
                <a:latin typeface="Calibri"/>
                <a:ea typeface="Calibri"/>
              </a:rPr>
              <a:t>You have completed: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44" name="Text 2"/>
          <p:cNvSpPr/>
          <p:nvPr/>
        </p:nvSpPr>
        <p:spPr>
          <a:xfrm>
            <a:off x="1828800" y="420624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f5f5f5"/>
                </a:solidFill>
                <a:latin typeface="Calibri"/>
                <a:ea typeface="Calibri"/>
              </a:rPr>
              <a:t>✓ </a:t>
            </a:r>
            <a:r>
              <a:rPr b="0" lang="en-US" sz="1500" spc="-1" strike="noStrike">
                <a:solidFill>
                  <a:srgbClr val="f5f5f5"/>
                </a:solidFill>
                <a:latin typeface="Calibri"/>
                <a:ea typeface="Calibri"/>
              </a:rPr>
              <a:t>Aliasing and how variables reference lists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45" name="Text 3"/>
          <p:cNvSpPr/>
          <p:nvPr/>
        </p:nvSpPr>
        <p:spPr>
          <a:xfrm>
            <a:off x="1828800" y="457200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f5f5f5"/>
                </a:solidFill>
                <a:latin typeface="Calibri"/>
                <a:ea typeface="Calibri"/>
              </a:rPr>
              <a:t>✓ </a:t>
            </a:r>
            <a:r>
              <a:rPr b="0" lang="en-US" sz="1500" spc="-1" strike="noStrike">
                <a:solidFill>
                  <a:srgbClr val="f5f5f5"/>
                </a:solidFill>
                <a:latin typeface="Calibri"/>
                <a:ea typeface="Calibri"/>
              </a:rPr>
              <a:t>Cloning (copying) lists and deep copy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46" name="Text 4"/>
          <p:cNvSpPr/>
          <p:nvPr/>
        </p:nvSpPr>
        <p:spPr>
          <a:xfrm>
            <a:off x="1828800" y="49377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f5f5f5"/>
                </a:solidFill>
                <a:latin typeface="Calibri"/>
                <a:ea typeface="Calibri"/>
              </a:rPr>
              <a:t>✓ </a:t>
            </a:r>
            <a:r>
              <a:rPr b="0" lang="en-US" sz="1500" spc="-1" strike="noStrike">
                <a:solidFill>
                  <a:srgbClr val="f5f5f5"/>
                </a:solidFill>
                <a:latin typeface="Calibri"/>
                <a:ea typeface="Calibri"/>
              </a:rPr>
              <a:t>The 'in' operator for membership testing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47" name="Text 5"/>
          <p:cNvSpPr/>
          <p:nvPr/>
        </p:nvSpPr>
        <p:spPr>
          <a:xfrm>
            <a:off x="1828800" y="530352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f5f5f5"/>
                </a:solidFill>
                <a:latin typeface="Calibri"/>
                <a:ea typeface="Calibri"/>
              </a:rPr>
              <a:t>✓ </a:t>
            </a:r>
            <a:r>
              <a:rPr b="0" lang="en-US" sz="1500" spc="-1" strike="noStrike">
                <a:solidFill>
                  <a:srgbClr val="f5f5f5"/>
                </a:solidFill>
                <a:latin typeface="Calibri"/>
                <a:ea typeface="Calibri"/>
              </a:rPr>
              <a:t>The 'is' operator for identity checking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48" name="Text 6"/>
          <p:cNvSpPr/>
          <p:nvPr/>
        </p:nvSpPr>
        <p:spPr>
          <a:xfrm>
            <a:off x="457200" y="594360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f5f5f5"/>
                </a:solidFill>
                <a:latin typeface="Calibri"/>
                <a:ea typeface="Calibri"/>
              </a:rPr>
              <a:t>Continue to learn more about list methods and operations!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2026-02-11T08:26:20Z</dcterms:created>
  <dc:creator>PptxGenJS</dc:creator>
  <dc:description/>
  <dc:language>en-IN</dc:language>
  <cp:lastModifiedBy/>
  <dcterms:modified xsi:type="dcterms:W3CDTF">2026-02-11T22:41:38Z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