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225DDAEB-55E6-448A-8386-D25A48E8CC92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7F5A85A-1D77-4095-93E6-B58AB85D884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A28452A-8459-411E-815E-3AF08BB2909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031215B-6ACE-4DB0-B442-16A477AEB40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6CA6E67-FCD6-4BC1-A963-241883BB7E1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A35051C-B055-44D6-8A58-1C80B414151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2445672-6851-4EDC-A141-AD7C84C1763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6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F91A891-022C-470A-AB39-F93D6DBC992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6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D8C8BBD-D7C9-4023-AAB2-1855B428FEE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0D5E788-E384-4041-95C0-239A592B770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7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FA09C52-CB94-44EB-9205-418B3FAD047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2DAEEEE-878D-4386-9FA2-31F38469581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D866313-7F0B-4182-99B3-382F8B52CF8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57200" y="182880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Georgia"/>
                <a:ea typeface="Georgia"/>
              </a:rPr>
              <a:t>Python Lists</a:t>
            </a:r>
            <a:endParaRPr b="0" lang="en-IN" sz="5400" spc="-1" strike="noStrike"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57200" y="33832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f5f5f5"/>
                </a:solidFill>
                <a:latin typeface="Calibri"/>
                <a:ea typeface="Calibri"/>
              </a:rPr>
              <a:t>Part 1: Fundamentals &amp; Accessing Elements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457200" y="59436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5f5f5"/>
                </a:solidFill>
                <a:latin typeface="Calibri"/>
                <a:ea typeface="Calibri"/>
              </a:rPr>
              <a:t>Comprehensive Guide to List Operations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360000" y="2160"/>
            <a:ext cx="6840000" cy="45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What Are Lists?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512280" y="678960"/>
            <a:ext cx="653544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65a82"/>
                </a:solidFill>
                <a:latin typeface="Calibri"/>
                <a:ea typeface="Calibri"/>
              </a:rPr>
              <a:t>Definition: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512280" y="1017360"/>
            <a:ext cx="653544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  <a:ea typeface="Calibri"/>
              </a:rPr>
              <a:t>A list is a container (entity) that can hold multiple data items of any data type. It is one of Python's four built-in container data types.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512280" y="1731600"/>
            <a:ext cx="653544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65a82"/>
                </a:solidFill>
                <a:latin typeface="Calibri"/>
                <a:ea typeface="Calibri"/>
              </a:rPr>
              <a:t>Key Characteristics: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51" name="Shape 4"/>
          <p:cNvSpPr/>
          <p:nvPr/>
        </p:nvSpPr>
        <p:spPr>
          <a:xfrm>
            <a:off x="587880" y="2107440"/>
            <a:ext cx="189720" cy="18792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 5"/>
          <p:cNvSpPr/>
          <p:nvPr/>
        </p:nvSpPr>
        <p:spPr>
          <a:xfrm>
            <a:off x="892080" y="2070000"/>
            <a:ext cx="608004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Ordered: Elements maintain their insertion order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3" name="Shape 6"/>
          <p:cNvSpPr/>
          <p:nvPr/>
        </p:nvSpPr>
        <p:spPr>
          <a:xfrm>
            <a:off x="587880" y="2483640"/>
            <a:ext cx="189720" cy="18756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7"/>
          <p:cNvSpPr/>
          <p:nvPr/>
        </p:nvSpPr>
        <p:spPr>
          <a:xfrm>
            <a:off x="892080" y="2445840"/>
            <a:ext cx="608004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Mutable: Lists can be modified after creation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5" name="Shape 8"/>
          <p:cNvSpPr/>
          <p:nvPr/>
        </p:nvSpPr>
        <p:spPr>
          <a:xfrm>
            <a:off x="587880" y="2859480"/>
            <a:ext cx="189720" cy="18756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9"/>
          <p:cNvSpPr/>
          <p:nvPr/>
        </p:nvSpPr>
        <p:spPr>
          <a:xfrm>
            <a:off x="892080" y="2822040"/>
            <a:ext cx="608004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Dynamic: Lists can grow or shrink during program execution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7" name="Shape 10"/>
          <p:cNvSpPr/>
          <p:nvPr/>
        </p:nvSpPr>
        <p:spPr>
          <a:xfrm>
            <a:off x="587880" y="3235320"/>
            <a:ext cx="189720" cy="18792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11"/>
          <p:cNvSpPr/>
          <p:nvPr/>
        </p:nvSpPr>
        <p:spPr>
          <a:xfrm>
            <a:off x="892080" y="3197880"/>
            <a:ext cx="608004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Heterogeneous: Can store different data types together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9" name="Text 12"/>
          <p:cNvSpPr/>
          <p:nvPr/>
        </p:nvSpPr>
        <p:spPr>
          <a:xfrm>
            <a:off x="512280" y="3762000"/>
            <a:ext cx="653544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Visual Representation: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0" name="Shape 13"/>
          <p:cNvSpPr/>
          <p:nvPr/>
        </p:nvSpPr>
        <p:spPr>
          <a:xfrm>
            <a:off x="1119960" y="4213080"/>
            <a:ext cx="911520" cy="45108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14"/>
          <p:cNvSpPr/>
          <p:nvPr/>
        </p:nvSpPr>
        <p:spPr>
          <a:xfrm>
            <a:off x="1119960" y="4326120"/>
            <a:ext cx="9115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onsolas"/>
                <a:ea typeface="Consolas"/>
              </a:rPr>
              <a:t>10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2" name="Shape 15"/>
          <p:cNvSpPr/>
          <p:nvPr/>
        </p:nvSpPr>
        <p:spPr>
          <a:xfrm>
            <a:off x="2031840" y="4213080"/>
            <a:ext cx="911880" cy="45108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16"/>
          <p:cNvSpPr/>
          <p:nvPr/>
        </p:nvSpPr>
        <p:spPr>
          <a:xfrm>
            <a:off x="2031840" y="4326120"/>
            <a:ext cx="9118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onsolas"/>
                <a:ea typeface="Consolas"/>
              </a:rPr>
              <a:t>'hello'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4" name="Shape 17"/>
          <p:cNvSpPr/>
          <p:nvPr/>
        </p:nvSpPr>
        <p:spPr>
          <a:xfrm>
            <a:off x="2944080" y="4213080"/>
            <a:ext cx="911520" cy="45108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Text 18"/>
          <p:cNvSpPr/>
          <p:nvPr/>
        </p:nvSpPr>
        <p:spPr>
          <a:xfrm>
            <a:off x="2944080" y="4326120"/>
            <a:ext cx="9115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onsolas"/>
                <a:ea typeface="Consolas"/>
              </a:rPr>
              <a:t>3.14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6" name="Shape 19"/>
          <p:cNvSpPr/>
          <p:nvPr/>
        </p:nvSpPr>
        <p:spPr>
          <a:xfrm>
            <a:off x="3855960" y="4213080"/>
            <a:ext cx="911880" cy="45108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20"/>
          <p:cNvSpPr/>
          <p:nvPr/>
        </p:nvSpPr>
        <p:spPr>
          <a:xfrm>
            <a:off x="3855960" y="4326120"/>
            <a:ext cx="9118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onsolas"/>
                <a:ea typeface="Consolas"/>
              </a:rPr>
              <a:t>True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8" name="Text 21"/>
          <p:cNvSpPr/>
          <p:nvPr/>
        </p:nvSpPr>
        <p:spPr>
          <a:xfrm>
            <a:off x="1119960" y="4814640"/>
            <a:ext cx="36478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Consolas"/>
                <a:ea typeface="Consolas"/>
              </a:rPr>
              <a:t>numbers = [10, 'hello', 3.14, True]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457200" y="365760"/>
            <a:ext cx="7124400" cy="41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Python's 4 Container Data Types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70" name="Shape 1"/>
          <p:cNvSpPr/>
          <p:nvPr/>
        </p:nvSpPr>
        <p:spPr>
          <a:xfrm>
            <a:off x="457200" y="1123920"/>
            <a:ext cx="3562200" cy="172224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Shape 2"/>
          <p:cNvSpPr/>
          <p:nvPr/>
        </p:nvSpPr>
        <p:spPr>
          <a:xfrm>
            <a:off x="615600" y="1261440"/>
            <a:ext cx="276840" cy="2412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3"/>
          <p:cNvSpPr/>
          <p:nvPr/>
        </p:nvSpPr>
        <p:spPr>
          <a:xfrm>
            <a:off x="971640" y="1261440"/>
            <a:ext cx="277056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1295c"/>
                </a:solidFill>
                <a:latin typeface="Calibri"/>
                <a:ea typeface="Calibri"/>
              </a:rPr>
              <a:t>Lists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73" name="Text 4"/>
          <p:cNvSpPr/>
          <p:nvPr/>
        </p:nvSpPr>
        <p:spPr>
          <a:xfrm>
            <a:off x="615600" y="1571760"/>
            <a:ext cx="324540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666666"/>
                </a:solidFill>
                <a:latin typeface="Consolas"/>
                <a:ea typeface="Consolas"/>
              </a:rPr>
              <a:t>[]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4" name="Text 5"/>
          <p:cNvSpPr/>
          <p:nvPr/>
        </p:nvSpPr>
        <p:spPr>
          <a:xfrm>
            <a:off x="615600" y="1847160"/>
            <a:ext cx="324540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Ordered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615600" y="2054160"/>
            <a:ext cx="324540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Mutable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6" name="Text 7"/>
          <p:cNvSpPr/>
          <p:nvPr/>
        </p:nvSpPr>
        <p:spPr>
          <a:xfrm>
            <a:off x="615600" y="2260800"/>
            <a:ext cx="324540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Allows duplicates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7" name="Text 8"/>
          <p:cNvSpPr/>
          <p:nvPr/>
        </p:nvSpPr>
        <p:spPr>
          <a:xfrm>
            <a:off x="615600" y="2570760"/>
            <a:ext cx="324540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fruits = ['apple', 'banana', 'apple']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8" name="Shape 9"/>
          <p:cNvSpPr/>
          <p:nvPr/>
        </p:nvSpPr>
        <p:spPr>
          <a:xfrm>
            <a:off x="4177800" y="1123920"/>
            <a:ext cx="3562200" cy="172224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Shape 10"/>
          <p:cNvSpPr/>
          <p:nvPr/>
        </p:nvSpPr>
        <p:spPr>
          <a:xfrm>
            <a:off x="4336200" y="1261440"/>
            <a:ext cx="276840" cy="2412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11"/>
          <p:cNvSpPr/>
          <p:nvPr/>
        </p:nvSpPr>
        <p:spPr>
          <a:xfrm>
            <a:off x="4692600" y="1261440"/>
            <a:ext cx="277020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1295c"/>
                </a:solidFill>
                <a:latin typeface="Calibri"/>
                <a:ea typeface="Calibri"/>
              </a:rPr>
              <a:t>Tuples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81" name="Text 12"/>
          <p:cNvSpPr/>
          <p:nvPr/>
        </p:nvSpPr>
        <p:spPr>
          <a:xfrm>
            <a:off x="4336200" y="1571760"/>
            <a:ext cx="324540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666666"/>
                </a:solidFill>
                <a:latin typeface="Consolas"/>
                <a:ea typeface="Consolas"/>
              </a:rPr>
              <a:t>()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2" name="Text 13"/>
          <p:cNvSpPr/>
          <p:nvPr/>
        </p:nvSpPr>
        <p:spPr>
          <a:xfrm>
            <a:off x="4336200" y="1847160"/>
            <a:ext cx="324540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Ordered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3" name="Text 14"/>
          <p:cNvSpPr/>
          <p:nvPr/>
        </p:nvSpPr>
        <p:spPr>
          <a:xfrm>
            <a:off x="4336200" y="2054160"/>
            <a:ext cx="324540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Immutable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4" name="Text 15"/>
          <p:cNvSpPr/>
          <p:nvPr/>
        </p:nvSpPr>
        <p:spPr>
          <a:xfrm>
            <a:off x="4336200" y="2260800"/>
            <a:ext cx="324540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Allows duplicates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5" name="Text 16"/>
          <p:cNvSpPr/>
          <p:nvPr/>
        </p:nvSpPr>
        <p:spPr>
          <a:xfrm>
            <a:off x="4336200" y="2570760"/>
            <a:ext cx="324540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coords = (10, 20, 30)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6" name="Shape 17"/>
          <p:cNvSpPr/>
          <p:nvPr/>
        </p:nvSpPr>
        <p:spPr>
          <a:xfrm>
            <a:off x="457200" y="3053160"/>
            <a:ext cx="3562200" cy="172260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Shape 18"/>
          <p:cNvSpPr/>
          <p:nvPr/>
        </p:nvSpPr>
        <p:spPr>
          <a:xfrm>
            <a:off x="615600" y="3191040"/>
            <a:ext cx="276840" cy="2408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Text 19"/>
          <p:cNvSpPr/>
          <p:nvPr/>
        </p:nvSpPr>
        <p:spPr>
          <a:xfrm>
            <a:off x="971640" y="3191040"/>
            <a:ext cx="277056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1295c"/>
                </a:solidFill>
                <a:latin typeface="Calibri"/>
                <a:ea typeface="Calibri"/>
              </a:rPr>
              <a:t>Sets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89" name="Text 20"/>
          <p:cNvSpPr/>
          <p:nvPr/>
        </p:nvSpPr>
        <p:spPr>
          <a:xfrm>
            <a:off x="615600" y="3501000"/>
            <a:ext cx="324540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666666"/>
                </a:solidFill>
                <a:latin typeface="Consolas"/>
                <a:ea typeface="Consolas"/>
              </a:rPr>
              <a:t>{}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90" name="Text 21"/>
          <p:cNvSpPr/>
          <p:nvPr/>
        </p:nvSpPr>
        <p:spPr>
          <a:xfrm>
            <a:off x="615600" y="3776760"/>
            <a:ext cx="324540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Unordered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1" name="Text 22"/>
          <p:cNvSpPr/>
          <p:nvPr/>
        </p:nvSpPr>
        <p:spPr>
          <a:xfrm>
            <a:off x="615600" y="3983400"/>
            <a:ext cx="324540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Mutable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615600" y="4190400"/>
            <a:ext cx="324540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No duplicates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3" name="Text 24"/>
          <p:cNvSpPr/>
          <p:nvPr/>
        </p:nvSpPr>
        <p:spPr>
          <a:xfrm>
            <a:off x="615600" y="4500360"/>
            <a:ext cx="324540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unique_ids = {101, 102, 103}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4" name="Shape 25"/>
          <p:cNvSpPr/>
          <p:nvPr/>
        </p:nvSpPr>
        <p:spPr>
          <a:xfrm>
            <a:off x="4177800" y="3053160"/>
            <a:ext cx="3562200" cy="172260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Shape 26"/>
          <p:cNvSpPr/>
          <p:nvPr/>
        </p:nvSpPr>
        <p:spPr>
          <a:xfrm>
            <a:off x="4336200" y="3191040"/>
            <a:ext cx="276840" cy="2408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27"/>
          <p:cNvSpPr/>
          <p:nvPr/>
        </p:nvSpPr>
        <p:spPr>
          <a:xfrm>
            <a:off x="4692600" y="3191040"/>
            <a:ext cx="277020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1295c"/>
                </a:solidFill>
                <a:latin typeface="Calibri"/>
                <a:ea typeface="Calibri"/>
              </a:rPr>
              <a:t>Dictionaries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97" name="Text 28"/>
          <p:cNvSpPr/>
          <p:nvPr/>
        </p:nvSpPr>
        <p:spPr>
          <a:xfrm>
            <a:off x="4336200" y="3501000"/>
            <a:ext cx="324540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666666"/>
                </a:solidFill>
                <a:latin typeface="Consolas"/>
                <a:ea typeface="Consolas"/>
              </a:rPr>
              <a:t>{key:value}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98" name="Text 29"/>
          <p:cNvSpPr/>
          <p:nvPr/>
        </p:nvSpPr>
        <p:spPr>
          <a:xfrm>
            <a:off x="4336200" y="3776760"/>
            <a:ext cx="324540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Ordered*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9" name="Text 30"/>
          <p:cNvSpPr/>
          <p:nvPr/>
        </p:nvSpPr>
        <p:spPr>
          <a:xfrm>
            <a:off x="4336200" y="3983400"/>
            <a:ext cx="324540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Mutable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0" name="Text 31"/>
          <p:cNvSpPr/>
          <p:nvPr/>
        </p:nvSpPr>
        <p:spPr>
          <a:xfrm>
            <a:off x="4336200" y="4190400"/>
            <a:ext cx="324540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No duplicate keys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1" name="Text 32"/>
          <p:cNvSpPr/>
          <p:nvPr/>
        </p:nvSpPr>
        <p:spPr>
          <a:xfrm>
            <a:off x="4336200" y="4500360"/>
            <a:ext cx="324540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student = {'name': 'Alice', 'age': 20}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2" name="Text 33"/>
          <p:cNvSpPr/>
          <p:nvPr/>
        </p:nvSpPr>
        <p:spPr>
          <a:xfrm>
            <a:off x="457200" y="4914000"/>
            <a:ext cx="712440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888888"/>
                </a:solidFill>
                <a:latin typeface="Calibri"/>
                <a:ea typeface="Calibri"/>
              </a:rPr>
              <a:t>*Dictionaries maintain insertion order from Python 3.7+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457200" y="365760"/>
            <a:ext cx="7282800" cy="4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Lists as Dynamic Arrays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619200" y="1033560"/>
            <a:ext cx="6958800" cy="4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  <a:ea typeface="Calibri"/>
              </a:rPr>
              <a:t>Lists in Python are implemented as dynamic arrays that can grow or shrink during program execution. This is why they are called 'dynamic arrays.'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619200" y="1701360"/>
            <a:ext cx="69588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65a82"/>
                </a:solidFill>
                <a:latin typeface="Calibri"/>
                <a:ea typeface="Calibri"/>
              </a:rPr>
              <a:t>Growth Example: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06" name="Text 3"/>
          <p:cNvSpPr/>
          <p:nvPr/>
        </p:nvSpPr>
        <p:spPr>
          <a:xfrm>
            <a:off x="861840" y="2146680"/>
            <a:ext cx="242748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  <a:ea typeface="Calibri"/>
              </a:rPr>
              <a:t>Step 1: Initial list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7" name="Shape 4"/>
          <p:cNvSpPr/>
          <p:nvPr/>
        </p:nvSpPr>
        <p:spPr>
          <a:xfrm>
            <a:off x="861840" y="2443320"/>
            <a:ext cx="566280" cy="370800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5"/>
          <p:cNvSpPr/>
          <p:nvPr/>
        </p:nvSpPr>
        <p:spPr>
          <a:xfrm>
            <a:off x="861840" y="2517480"/>
            <a:ext cx="5662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9" name="Shape 6"/>
          <p:cNvSpPr/>
          <p:nvPr/>
        </p:nvSpPr>
        <p:spPr>
          <a:xfrm>
            <a:off x="1509120" y="2443320"/>
            <a:ext cx="566280" cy="370800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7"/>
          <p:cNvSpPr/>
          <p:nvPr/>
        </p:nvSpPr>
        <p:spPr>
          <a:xfrm>
            <a:off x="1509120" y="2517480"/>
            <a:ext cx="5662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1" name="Shape 8"/>
          <p:cNvSpPr/>
          <p:nvPr/>
        </p:nvSpPr>
        <p:spPr>
          <a:xfrm>
            <a:off x="2156760" y="2443320"/>
            <a:ext cx="565920" cy="370800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9"/>
          <p:cNvSpPr/>
          <p:nvPr/>
        </p:nvSpPr>
        <p:spPr>
          <a:xfrm>
            <a:off x="2156760" y="2517480"/>
            <a:ext cx="56592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15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3" name="Text 10"/>
          <p:cNvSpPr/>
          <p:nvPr/>
        </p:nvSpPr>
        <p:spPr>
          <a:xfrm>
            <a:off x="861840" y="2925720"/>
            <a:ext cx="194184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66666"/>
                </a:solidFill>
                <a:latin typeface="Consolas"/>
                <a:ea typeface="Consolas"/>
              </a:rPr>
              <a:t>data = [5, 10, 15]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4" name="Shape 11"/>
          <p:cNvSpPr/>
          <p:nvPr/>
        </p:nvSpPr>
        <p:spPr>
          <a:xfrm flipH="1">
            <a:off x="3127320" y="2554560"/>
            <a:ext cx="323280" cy="296640"/>
          </a:xfrm>
          <a:prstGeom prst="rtTriangl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12"/>
          <p:cNvSpPr/>
          <p:nvPr/>
        </p:nvSpPr>
        <p:spPr>
          <a:xfrm>
            <a:off x="3694320" y="2146680"/>
            <a:ext cx="323640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  <a:ea typeface="Calibri"/>
              </a:rPr>
              <a:t>Step 2: After data.append(20)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6" name="Shape 13"/>
          <p:cNvSpPr/>
          <p:nvPr/>
        </p:nvSpPr>
        <p:spPr>
          <a:xfrm>
            <a:off x="3694320" y="2443320"/>
            <a:ext cx="565920" cy="370800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14"/>
          <p:cNvSpPr/>
          <p:nvPr/>
        </p:nvSpPr>
        <p:spPr>
          <a:xfrm>
            <a:off x="3694320" y="2517480"/>
            <a:ext cx="56592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8" name="Shape 15"/>
          <p:cNvSpPr/>
          <p:nvPr/>
        </p:nvSpPr>
        <p:spPr>
          <a:xfrm>
            <a:off x="4341600" y="2443320"/>
            <a:ext cx="565920" cy="370800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16"/>
          <p:cNvSpPr/>
          <p:nvPr/>
        </p:nvSpPr>
        <p:spPr>
          <a:xfrm>
            <a:off x="4341600" y="2517480"/>
            <a:ext cx="56592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0" name="Shape 17"/>
          <p:cNvSpPr/>
          <p:nvPr/>
        </p:nvSpPr>
        <p:spPr>
          <a:xfrm>
            <a:off x="4988880" y="2443320"/>
            <a:ext cx="566280" cy="370800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18"/>
          <p:cNvSpPr/>
          <p:nvPr/>
        </p:nvSpPr>
        <p:spPr>
          <a:xfrm>
            <a:off x="4988880" y="2517480"/>
            <a:ext cx="5662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15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2" name="Shape 19"/>
          <p:cNvSpPr/>
          <p:nvPr/>
        </p:nvSpPr>
        <p:spPr>
          <a:xfrm>
            <a:off x="5636160" y="2443320"/>
            <a:ext cx="566280" cy="3708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20"/>
          <p:cNvSpPr/>
          <p:nvPr/>
        </p:nvSpPr>
        <p:spPr>
          <a:xfrm>
            <a:off x="5636160" y="2517480"/>
            <a:ext cx="5662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20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4" name="Text 21"/>
          <p:cNvSpPr/>
          <p:nvPr/>
        </p:nvSpPr>
        <p:spPr>
          <a:xfrm>
            <a:off x="3694320" y="2925720"/>
            <a:ext cx="258912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065a82"/>
                </a:solidFill>
                <a:latin typeface="Calibri"/>
                <a:ea typeface="Calibri"/>
              </a:rPr>
              <a:t>List grew dynamically!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5" name="Shape 22"/>
          <p:cNvSpPr/>
          <p:nvPr/>
        </p:nvSpPr>
        <p:spPr>
          <a:xfrm>
            <a:off x="619200" y="3556440"/>
            <a:ext cx="6958800" cy="1483560"/>
          </a:xfrm>
          <a:prstGeom prst="rect">
            <a:avLst/>
          </a:prstGeom>
          <a:solidFill>
            <a:srgbClr val="f8f8f8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23"/>
          <p:cNvSpPr/>
          <p:nvPr/>
        </p:nvSpPr>
        <p:spPr>
          <a:xfrm>
            <a:off x="780840" y="3667680"/>
            <a:ext cx="663552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libri"/>
                <a:ea typeface="Calibri"/>
              </a:rPr>
              <a:t>Code Example: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7" name="Text 24"/>
          <p:cNvSpPr/>
          <p:nvPr/>
        </p:nvSpPr>
        <p:spPr>
          <a:xfrm>
            <a:off x="861840" y="3964320"/>
            <a:ext cx="6473520" cy="1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scores = [85, 90, 78]          # Initial list with 3 elements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8" name="Text 25"/>
          <p:cNvSpPr/>
          <p:nvPr/>
        </p:nvSpPr>
        <p:spPr>
          <a:xfrm>
            <a:off x="861840" y="4172040"/>
            <a:ext cx="6473520" cy="1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print(scores)                  # [85, 90, 78]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9" name="Text 26"/>
          <p:cNvSpPr/>
          <p:nvPr/>
        </p:nvSpPr>
        <p:spPr>
          <a:xfrm>
            <a:off x="861840" y="4379760"/>
            <a:ext cx="6473520" cy="1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27"/>
          <p:cNvSpPr/>
          <p:nvPr/>
        </p:nvSpPr>
        <p:spPr>
          <a:xfrm>
            <a:off x="861840" y="4587840"/>
            <a:ext cx="647352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scores.append(92)              # List grows to 4 elements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1" name="Text 28"/>
          <p:cNvSpPr/>
          <p:nvPr/>
        </p:nvSpPr>
        <p:spPr>
          <a:xfrm>
            <a:off x="861840" y="4795560"/>
            <a:ext cx="647352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print(scores)                  # [85, 90, 78, 92]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0"/>
          <p:cNvSpPr/>
          <p:nvPr/>
        </p:nvSpPr>
        <p:spPr>
          <a:xfrm>
            <a:off x="457200" y="365760"/>
            <a:ext cx="8362800" cy="56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Variable-Length Data Handling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33" name="Text 1"/>
          <p:cNvSpPr/>
          <p:nvPr/>
        </p:nvSpPr>
        <p:spPr>
          <a:xfrm>
            <a:off x="642960" y="1217520"/>
            <a:ext cx="7991280" cy="56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  <a:ea typeface="Calibri"/>
              </a:rPr>
              <a:t>Lists are commonly used to handle variable-length data because they can accommodate any number of elements without predefined size constraints.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4" name="Shape 2"/>
          <p:cNvSpPr/>
          <p:nvPr/>
        </p:nvSpPr>
        <p:spPr>
          <a:xfrm>
            <a:off x="642960" y="2164320"/>
            <a:ext cx="7991280" cy="137196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Shape 3"/>
          <p:cNvSpPr/>
          <p:nvPr/>
        </p:nvSpPr>
        <p:spPr>
          <a:xfrm>
            <a:off x="782280" y="2306160"/>
            <a:ext cx="278640" cy="2836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 4"/>
          <p:cNvSpPr/>
          <p:nvPr/>
        </p:nvSpPr>
        <p:spPr>
          <a:xfrm>
            <a:off x="1154160" y="2306160"/>
            <a:ext cx="371664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1295c"/>
                </a:solidFill>
                <a:latin typeface="Calibri"/>
                <a:ea typeface="Calibri"/>
              </a:rPr>
              <a:t>User Input Collection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7" name="Text 5"/>
          <p:cNvSpPr/>
          <p:nvPr/>
        </p:nvSpPr>
        <p:spPr>
          <a:xfrm>
            <a:off x="782280" y="2656440"/>
            <a:ext cx="73407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Collecting varying numbers of user responses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8" name="Text 6"/>
          <p:cNvSpPr/>
          <p:nvPr/>
        </p:nvSpPr>
        <p:spPr>
          <a:xfrm>
            <a:off x="782280" y="2940480"/>
            <a:ext cx="734076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responses = []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while True: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ans = input('Enter response: 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if ans == 'done': break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responses.append(ans)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9" name="Shape 7"/>
          <p:cNvSpPr/>
          <p:nvPr/>
        </p:nvSpPr>
        <p:spPr>
          <a:xfrm>
            <a:off x="642960" y="3726000"/>
            <a:ext cx="7991280" cy="137232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Shape 8"/>
          <p:cNvSpPr/>
          <p:nvPr/>
        </p:nvSpPr>
        <p:spPr>
          <a:xfrm>
            <a:off x="782280" y="3868200"/>
            <a:ext cx="278640" cy="28332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9"/>
          <p:cNvSpPr/>
          <p:nvPr/>
        </p:nvSpPr>
        <p:spPr>
          <a:xfrm>
            <a:off x="1154160" y="3868200"/>
            <a:ext cx="3716640" cy="28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1295c"/>
                </a:solidFill>
                <a:latin typeface="Calibri"/>
                <a:ea typeface="Calibri"/>
              </a:rPr>
              <a:t>File Processing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2" name="Text 10"/>
          <p:cNvSpPr/>
          <p:nvPr/>
        </p:nvSpPr>
        <p:spPr>
          <a:xfrm>
            <a:off x="782280" y="4218480"/>
            <a:ext cx="73407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Reading files with unknown number of lines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3" name="Text 11"/>
          <p:cNvSpPr/>
          <p:nvPr/>
        </p:nvSpPr>
        <p:spPr>
          <a:xfrm>
            <a:off x="782280" y="4502160"/>
            <a:ext cx="734076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file_lines = []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with open('data.txt') as f: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for line in f: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file_lines.append(line.strip())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4" name="Shape 12"/>
          <p:cNvSpPr/>
          <p:nvPr/>
        </p:nvSpPr>
        <p:spPr>
          <a:xfrm>
            <a:off x="642960" y="5288040"/>
            <a:ext cx="7991280" cy="137196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Shape 13"/>
          <p:cNvSpPr/>
          <p:nvPr/>
        </p:nvSpPr>
        <p:spPr>
          <a:xfrm>
            <a:off x="782280" y="5429880"/>
            <a:ext cx="278640" cy="2836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14"/>
          <p:cNvSpPr/>
          <p:nvPr/>
        </p:nvSpPr>
        <p:spPr>
          <a:xfrm>
            <a:off x="1154160" y="5429880"/>
            <a:ext cx="371664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1295c"/>
                </a:solidFill>
                <a:latin typeface="Calibri"/>
                <a:ea typeface="Calibri"/>
              </a:rPr>
              <a:t>Dynamic Results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7" name="Text 15"/>
          <p:cNvSpPr/>
          <p:nvPr/>
        </p:nvSpPr>
        <p:spPr>
          <a:xfrm>
            <a:off x="782280" y="5780160"/>
            <a:ext cx="73407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Storing search or filter results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8" name="Text 16"/>
          <p:cNvSpPr/>
          <p:nvPr/>
        </p:nvSpPr>
        <p:spPr>
          <a:xfrm>
            <a:off x="782280" y="6064200"/>
            <a:ext cx="7340760" cy="4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results = []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for item in database: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if item.matches_criteria():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results.append(item)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Creating Lists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50" name="Text 1"/>
          <p:cNvSpPr/>
          <p:nvPr/>
        </p:nvSpPr>
        <p:spPr>
          <a:xfrm>
            <a:off x="640080" y="109728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65a82"/>
                </a:solidFill>
                <a:latin typeface="Calibri"/>
                <a:ea typeface="Calibri"/>
              </a:rPr>
              <a:t>Square Brackets and Elements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51" name="Text 2"/>
          <p:cNvSpPr/>
          <p:nvPr/>
        </p:nvSpPr>
        <p:spPr>
          <a:xfrm>
            <a:off x="640080" y="1554480"/>
            <a:ext cx="7863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Lists are created using square brackets [ ] with elements separated by commas. You can create a list by writing comma-separated elements within square brackets.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52" name="Shape 3"/>
          <p:cNvSpPr/>
          <p:nvPr/>
        </p:nvSpPr>
        <p:spPr>
          <a:xfrm>
            <a:off x="640080" y="2286000"/>
            <a:ext cx="7863480" cy="73116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4"/>
          <p:cNvSpPr/>
          <p:nvPr/>
        </p:nvSpPr>
        <p:spPr>
          <a:xfrm>
            <a:off x="822960" y="24231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Syntax: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4" name="Text 5"/>
          <p:cNvSpPr/>
          <p:nvPr/>
        </p:nvSpPr>
        <p:spPr>
          <a:xfrm>
            <a:off x="2286000" y="2423160"/>
            <a:ext cx="5943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65a82"/>
                </a:solidFill>
                <a:latin typeface="Consolas"/>
                <a:ea typeface="Consolas"/>
              </a:rPr>
              <a:t>list_name = [element1, element2, element3, ...]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55" name="Text 6"/>
          <p:cNvSpPr/>
          <p:nvPr/>
        </p:nvSpPr>
        <p:spPr>
          <a:xfrm>
            <a:off x="822960" y="272484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Example: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6" name="Text 7"/>
          <p:cNvSpPr/>
          <p:nvPr/>
        </p:nvSpPr>
        <p:spPr>
          <a:xfrm>
            <a:off x="2286000" y="2724840"/>
            <a:ext cx="5943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onsolas"/>
                <a:ea typeface="Consolas"/>
              </a:rPr>
              <a:t>numbers = [10, 20, 30, 40, 50]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57" name="Text 8"/>
          <p:cNvSpPr/>
          <p:nvPr/>
        </p:nvSpPr>
        <p:spPr>
          <a:xfrm>
            <a:off x="640080" y="329184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Common Examples: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8" name="Text 9"/>
          <p:cNvSpPr/>
          <p:nvPr/>
        </p:nvSpPr>
        <p:spPr>
          <a:xfrm>
            <a:off x="822960" y="374904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Homogeneous list (same type)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9" name="Text 10"/>
          <p:cNvSpPr/>
          <p:nvPr/>
        </p:nvSpPr>
        <p:spPr>
          <a:xfrm>
            <a:off x="2743200" y="3749040"/>
            <a:ext cx="5668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prices = [19.99, 29.99, 39.99, 49.99]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0" name="Text 11"/>
          <p:cNvSpPr/>
          <p:nvPr/>
        </p:nvSpPr>
        <p:spPr>
          <a:xfrm>
            <a:off x="822960" y="416052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Heterogeneous list (mixed types)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1" name="Text 12"/>
          <p:cNvSpPr/>
          <p:nvPr/>
        </p:nvSpPr>
        <p:spPr>
          <a:xfrm>
            <a:off x="2743200" y="4160520"/>
            <a:ext cx="5668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student = ['Alice', 20, 3.8, True]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2" name="Text 13"/>
          <p:cNvSpPr/>
          <p:nvPr/>
        </p:nvSpPr>
        <p:spPr>
          <a:xfrm>
            <a:off x="822960" y="457200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List with duplicates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3" name="Text 14"/>
          <p:cNvSpPr/>
          <p:nvPr/>
        </p:nvSpPr>
        <p:spPr>
          <a:xfrm>
            <a:off x="2743200" y="4572000"/>
            <a:ext cx="5668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grades = [85, 90, 85, 78, 90]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4" name="Text 15"/>
          <p:cNvSpPr/>
          <p:nvPr/>
        </p:nvSpPr>
        <p:spPr>
          <a:xfrm>
            <a:off x="822960" y="498348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Nested list (list within list)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5" name="Text 16"/>
          <p:cNvSpPr/>
          <p:nvPr/>
        </p:nvSpPr>
        <p:spPr>
          <a:xfrm>
            <a:off x="2743200" y="4983480"/>
            <a:ext cx="5668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matrix = [[1, 2], [3, 4], [5, 6]]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6" name="Text 17"/>
          <p:cNvSpPr/>
          <p:nvPr/>
        </p:nvSpPr>
        <p:spPr>
          <a:xfrm>
            <a:off x="822960" y="539496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Empty list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7" name="Text 18"/>
          <p:cNvSpPr/>
          <p:nvPr/>
        </p:nvSpPr>
        <p:spPr>
          <a:xfrm>
            <a:off x="2743200" y="5394960"/>
            <a:ext cx="5668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empty_data = []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8" name="Text 19"/>
          <p:cNvSpPr/>
          <p:nvPr/>
        </p:nvSpPr>
        <p:spPr>
          <a:xfrm>
            <a:off x="640080" y="594360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Visual Breakdown: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69" name="Text 20"/>
          <p:cNvSpPr/>
          <p:nvPr/>
        </p:nvSpPr>
        <p:spPr>
          <a:xfrm>
            <a:off x="1371600" y="630936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1295c"/>
                </a:solidFill>
                <a:latin typeface="Consolas"/>
                <a:ea typeface="Consolas"/>
              </a:rPr>
              <a:t>[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0" name="Text 21"/>
          <p:cNvSpPr/>
          <p:nvPr/>
        </p:nvSpPr>
        <p:spPr>
          <a:xfrm>
            <a:off x="1828800" y="630936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onsolas"/>
                <a:ea typeface="Consolas"/>
              </a:rPr>
              <a:t>'red'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1" name="Text 22"/>
          <p:cNvSpPr/>
          <p:nvPr/>
        </p:nvSpPr>
        <p:spPr>
          <a:xfrm>
            <a:off x="2560320" y="630936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666666"/>
                </a:solidFill>
                <a:latin typeface="Consolas"/>
                <a:ea typeface="Consolas"/>
              </a:rPr>
              <a:t>,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2" name="Text 23"/>
          <p:cNvSpPr/>
          <p:nvPr/>
        </p:nvSpPr>
        <p:spPr>
          <a:xfrm>
            <a:off x="2926080" y="630936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onsolas"/>
                <a:ea typeface="Consolas"/>
              </a:rPr>
              <a:t>'green'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3" name="Text 24"/>
          <p:cNvSpPr/>
          <p:nvPr/>
        </p:nvSpPr>
        <p:spPr>
          <a:xfrm>
            <a:off x="3840480" y="630936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666666"/>
                </a:solidFill>
                <a:latin typeface="Consolas"/>
                <a:ea typeface="Consolas"/>
              </a:rPr>
              <a:t>,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4" name="Text 25"/>
          <p:cNvSpPr/>
          <p:nvPr/>
        </p:nvSpPr>
        <p:spPr>
          <a:xfrm>
            <a:off x="4206240" y="630936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onsolas"/>
                <a:ea typeface="Consolas"/>
              </a:rPr>
              <a:t>'blue'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5" name="Text 26"/>
          <p:cNvSpPr/>
          <p:nvPr/>
        </p:nvSpPr>
        <p:spPr>
          <a:xfrm>
            <a:off x="5029200" y="630936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1295c"/>
                </a:solidFill>
                <a:latin typeface="Consolas"/>
                <a:ea typeface="Consolas"/>
              </a:rPr>
              <a:t>]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6" name="Text 27"/>
          <p:cNvSpPr/>
          <p:nvPr/>
        </p:nvSpPr>
        <p:spPr>
          <a:xfrm>
            <a:off x="1188720" y="672084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88888"/>
                </a:solidFill>
                <a:latin typeface="Calibri"/>
                <a:ea typeface="Calibri"/>
              </a:rPr>
              <a:t>Opening bracket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7" name="Text 28"/>
          <p:cNvSpPr/>
          <p:nvPr/>
        </p:nvSpPr>
        <p:spPr>
          <a:xfrm>
            <a:off x="2286000" y="6720840"/>
            <a:ext cx="228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88888"/>
                </a:solidFill>
                <a:latin typeface="Calibri"/>
                <a:ea typeface="Calibri"/>
              </a:rPr>
              <a:t>Elements separated by commas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8" name="Text 29"/>
          <p:cNvSpPr/>
          <p:nvPr/>
        </p:nvSpPr>
        <p:spPr>
          <a:xfrm>
            <a:off x="4846320" y="672084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88888"/>
                </a:solidFill>
                <a:latin typeface="Calibri"/>
                <a:ea typeface="Calibri"/>
              </a:rPr>
              <a:t>Closing bracket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List Properties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80" name="Shape 1"/>
          <p:cNvSpPr/>
          <p:nvPr/>
        </p:nvSpPr>
        <p:spPr>
          <a:xfrm>
            <a:off x="457200" y="1188720"/>
            <a:ext cx="4023000" cy="228564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Shape 2"/>
          <p:cNvSpPr/>
          <p:nvPr/>
        </p:nvSpPr>
        <p:spPr>
          <a:xfrm>
            <a:off x="594360" y="1325880"/>
            <a:ext cx="319680" cy="3196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Text 3"/>
          <p:cNvSpPr/>
          <p:nvPr/>
        </p:nvSpPr>
        <p:spPr>
          <a:xfrm>
            <a:off x="1005840" y="132588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1295c"/>
                </a:solidFill>
                <a:latin typeface="Calibri"/>
                <a:ea typeface="Calibri"/>
              </a:rPr>
              <a:t>Homogeneous Lists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83" name="Text 4"/>
          <p:cNvSpPr/>
          <p:nvPr/>
        </p:nvSpPr>
        <p:spPr>
          <a:xfrm>
            <a:off x="640080" y="173736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Elements of the same data type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4" name="Text 5"/>
          <p:cNvSpPr/>
          <p:nvPr/>
        </p:nvSpPr>
        <p:spPr>
          <a:xfrm>
            <a:off x="640080" y="2057400"/>
            <a:ext cx="3657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ages = [25, 30, 35, 40]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# All integers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names = ['Alice', 'Bob', 'Carol']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# All strings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5" name="Shape 6"/>
          <p:cNvSpPr/>
          <p:nvPr/>
        </p:nvSpPr>
        <p:spPr>
          <a:xfrm>
            <a:off x="4663440" y="1188720"/>
            <a:ext cx="4023000" cy="228564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Shape 7"/>
          <p:cNvSpPr/>
          <p:nvPr/>
        </p:nvSpPr>
        <p:spPr>
          <a:xfrm>
            <a:off x="4800600" y="1325880"/>
            <a:ext cx="319680" cy="3196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8"/>
          <p:cNvSpPr/>
          <p:nvPr/>
        </p:nvSpPr>
        <p:spPr>
          <a:xfrm>
            <a:off x="5212080" y="132588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1295c"/>
                </a:solidFill>
                <a:latin typeface="Calibri"/>
                <a:ea typeface="Calibri"/>
              </a:rPr>
              <a:t>Heterogeneous Lists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88" name="Text 9"/>
          <p:cNvSpPr/>
          <p:nvPr/>
        </p:nvSpPr>
        <p:spPr>
          <a:xfrm>
            <a:off x="4846320" y="173736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Elements of different data types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9" name="Text 10"/>
          <p:cNvSpPr/>
          <p:nvPr/>
        </p:nvSpPr>
        <p:spPr>
          <a:xfrm>
            <a:off x="4846320" y="2057400"/>
            <a:ext cx="3657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profile = ['John', 28, 5.9, True]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# String, int, float, boolean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data = [100, 'text', [1,2], None]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# Mixed types including list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0" name="Shape 11"/>
          <p:cNvSpPr/>
          <p:nvPr/>
        </p:nvSpPr>
        <p:spPr>
          <a:xfrm>
            <a:off x="457200" y="3749040"/>
            <a:ext cx="4023000" cy="2468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Shape 12"/>
          <p:cNvSpPr/>
          <p:nvPr/>
        </p:nvSpPr>
        <p:spPr>
          <a:xfrm>
            <a:off x="594360" y="3886200"/>
            <a:ext cx="319680" cy="3196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13"/>
          <p:cNvSpPr/>
          <p:nvPr/>
        </p:nvSpPr>
        <p:spPr>
          <a:xfrm>
            <a:off x="1005840" y="388620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1295c"/>
                </a:solidFill>
                <a:latin typeface="Calibri"/>
                <a:ea typeface="Calibri"/>
              </a:rPr>
              <a:t>Duplicates Allowed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93" name="Text 14"/>
          <p:cNvSpPr/>
          <p:nvPr/>
        </p:nvSpPr>
        <p:spPr>
          <a:xfrm>
            <a:off x="640080" y="429768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Lists can contain duplicate elements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4" name="Text 15"/>
          <p:cNvSpPr/>
          <p:nvPr/>
        </p:nvSpPr>
        <p:spPr>
          <a:xfrm>
            <a:off x="640080" y="4617720"/>
            <a:ext cx="3657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votes = ['yes', 'no', 'yes', 'yes', 'no']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print(votes)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# ['yes', 'no', 'yes', 'yes', 'no']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numbers = [1, 2, 2, 3, 3, 3]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# Duplicates preserved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5" name="Shape 16"/>
          <p:cNvSpPr/>
          <p:nvPr/>
        </p:nvSpPr>
        <p:spPr>
          <a:xfrm>
            <a:off x="4663440" y="3749040"/>
            <a:ext cx="4023000" cy="2468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Shape 17"/>
          <p:cNvSpPr/>
          <p:nvPr/>
        </p:nvSpPr>
        <p:spPr>
          <a:xfrm>
            <a:off x="4800600" y="3886200"/>
            <a:ext cx="319680" cy="3196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 18"/>
          <p:cNvSpPr/>
          <p:nvPr/>
        </p:nvSpPr>
        <p:spPr>
          <a:xfrm>
            <a:off x="5212080" y="388620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1295c"/>
                </a:solidFill>
                <a:latin typeface="Calibri"/>
                <a:ea typeface="Calibri"/>
              </a:rPr>
              <a:t>Complex Data Types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98" name="Text 19"/>
          <p:cNvSpPr/>
          <p:nvPr/>
        </p:nvSpPr>
        <p:spPr>
          <a:xfrm>
            <a:off x="4846320" y="429768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Can hold any Python data type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9" name="Text 20"/>
          <p:cNvSpPr/>
          <p:nvPr/>
        </p:nvSpPr>
        <p:spPr>
          <a:xfrm>
            <a:off x="4846320" y="4617720"/>
            <a:ext cx="3657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# Strings, integers, floats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data1 = ['hello', 42, 3.14]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# Booleans, None, complex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data2 = [True, None, 2+3j]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# Nested structures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data3 = [[1,2], {'a':1}]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Accessing List Elements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01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You can access individual elements of a list using indexing. Lists use zero-based indexing, meaning the first element is at index 0.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02" name="Text 2"/>
          <p:cNvSpPr/>
          <p:nvPr/>
        </p:nvSpPr>
        <p:spPr>
          <a:xfrm>
            <a:off x="640080" y="173736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Syntax: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3" name="Shape 3"/>
          <p:cNvSpPr/>
          <p:nvPr/>
        </p:nvSpPr>
        <p:spPr>
          <a:xfrm>
            <a:off x="640080" y="2103120"/>
            <a:ext cx="7863480" cy="456840"/>
          </a:xfrm>
          <a:prstGeom prst="rect">
            <a:avLst/>
          </a:prstGeom>
          <a:solidFill>
            <a:srgbClr val="f0f8ff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4"/>
          <p:cNvSpPr/>
          <p:nvPr/>
        </p:nvSpPr>
        <p:spPr>
          <a:xfrm>
            <a:off x="914400" y="224028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onsolas"/>
                <a:ea typeface="Consolas"/>
              </a:rPr>
              <a:t>list_name[index]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05" name="Text 5"/>
          <p:cNvSpPr/>
          <p:nvPr/>
        </p:nvSpPr>
        <p:spPr>
          <a:xfrm>
            <a:off x="640080" y="274320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Example List: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06" name="Shape 6"/>
          <p:cNvSpPr/>
          <p:nvPr/>
        </p:nvSpPr>
        <p:spPr>
          <a:xfrm>
            <a:off x="1371600" y="3200400"/>
            <a:ext cx="118836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Text 7"/>
          <p:cNvSpPr/>
          <p:nvPr/>
        </p:nvSpPr>
        <p:spPr>
          <a:xfrm>
            <a:off x="1371600" y="3337560"/>
            <a:ext cx="118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Delhi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8" name="Text 8"/>
          <p:cNvSpPr/>
          <p:nvPr/>
        </p:nvSpPr>
        <p:spPr>
          <a:xfrm>
            <a:off x="1371600" y="288036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onsolas"/>
                <a:ea typeface="Consolas"/>
              </a:rPr>
              <a:t>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9" name="Shape 9"/>
          <p:cNvSpPr/>
          <p:nvPr/>
        </p:nvSpPr>
        <p:spPr>
          <a:xfrm>
            <a:off x="2651760" y="3200400"/>
            <a:ext cx="118836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10"/>
          <p:cNvSpPr/>
          <p:nvPr/>
        </p:nvSpPr>
        <p:spPr>
          <a:xfrm>
            <a:off x="2651760" y="3337560"/>
            <a:ext cx="118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Mumbai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1" name="Text 11"/>
          <p:cNvSpPr/>
          <p:nvPr/>
        </p:nvSpPr>
        <p:spPr>
          <a:xfrm>
            <a:off x="2651760" y="288036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onsolas"/>
                <a:ea typeface="Consolas"/>
              </a:rPr>
              <a:t>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2" name="Shape 12"/>
          <p:cNvSpPr/>
          <p:nvPr/>
        </p:nvSpPr>
        <p:spPr>
          <a:xfrm>
            <a:off x="3931920" y="3200400"/>
            <a:ext cx="118836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Text 13"/>
          <p:cNvSpPr/>
          <p:nvPr/>
        </p:nvSpPr>
        <p:spPr>
          <a:xfrm>
            <a:off x="3931920" y="3337560"/>
            <a:ext cx="118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Chennai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4" name="Text 14"/>
          <p:cNvSpPr/>
          <p:nvPr/>
        </p:nvSpPr>
        <p:spPr>
          <a:xfrm>
            <a:off x="3931920" y="288036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onsolas"/>
                <a:ea typeface="Consolas"/>
              </a:rPr>
              <a:t>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5" name="Shape 15"/>
          <p:cNvSpPr/>
          <p:nvPr/>
        </p:nvSpPr>
        <p:spPr>
          <a:xfrm>
            <a:off x="5212080" y="3200400"/>
            <a:ext cx="118836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16"/>
          <p:cNvSpPr/>
          <p:nvPr/>
        </p:nvSpPr>
        <p:spPr>
          <a:xfrm>
            <a:off x="5212080" y="3337560"/>
            <a:ext cx="118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Kolkata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7" name="Text 17"/>
          <p:cNvSpPr/>
          <p:nvPr/>
        </p:nvSpPr>
        <p:spPr>
          <a:xfrm>
            <a:off x="5212080" y="288036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onsolas"/>
                <a:ea typeface="Consolas"/>
              </a:rPr>
              <a:t>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8" name="Shape 18"/>
          <p:cNvSpPr/>
          <p:nvPr/>
        </p:nvSpPr>
        <p:spPr>
          <a:xfrm>
            <a:off x="6492240" y="3200400"/>
            <a:ext cx="118836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Text 19"/>
          <p:cNvSpPr/>
          <p:nvPr/>
        </p:nvSpPr>
        <p:spPr>
          <a:xfrm>
            <a:off x="6492240" y="3337560"/>
            <a:ext cx="118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Bangalore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0" name="Text 20"/>
          <p:cNvSpPr/>
          <p:nvPr/>
        </p:nvSpPr>
        <p:spPr>
          <a:xfrm>
            <a:off x="6492240" y="288036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onsolas"/>
                <a:ea typeface="Consolas"/>
              </a:rPr>
              <a:t>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1" name="Text 21"/>
          <p:cNvSpPr/>
          <p:nvPr/>
        </p:nvSpPr>
        <p:spPr>
          <a:xfrm>
            <a:off x="1371600" y="3931920"/>
            <a:ext cx="6400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onsolas"/>
                <a:ea typeface="Consolas"/>
              </a:rPr>
              <a:t>cities = ['Delhi', 'Mumbai', 'Chennai', 'Kolkata', 'Bangalore']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2" name="Text 22"/>
          <p:cNvSpPr/>
          <p:nvPr/>
        </p:nvSpPr>
        <p:spPr>
          <a:xfrm>
            <a:off x="640080" y="438912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Accessing Elements: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23" name="Text 23"/>
          <p:cNvSpPr/>
          <p:nvPr/>
        </p:nvSpPr>
        <p:spPr>
          <a:xfrm>
            <a:off x="914400" y="475488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print(cities[0])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4" name="Text 24"/>
          <p:cNvSpPr/>
          <p:nvPr/>
        </p:nvSpPr>
        <p:spPr>
          <a:xfrm>
            <a:off x="4114800" y="475488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66666"/>
                </a:solidFill>
                <a:latin typeface="Consolas"/>
                <a:ea typeface="Consolas"/>
              </a:rPr>
              <a:t># Delhi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5" name="Text 25"/>
          <p:cNvSpPr/>
          <p:nvPr/>
        </p:nvSpPr>
        <p:spPr>
          <a:xfrm>
            <a:off x="914400" y="507492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print(cities[1])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6" name="Text 26"/>
          <p:cNvSpPr/>
          <p:nvPr/>
        </p:nvSpPr>
        <p:spPr>
          <a:xfrm>
            <a:off x="4114800" y="507492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66666"/>
                </a:solidFill>
                <a:latin typeface="Consolas"/>
                <a:ea typeface="Consolas"/>
              </a:rPr>
              <a:t># Mumbai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7" name="Text 27"/>
          <p:cNvSpPr/>
          <p:nvPr/>
        </p:nvSpPr>
        <p:spPr>
          <a:xfrm>
            <a:off x="914400" y="539496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print(cities[2])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8" name="Text 28"/>
          <p:cNvSpPr/>
          <p:nvPr/>
        </p:nvSpPr>
        <p:spPr>
          <a:xfrm>
            <a:off x="4114800" y="539496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66666"/>
                </a:solidFill>
                <a:latin typeface="Consolas"/>
                <a:ea typeface="Consolas"/>
              </a:rPr>
              <a:t># Chennai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9" name="Text 29"/>
          <p:cNvSpPr/>
          <p:nvPr/>
        </p:nvSpPr>
        <p:spPr>
          <a:xfrm>
            <a:off x="914400" y="571500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print(cities[3])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0" name="Text 30"/>
          <p:cNvSpPr/>
          <p:nvPr/>
        </p:nvSpPr>
        <p:spPr>
          <a:xfrm>
            <a:off x="4114800" y="571500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66666"/>
                </a:solidFill>
                <a:latin typeface="Consolas"/>
                <a:ea typeface="Consolas"/>
              </a:rPr>
              <a:t># Kolkata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1" name="Text 31"/>
          <p:cNvSpPr/>
          <p:nvPr/>
        </p:nvSpPr>
        <p:spPr>
          <a:xfrm>
            <a:off x="914400" y="603504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print(cities[4])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2" name="Text 32"/>
          <p:cNvSpPr/>
          <p:nvPr/>
        </p:nvSpPr>
        <p:spPr>
          <a:xfrm>
            <a:off x="4114800" y="603504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66666"/>
                </a:solidFill>
                <a:latin typeface="Consolas"/>
                <a:ea typeface="Consolas"/>
              </a:rPr>
              <a:t># Bangalore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3" name="Shape 33"/>
          <p:cNvSpPr/>
          <p:nvPr/>
        </p:nvSpPr>
        <p:spPr>
          <a:xfrm>
            <a:off x="640080" y="6126480"/>
            <a:ext cx="7863480" cy="731160"/>
          </a:xfrm>
          <a:prstGeom prst="rect">
            <a:avLst/>
          </a:prstGeom>
          <a:solidFill>
            <a:srgbClr val="fff8dc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34"/>
          <p:cNvSpPr/>
          <p:nvPr/>
        </p:nvSpPr>
        <p:spPr>
          <a:xfrm>
            <a:off x="822960" y="6263640"/>
            <a:ext cx="749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📝 </a:t>
            </a: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Note: Using the list name directly prints the entire list: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5" name="Text 35"/>
          <p:cNvSpPr/>
          <p:nvPr/>
        </p:nvSpPr>
        <p:spPr>
          <a:xfrm>
            <a:off x="822960" y="6537960"/>
            <a:ext cx="749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555"/>
                </a:solidFill>
                <a:latin typeface="Consolas"/>
                <a:ea typeface="Consolas"/>
              </a:rPr>
              <a:t>print(cities)  →  ['Delhi', 'Mumbai', 'Chennai', 'Kolkata', 'Bangalore']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Two Types of Indexing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37" name="Shape 1"/>
          <p:cNvSpPr/>
          <p:nvPr/>
        </p:nvSpPr>
        <p:spPr>
          <a:xfrm>
            <a:off x="457200" y="1188720"/>
            <a:ext cx="4023000" cy="5303160"/>
          </a:xfrm>
          <a:prstGeom prst="rect">
            <a:avLst/>
          </a:prstGeom>
          <a:solidFill>
            <a:srgbClr val="f5f5f5"/>
          </a:solidFill>
          <a:ln w="381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Shape 2"/>
          <p:cNvSpPr/>
          <p:nvPr/>
        </p:nvSpPr>
        <p:spPr>
          <a:xfrm>
            <a:off x="594360" y="1325880"/>
            <a:ext cx="365400" cy="3654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3"/>
          <p:cNvSpPr/>
          <p:nvPr/>
        </p:nvSpPr>
        <p:spPr>
          <a:xfrm>
            <a:off x="1051560" y="132588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21295c"/>
                </a:solidFill>
                <a:latin typeface="Georgia"/>
                <a:ea typeface="Georgia"/>
              </a:rPr>
              <a:t>Positive Indexing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40" name="Text 4"/>
          <p:cNvSpPr/>
          <p:nvPr/>
        </p:nvSpPr>
        <p:spPr>
          <a:xfrm>
            <a:off x="640080" y="1783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555555"/>
                </a:solidFill>
                <a:latin typeface="Calibri"/>
                <a:ea typeface="Calibri"/>
              </a:rPr>
              <a:t>Starts from beginning (0)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41" name="Text 5"/>
          <p:cNvSpPr/>
          <p:nvPr/>
        </p:nvSpPr>
        <p:spPr>
          <a:xfrm>
            <a:off x="731520" y="228600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2" name="Shape 6"/>
          <p:cNvSpPr/>
          <p:nvPr/>
        </p:nvSpPr>
        <p:spPr>
          <a:xfrm>
            <a:off x="731520" y="256032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7"/>
          <p:cNvSpPr/>
          <p:nvPr/>
        </p:nvSpPr>
        <p:spPr>
          <a:xfrm>
            <a:off x="731520" y="26701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4" name="Text 8"/>
          <p:cNvSpPr/>
          <p:nvPr/>
        </p:nvSpPr>
        <p:spPr>
          <a:xfrm>
            <a:off x="1463040" y="228600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5" name="Shape 9"/>
          <p:cNvSpPr/>
          <p:nvPr/>
        </p:nvSpPr>
        <p:spPr>
          <a:xfrm>
            <a:off x="1463040" y="256032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Text 10"/>
          <p:cNvSpPr/>
          <p:nvPr/>
        </p:nvSpPr>
        <p:spPr>
          <a:xfrm>
            <a:off x="1463040" y="26701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20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7" name="Text 11"/>
          <p:cNvSpPr/>
          <p:nvPr/>
        </p:nvSpPr>
        <p:spPr>
          <a:xfrm>
            <a:off x="2194560" y="228600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8" name="Shape 12"/>
          <p:cNvSpPr/>
          <p:nvPr/>
        </p:nvSpPr>
        <p:spPr>
          <a:xfrm>
            <a:off x="2194560" y="256032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Text 13"/>
          <p:cNvSpPr/>
          <p:nvPr/>
        </p:nvSpPr>
        <p:spPr>
          <a:xfrm>
            <a:off x="2194560" y="26701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30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0" name="Text 14"/>
          <p:cNvSpPr/>
          <p:nvPr/>
        </p:nvSpPr>
        <p:spPr>
          <a:xfrm>
            <a:off x="2926080" y="228600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3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1" name="Shape 15"/>
          <p:cNvSpPr/>
          <p:nvPr/>
        </p:nvSpPr>
        <p:spPr>
          <a:xfrm>
            <a:off x="2926080" y="256032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Text 16"/>
          <p:cNvSpPr/>
          <p:nvPr/>
        </p:nvSpPr>
        <p:spPr>
          <a:xfrm>
            <a:off x="2926080" y="26701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40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3" name="Text 17"/>
          <p:cNvSpPr/>
          <p:nvPr/>
        </p:nvSpPr>
        <p:spPr>
          <a:xfrm>
            <a:off x="3657600" y="228600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4" name="Shape 18"/>
          <p:cNvSpPr/>
          <p:nvPr/>
        </p:nvSpPr>
        <p:spPr>
          <a:xfrm>
            <a:off x="3657600" y="256032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19"/>
          <p:cNvSpPr/>
          <p:nvPr/>
        </p:nvSpPr>
        <p:spPr>
          <a:xfrm>
            <a:off x="3657600" y="26701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50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6" name="Text 20"/>
          <p:cNvSpPr/>
          <p:nvPr/>
        </p:nvSpPr>
        <p:spPr>
          <a:xfrm>
            <a:off x="731520" y="315468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onsolas"/>
                <a:ea typeface="Consolas"/>
              </a:rPr>
              <a:t>data = [10, 20, 30, 40, 50]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7" name="Text 21"/>
          <p:cNvSpPr/>
          <p:nvPr/>
        </p:nvSpPr>
        <p:spPr>
          <a:xfrm>
            <a:off x="640080" y="35661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65a82"/>
                </a:solidFill>
                <a:latin typeface="Calibri"/>
                <a:ea typeface="Calibri"/>
              </a:rPr>
              <a:t>Examples: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58" name="Text 22"/>
          <p:cNvSpPr/>
          <p:nvPr/>
        </p:nvSpPr>
        <p:spPr>
          <a:xfrm>
            <a:off x="822960" y="393192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data[0]  →  10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9" name="Text 23"/>
          <p:cNvSpPr/>
          <p:nvPr/>
        </p:nvSpPr>
        <p:spPr>
          <a:xfrm>
            <a:off x="822960" y="429768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data[1]  →  20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0" name="Text 24"/>
          <p:cNvSpPr/>
          <p:nvPr/>
        </p:nvSpPr>
        <p:spPr>
          <a:xfrm>
            <a:off x="822960" y="466344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data[2]  →  30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1" name="Text 25"/>
          <p:cNvSpPr/>
          <p:nvPr/>
        </p:nvSpPr>
        <p:spPr>
          <a:xfrm>
            <a:off x="822960" y="502920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data[3]  →  40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2" name="Text 26"/>
          <p:cNvSpPr/>
          <p:nvPr/>
        </p:nvSpPr>
        <p:spPr>
          <a:xfrm>
            <a:off x="822960" y="539496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data[4]  →  50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3" name="Text 27"/>
          <p:cNvSpPr/>
          <p:nvPr/>
        </p:nvSpPr>
        <p:spPr>
          <a:xfrm>
            <a:off x="822960" y="603504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✓ </a:t>
            </a: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Index starts at 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4" name="Shape 28"/>
          <p:cNvSpPr/>
          <p:nvPr/>
        </p:nvSpPr>
        <p:spPr>
          <a:xfrm>
            <a:off x="4663440" y="1188720"/>
            <a:ext cx="4023000" cy="5303160"/>
          </a:xfrm>
          <a:prstGeom prst="rect">
            <a:avLst/>
          </a:prstGeom>
          <a:solidFill>
            <a:srgbClr val="f5f5f5"/>
          </a:solidFill>
          <a:ln w="381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Shape 29"/>
          <p:cNvSpPr/>
          <p:nvPr/>
        </p:nvSpPr>
        <p:spPr>
          <a:xfrm>
            <a:off x="4800600" y="1325880"/>
            <a:ext cx="365400" cy="365400"/>
          </a:xfrm>
          <a:prstGeom prst="ellipse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Text 30"/>
          <p:cNvSpPr/>
          <p:nvPr/>
        </p:nvSpPr>
        <p:spPr>
          <a:xfrm>
            <a:off x="5257800" y="132588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21295c"/>
                </a:solidFill>
                <a:latin typeface="Georgia"/>
                <a:ea typeface="Georgia"/>
              </a:rPr>
              <a:t>Negative Indexing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67" name="Text 31"/>
          <p:cNvSpPr/>
          <p:nvPr/>
        </p:nvSpPr>
        <p:spPr>
          <a:xfrm>
            <a:off x="4846320" y="1783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555555"/>
                </a:solidFill>
                <a:latin typeface="Calibri"/>
                <a:ea typeface="Calibri"/>
              </a:rPr>
              <a:t>Starts from end (-1)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68" name="Text 32"/>
          <p:cNvSpPr/>
          <p:nvPr/>
        </p:nvSpPr>
        <p:spPr>
          <a:xfrm>
            <a:off x="4937760" y="228600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-5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9" name="Shape 33"/>
          <p:cNvSpPr/>
          <p:nvPr/>
        </p:nvSpPr>
        <p:spPr>
          <a:xfrm>
            <a:off x="4937760" y="2560320"/>
            <a:ext cx="639720" cy="45684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 34"/>
          <p:cNvSpPr/>
          <p:nvPr/>
        </p:nvSpPr>
        <p:spPr>
          <a:xfrm>
            <a:off x="4937760" y="26701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1" name="Text 35"/>
          <p:cNvSpPr/>
          <p:nvPr/>
        </p:nvSpPr>
        <p:spPr>
          <a:xfrm>
            <a:off x="5669280" y="228600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-4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2" name="Shape 36"/>
          <p:cNvSpPr/>
          <p:nvPr/>
        </p:nvSpPr>
        <p:spPr>
          <a:xfrm>
            <a:off x="5669280" y="2560320"/>
            <a:ext cx="639720" cy="45684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Text 37"/>
          <p:cNvSpPr/>
          <p:nvPr/>
        </p:nvSpPr>
        <p:spPr>
          <a:xfrm>
            <a:off x="5669280" y="26701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20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4" name="Text 38"/>
          <p:cNvSpPr/>
          <p:nvPr/>
        </p:nvSpPr>
        <p:spPr>
          <a:xfrm>
            <a:off x="6400800" y="228600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-3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5" name="Shape 39"/>
          <p:cNvSpPr/>
          <p:nvPr/>
        </p:nvSpPr>
        <p:spPr>
          <a:xfrm>
            <a:off x="6400800" y="2560320"/>
            <a:ext cx="639720" cy="45684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Text 40"/>
          <p:cNvSpPr/>
          <p:nvPr/>
        </p:nvSpPr>
        <p:spPr>
          <a:xfrm>
            <a:off x="6400800" y="26701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30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7" name="Text 41"/>
          <p:cNvSpPr/>
          <p:nvPr/>
        </p:nvSpPr>
        <p:spPr>
          <a:xfrm>
            <a:off x="7132320" y="228600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-2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8" name="Shape 42"/>
          <p:cNvSpPr/>
          <p:nvPr/>
        </p:nvSpPr>
        <p:spPr>
          <a:xfrm>
            <a:off x="7132320" y="2560320"/>
            <a:ext cx="639720" cy="45684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Text 43"/>
          <p:cNvSpPr/>
          <p:nvPr/>
        </p:nvSpPr>
        <p:spPr>
          <a:xfrm>
            <a:off x="7132320" y="26701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40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0" name="Text 44"/>
          <p:cNvSpPr/>
          <p:nvPr/>
        </p:nvSpPr>
        <p:spPr>
          <a:xfrm>
            <a:off x="7863840" y="228600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-1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1" name="Shape 45"/>
          <p:cNvSpPr/>
          <p:nvPr/>
        </p:nvSpPr>
        <p:spPr>
          <a:xfrm>
            <a:off x="7863840" y="2560320"/>
            <a:ext cx="639720" cy="45684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Text 46"/>
          <p:cNvSpPr/>
          <p:nvPr/>
        </p:nvSpPr>
        <p:spPr>
          <a:xfrm>
            <a:off x="7863840" y="26701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50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3" name="Text 47"/>
          <p:cNvSpPr/>
          <p:nvPr/>
        </p:nvSpPr>
        <p:spPr>
          <a:xfrm>
            <a:off x="4937760" y="315468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onsolas"/>
                <a:ea typeface="Consolas"/>
              </a:rPr>
              <a:t>data = [10, 20, 30, 40, 50]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4" name="Text 48"/>
          <p:cNvSpPr/>
          <p:nvPr/>
        </p:nvSpPr>
        <p:spPr>
          <a:xfrm>
            <a:off x="4846320" y="35661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65a82"/>
                </a:solidFill>
                <a:latin typeface="Calibri"/>
                <a:ea typeface="Calibri"/>
              </a:rPr>
              <a:t>Examples: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85" name="Text 49"/>
          <p:cNvSpPr/>
          <p:nvPr/>
        </p:nvSpPr>
        <p:spPr>
          <a:xfrm>
            <a:off x="5029200" y="393192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data[-1]  →  50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6" name="Text 50"/>
          <p:cNvSpPr/>
          <p:nvPr/>
        </p:nvSpPr>
        <p:spPr>
          <a:xfrm>
            <a:off x="5029200" y="429768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data[-2]  →  40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7" name="Text 51"/>
          <p:cNvSpPr/>
          <p:nvPr/>
        </p:nvSpPr>
        <p:spPr>
          <a:xfrm>
            <a:off x="5029200" y="466344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data[-3]  →  30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8" name="Text 52"/>
          <p:cNvSpPr/>
          <p:nvPr/>
        </p:nvSpPr>
        <p:spPr>
          <a:xfrm>
            <a:off x="5029200" y="502920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data[-4]  →  20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9" name="Text 53"/>
          <p:cNvSpPr/>
          <p:nvPr/>
        </p:nvSpPr>
        <p:spPr>
          <a:xfrm>
            <a:off x="5029200" y="539496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data[-5]  →  10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0" name="Text 54"/>
          <p:cNvSpPr/>
          <p:nvPr/>
        </p:nvSpPr>
        <p:spPr>
          <a:xfrm>
            <a:off x="5029200" y="603504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✓ </a:t>
            </a: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Index starts at -1 (last item)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Positive Indexing in Detail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92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Positive indexing starts from the beginning of the list at index 0. Each subsequent element has an index that is 1 greater than the previous element.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93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Complete Index Mapping: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94" name="Text 3"/>
          <p:cNvSpPr/>
          <p:nvPr/>
        </p:nvSpPr>
        <p:spPr>
          <a:xfrm>
            <a:off x="1097280" y="201168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Index 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5" name="Shape 4"/>
          <p:cNvSpPr/>
          <p:nvPr/>
        </p:nvSpPr>
        <p:spPr>
          <a:xfrm>
            <a:off x="1463040" y="2377440"/>
            <a:ext cx="456840" cy="4568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Text 5"/>
          <p:cNvSpPr/>
          <p:nvPr/>
        </p:nvSpPr>
        <p:spPr>
          <a:xfrm>
            <a:off x="1463040" y="2468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97" name="Shape 6"/>
          <p:cNvSpPr/>
          <p:nvPr/>
        </p:nvSpPr>
        <p:spPr>
          <a:xfrm>
            <a:off x="1691640" y="2880360"/>
            <a:ext cx="360" cy="274320"/>
          </a:xfrm>
          <a:prstGeom prst="line">
            <a:avLst/>
          </a:prstGeom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Shape 7"/>
          <p:cNvSpPr/>
          <p:nvPr/>
        </p:nvSpPr>
        <p:spPr>
          <a:xfrm>
            <a:off x="1097280" y="3200400"/>
            <a:ext cx="1188360" cy="63972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Text 8"/>
          <p:cNvSpPr/>
          <p:nvPr/>
        </p:nvSpPr>
        <p:spPr>
          <a:xfrm>
            <a:off x="1097280" y="333756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0" name="Text 9"/>
          <p:cNvSpPr/>
          <p:nvPr/>
        </p:nvSpPr>
        <p:spPr>
          <a:xfrm>
            <a:off x="2468880" y="201168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Index 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1" name="Shape 10"/>
          <p:cNvSpPr/>
          <p:nvPr/>
        </p:nvSpPr>
        <p:spPr>
          <a:xfrm>
            <a:off x="2834640" y="2377440"/>
            <a:ext cx="456840" cy="4568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Text 11"/>
          <p:cNvSpPr/>
          <p:nvPr/>
        </p:nvSpPr>
        <p:spPr>
          <a:xfrm>
            <a:off x="2834640" y="2468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1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03" name="Shape 12"/>
          <p:cNvSpPr/>
          <p:nvPr/>
        </p:nvSpPr>
        <p:spPr>
          <a:xfrm>
            <a:off x="3063240" y="2880360"/>
            <a:ext cx="360" cy="274320"/>
          </a:xfrm>
          <a:prstGeom prst="line">
            <a:avLst/>
          </a:prstGeom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4" name="Shape 13"/>
          <p:cNvSpPr/>
          <p:nvPr/>
        </p:nvSpPr>
        <p:spPr>
          <a:xfrm>
            <a:off x="2468880" y="3200400"/>
            <a:ext cx="1188360" cy="63972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Text 14"/>
          <p:cNvSpPr/>
          <p:nvPr/>
        </p:nvSpPr>
        <p:spPr>
          <a:xfrm>
            <a:off x="2468880" y="333756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nsolas"/>
                <a:ea typeface="Consolas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6" name="Text 15"/>
          <p:cNvSpPr/>
          <p:nvPr/>
        </p:nvSpPr>
        <p:spPr>
          <a:xfrm>
            <a:off x="3840480" y="201168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Index 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7" name="Shape 16"/>
          <p:cNvSpPr/>
          <p:nvPr/>
        </p:nvSpPr>
        <p:spPr>
          <a:xfrm>
            <a:off x="4206240" y="2377440"/>
            <a:ext cx="456840" cy="4568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Text 17"/>
          <p:cNvSpPr/>
          <p:nvPr/>
        </p:nvSpPr>
        <p:spPr>
          <a:xfrm>
            <a:off x="4206240" y="2468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2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09" name="Shape 18"/>
          <p:cNvSpPr/>
          <p:nvPr/>
        </p:nvSpPr>
        <p:spPr>
          <a:xfrm>
            <a:off x="4434840" y="2880360"/>
            <a:ext cx="360" cy="274320"/>
          </a:xfrm>
          <a:prstGeom prst="line">
            <a:avLst/>
          </a:prstGeom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Shape 19"/>
          <p:cNvSpPr/>
          <p:nvPr/>
        </p:nvSpPr>
        <p:spPr>
          <a:xfrm>
            <a:off x="3840480" y="3200400"/>
            <a:ext cx="1188360" cy="63972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Text 20"/>
          <p:cNvSpPr/>
          <p:nvPr/>
        </p:nvSpPr>
        <p:spPr>
          <a:xfrm>
            <a:off x="3840480" y="333756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nsolas"/>
                <a:ea typeface="Consolas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12" name="Text 21"/>
          <p:cNvSpPr/>
          <p:nvPr/>
        </p:nvSpPr>
        <p:spPr>
          <a:xfrm>
            <a:off x="5212080" y="201168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Index 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3" name="Shape 22"/>
          <p:cNvSpPr/>
          <p:nvPr/>
        </p:nvSpPr>
        <p:spPr>
          <a:xfrm>
            <a:off x="5577840" y="2377440"/>
            <a:ext cx="456840" cy="4568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Text 23"/>
          <p:cNvSpPr/>
          <p:nvPr/>
        </p:nvSpPr>
        <p:spPr>
          <a:xfrm>
            <a:off x="5577840" y="2468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3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15" name="Shape 24"/>
          <p:cNvSpPr/>
          <p:nvPr/>
        </p:nvSpPr>
        <p:spPr>
          <a:xfrm>
            <a:off x="5806440" y="2880360"/>
            <a:ext cx="360" cy="274320"/>
          </a:xfrm>
          <a:prstGeom prst="line">
            <a:avLst/>
          </a:prstGeom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Shape 25"/>
          <p:cNvSpPr/>
          <p:nvPr/>
        </p:nvSpPr>
        <p:spPr>
          <a:xfrm>
            <a:off x="5212080" y="3200400"/>
            <a:ext cx="1188360" cy="63972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Text 26"/>
          <p:cNvSpPr/>
          <p:nvPr/>
        </p:nvSpPr>
        <p:spPr>
          <a:xfrm>
            <a:off x="5212080" y="333756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nsolas"/>
                <a:ea typeface="Consolas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18" name="Text 27"/>
          <p:cNvSpPr/>
          <p:nvPr/>
        </p:nvSpPr>
        <p:spPr>
          <a:xfrm>
            <a:off x="6583680" y="201168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Index 4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9" name="Shape 28"/>
          <p:cNvSpPr/>
          <p:nvPr/>
        </p:nvSpPr>
        <p:spPr>
          <a:xfrm>
            <a:off x="6949440" y="2377440"/>
            <a:ext cx="456840" cy="4568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Text 29"/>
          <p:cNvSpPr/>
          <p:nvPr/>
        </p:nvSpPr>
        <p:spPr>
          <a:xfrm>
            <a:off x="6949440" y="2468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4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21" name="Shape 30"/>
          <p:cNvSpPr/>
          <p:nvPr/>
        </p:nvSpPr>
        <p:spPr>
          <a:xfrm>
            <a:off x="7178040" y="2880360"/>
            <a:ext cx="360" cy="274320"/>
          </a:xfrm>
          <a:prstGeom prst="line">
            <a:avLst/>
          </a:prstGeom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Shape 31"/>
          <p:cNvSpPr/>
          <p:nvPr/>
        </p:nvSpPr>
        <p:spPr>
          <a:xfrm>
            <a:off x="6583680" y="3200400"/>
            <a:ext cx="1188360" cy="63972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Text 32"/>
          <p:cNvSpPr/>
          <p:nvPr/>
        </p:nvSpPr>
        <p:spPr>
          <a:xfrm>
            <a:off x="6583680" y="333756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nsolas"/>
                <a:ea typeface="Consolas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24" name="Text 33"/>
          <p:cNvSpPr/>
          <p:nvPr/>
        </p:nvSpPr>
        <p:spPr>
          <a:xfrm>
            <a:off x="1097280" y="4114800"/>
            <a:ext cx="685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Consolas"/>
                <a:ea typeface="Consolas"/>
              </a:rPr>
              <a:t>values = [10, 20, 30, 40, 50]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5" name="Shape 34"/>
          <p:cNvSpPr/>
          <p:nvPr/>
        </p:nvSpPr>
        <p:spPr>
          <a:xfrm>
            <a:off x="640080" y="4663440"/>
            <a:ext cx="7863480" cy="210276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Text 35"/>
          <p:cNvSpPr/>
          <p:nvPr/>
        </p:nvSpPr>
        <p:spPr>
          <a:xfrm>
            <a:off x="822960" y="480060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libri"/>
                <a:ea typeface="Calibri"/>
              </a:rPr>
              <a:t>Code Examples: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27" name="Text 36"/>
          <p:cNvSpPr/>
          <p:nvPr/>
        </p:nvSpPr>
        <p:spPr>
          <a:xfrm>
            <a:off x="914400" y="51663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values = [10, 20, 30, 40, 50]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28" name="Text 37"/>
          <p:cNvSpPr/>
          <p:nvPr/>
        </p:nvSpPr>
        <p:spPr>
          <a:xfrm>
            <a:off x="914400" y="53949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Text 38"/>
          <p:cNvSpPr/>
          <p:nvPr/>
        </p:nvSpPr>
        <p:spPr>
          <a:xfrm>
            <a:off x="914400" y="56235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print(values[0])    # First element → 10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0" name="Text 39"/>
          <p:cNvSpPr/>
          <p:nvPr/>
        </p:nvSpPr>
        <p:spPr>
          <a:xfrm>
            <a:off x="914400" y="58521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print(values[2])    # Third element → 30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1" name="Text 40"/>
          <p:cNvSpPr/>
          <p:nvPr/>
        </p:nvSpPr>
        <p:spPr>
          <a:xfrm>
            <a:off x="914400" y="60807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print(values[4])    # Fifth (last) element → 50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2" name="Text 41"/>
          <p:cNvSpPr/>
          <p:nvPr/>
        </p:nvSpPr>
        <p:spPr>
          <a:xfrm>
            <a:off x="914400" y="63093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3" name="Text 42"/>
          <p:cNvSpPr/>
          <p:nvPr/>
        </p:nvSpPr>
        <p:spPr>
          <a:xfrm>
            <a:off x="914400" y="65379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first = values[0]   # Store in variable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4" name="Text 43"/>
          <p:cNvSpPr/>
          <p:nvPr/>
        </p:nvSpPr>
        <p:spPr>
          <a:xfrm>
            <a:off x="914400" y="67665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middle = values[2]  # Access any position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Negative Indexing in Detail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336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Negative indexing starts from the end of the list at index -1 (the last element). Each previous element has an index that decreases by 1.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37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Complete Negative Index Mapping: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38" name="Text 3"/>
          <p:cNvSpPr/>
          <p:nvPr/>
        </p:nvSpPr>
        <p:spPr>
          <a:xfrm>
            <a:off x="1097280" y="201168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Index -5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9" name="Shape 4"/>
          <p:cNvSpPr/>
          <p:nvPr/>
        </p:nvSpPr>
        <p:spPr>
          <a:xfrm>
            <a:off x="1417320" y="2377440"/>
            <a:ext cx="548280" cy="456840"/>
          </a:xfrm>
          <a:prstGeom prst="ellipse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Text 5"/>
          <p:cNvSpPr/>
          <p:nvPr/>
        </p:nvSpPr>
        <p:spPr>
          <a:xfrm>
            <a:off x="1417320" y="2468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onsolas"/>
                <a:ea typeface="Consolas"/>
              </a:rPr>
              <a:t>-5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41" name="Shape 6"/>
          <p:cNvSpPr/>
          <p:nvPr/>
        </p:nvSpPr>
        <p:spPr>
          <a:xfrm>
            <a:off x="1691640" y="2880360"/>
            <a:ext cx="360" cy="274320"/>
          </a:xfrm>
          <a:prstGeom prst="line">
            <a:avLst/>
          </a:prstGeom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2" name="Shape 7"/>
          <p:cNvSpPr/>
          <p:nvPr/>
        </p:nvSpPr>
        <p:spPr>
          <a:xfrm>
            <a:off x="1097280" y="3200400"/>
            <a:ext cx="1188360" cy="63972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3" name="Text 8"/>
          <p:cNvSpPr/>
          <p:nvPr/>
        </p:nvSpPr>
        <p:spPr>
          <a:xfrm>
            <a:off x="1097280" y="333756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4" name="Text 9"/>
          <p:cNvSpPr/>
          <p:nvPr/>
        </p:nvSpPr>
        <p:spPr>
          <a:xfrm>
            <a:off x="2468880" y="201168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Index -4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45" name="Shape 10"/>
          <p:cNvSpPr/>
          <p:nvPr/>
        </p:nvSpPr>
        <p:spPr>
          <a:xfrm>
            <a:off x="2788920" y="2377440"/>
            <a:ext cx="548280" cy="456840"/>
          </a:xfrm>
          <a:prstGeom prst="ellipse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6" name="Text 11"/>
          <p:cNvSpPr/>
          <p:nvPr/>
        </p:nvSpPr>
        <p:spPr>
          <a:xfrm>
            <a:off x="2788920" y="2468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onsolas"/>
                <a:ea typeface="Consolas"/>
              </a:rPr>
              <a:t>-4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47" name="Shape 12"/>
          <p:cNvSpPr/>
          <p:nvPr/>
        </p:nvSpPr>
        <p:spPr>
          <a:xfrm>
            <a:off x="3063240" y="2880360"/>
            <a:ext cx="360" cy="274320"/>
          </a:xfrm>
          <a:prstGeom prst="line">
            <a:avLst/>
          </a:prstGeom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8" name="Shape 13"/>
          <p:cNvSpPr/>
          <p:nvPr/>
        </p:nvSpPr>
        <p:spPr>
          <a:xfrm>
            <a:off x="2468880" y="3200400"/>
            <a:ext cx="1188360" cy="63972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Text 14"/>
          <p:cNvSpPr/>
          <p:nvPr/>
        </p:nvSpPr>
        <p:spPr>
          <a:xfrm>
            <a:off x="2468880" y="333756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nsolas"/>
                <a:ea typeface="Consolas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0" name="Text 15"/>
          <p:cNvSpPr/>
          <p:nvPr/>
        </p:nvSpPr>
        <p:spPr>
          <a:xfrm>
            <a:off x="3840480" y="201168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Index -3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51" name="Shape 16"/>
          <p:cNvSpPr/>
          <p:nvPr/>
        </p:nvSpPr>
        <p:spPr>
          <a:xfrm>
            <a:off x="4160520" y="2377440"/>
            <a:ext cx="548280" cy="456840"/>
          </a:xfrm>
          <a:prstGeom prst="ellipse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2" name="Text 17"/>
          <p:cNvSpPr/>
          <p:nvPr/>
        </p:nvSpPr>
        <p:spPr>
          <a:xfrm>
            <a:off x="4160520" y="2468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onsolas"/>
                <a:ea typeface="Consolas"/>
              </a:rPr>
              <a:t>-3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53" name="Shape 18"/>
          <p:cNvSpPr/>
          <p:nvPr/>
        </p:nvSpPr>
        <p:spPr>
          <a:xfrm>
            <a:off x="4434840" y="2880360"/>
            <a:ext cx="360" cy="274320"/>
          </a:xfrm>
          <a:prstGeom prst="line">
            <a:avLst/>
          </a:prstGeom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4" name="Shape 19"/>
          <p:cNvSpPr/>
          <p:nvPr/>
        </p:nvSpPr>
        <p:spPr>
          <a:xfrm>
            <a:off x="3840480" y="3200400"/>
            <a:ext cx="1188360" cy="63972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Text 20"/>
          <p:cNvSpPr/>
          <p:nvPr/>
        </p:nvSpPr>
        <p:spPr>
          <a:xfrm>
            <a:off x="3840480" y="333756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nsolas"/>
                <a:ea typeface="Consolas"/>
              </a:rPr>
              <a:t>30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6" name="Text 21"/>
          <p:cNvSpPr/>
          <p:nvPr/>
        </p:nvSpPr>
        <p:spPr>
          <a:xfrm>
            <a:off x="5212080" y="201168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Index -2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57" name="Shape 22"/>
          <p:cNvSpPr/>
          <p:nvPr/>
        </p:nvSpPr>
        <p:spPr>
          <a:xfrm>
            <a:off x="5532120" y="2377440"/>
            <a:ext cx="548280" cy="456840"/>
          </a:xfrm>
          <a:prstGeom prst="ellipse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Text 23"/>
          <p:cNvSpPr/>
          <p:nvPr/>
        </p:nvSpPr>
        <p:spPr>
          <a:xfrm>
            <a:off x="5532120" y="2468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onsolas"/>
                <a:ea typeface="Consolas"/>
              </a:rPr>
              <a:t>-2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59" name="Shape 24"/>
          <p:cNvSpPr/>
          <p:nvPr/>
        </p:nvSpPr>
        <p:spPr>
          <a:xfrm>
            <a:off x="5806440" y="2880360"/>
            <a:ext cx="360" cy="274320"/>
          </a:xfrm>
          <a:prstGeom prst="line">
            <a:avLst/>
          </a:prstGeom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0" name="Shape 25"/>
          <p:cNvSpPr/>
          <p:nvPr/>
        </p:nvSpPr>
        <p:spPr>
          <a:xfrm>
            <a:off x="5212080" y="3200400"/>
            <a:ext cx="1188360" cy="63972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1" name="Text 26"/>
          <p:cNvSpPr/>
          <p:nvPr/>
        </p:nvSpPr>
        <p:spPr>
          <a:xfrm>
            <a:off x="5212080" y="333756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nsolas"/>
                <a:ea typeface="Consolas"/>
              </a:rPr>
              <a:t>40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2" name="Text 27"/>
          <p:cNvSpPr/>
          <p:nvPr/>
        </p:nvSpPr>
        <p:spPr>
          <a:xfrm>
            <a:off x="6583680" y="201168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Index -1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63" name="Shape 28"/>
          <p:cNvSpPr/>
          <p:nvPr/>
        </p:nvSpPr>
        <p:spPr>
          <a:xfrm>
            <a:off x="6903720" y="2377440"/>
            <a:ext cx="548280" cy="456840"/>
          </a:xfrm>
          <a:prstGeom prst="ellipse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4" name="Text 29"/>
          <p:cNvSpPr/>
          <p:nvPr/>
        </p:nvSpPr>
        <p:spPr>
          <a:xfrm>
            <a:off x="6903720" y="2468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onsolas"/>
                <a:ea typeface="Consolas"/>
              </a:rPr>
              <a:t>-1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65" name="Shape 30"/>
          <p:cNvSpPr/>
          <p:nvPr/>
        </p:nvSpPr>
        <p:spPr>
          <a:xfrm>
            <a:off x="7178040" y="2880360"/>
            <a:ext cx="360" cy="274320"/>
          </a:xfrm>
          <a:prstGeom prst="line">
            <a:avLst/>
          </a:prstGeom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6" name="Shape 31"/>
          <p:cNvSpPr/>
          <p:nvPr/>
        </p:nvSpPr>
        <p:spPr>
          <a:xfrm>
            <a:off x="6583680" y="3200400"/>
            <a:ext cx="1188360" cy="63972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7" name="Text 32"/>
          <p:cNvSpPr/>
          <p:nvPr/>
        </p:nvSpPr>
        <p:spPr>
          <a:xfrm>
            <a:off x="6583680" y="333756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nsolas"/>
                <a:ea typeface="Consolas"/>
              </a:rPr>
              <a:t>50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8" name="Text 33"/>
          <p:cNvSpPr/>
          <p:nvPr/>
        </p:nvSpPr>
        <p:spPr>
          <a:xfrm>
            <a:off x="1097280" y="4114800"/>
            <a:ext cx="685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Consolas"/>
                <a:ea typeface="Consolas"/>
              </a:rPr>
              <a:t>values = [10, 20, 30, 40, 50]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69" name="Shape 34"/>
          <p:cNvSpPr/>
          <p:nvPr/>
        </p:nvSpPr>
        <p:spPr>
          <a:xfrm>
            <a:off x="640080" y="4663440"/>
            <a:ext cx="7863480" cy="2102760"/>
          </a:xfrm>
          <a:prstGeom prst="rect">
            <a:avLst/>
          </a:prstGeom>
          <a:solidFill>
            <a:srgbClr val="f8f8f8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0" name="Text 35"/>
          <p:cNvSpPr/>
          <p:nvPr/>
        </p:nvSpPr>
        <p:spPr>
          <a:xfrm>
            <a:off x="822960" y="480060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libri"/>
                <a:ea typeface="Calibri"/>
              </a:rPr>
              <a:t>Code Examples: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71" name="Text 36"/>
          <p:cNvSpPr/>
          <p:nvPr/>
        </p:nvSpPr>
        <p:spPr>
          <a:xfrm>
            <a:off x="914400" y="51663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values = [10, 20, 30, 40, 50]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72" name="Text 37"/>
          <p:cNvSpPr/>
          <p:nvPr/>
        </p:nvSpPr>
        <p:spPr>
          <a:xfrm>
            <a:off x="914400" y="53949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3" name="Text 38"/>
          <p:cNvSpPr/>
          <p:nvPr/>
        </p:nvSpPr>
        <p:spPr>
          <a:xfrm>
            <a:off x="914400" y="56235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print(values[-1])   # Last element → 50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74" name="Text 39"/>
          <p:cNvSpPr/>
          <p:nvPr/>
        </p:nvSpPr>
        <p:spPr>
          <a:xfrm>
            <a:off x="914400" y="58521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print(values[-3])   # Third from end → 30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75" name="Text 40"/>
          <p:cNvSpPr/>
          <p:nvPr/>
        </p:nvSpPr>
        <p:spPr>
          <a:xfrm>
            <a:off x="914400" y="60807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print(values[-5])   # Fifth from end (first) → 10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76" name="Text 41"/>
          <p:cNvSpPr/>
          <p:nvPr/>
        </p:nvSpPr>
        <p:spPr>
          <a:xfrm>
            <a:off x="914400" y="63093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7" name="Text 42"/>
          <p:cNvSpPr/>
          <p:nvPr/>
        </p:nvSpPr>
        <p:spPr>
          <a:xfrm>
            <a:off x="914400" y="65379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last = values[-1]   # Store last element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78" name="Text 43"/>
          <p:cNvSpPr/>
          <p:nvPr/>
        </p:nvSpPr>
        <p:spPr>
          <a:xfrm>
            <a:off x="914400" y="6766560"/>
            <a:ext cx="7314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second_last = values[-2]  # Second from end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Positive vs Negative Indexing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380" name="Text 1"/>
          <p:cNvSpPr/>
          <p:nvPr/>
        </p:nvSpPr>
        <p:spPr>
          <a:xfrm>
            <a:off x="640080" y="109728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555555"/>
                </a:solidFill>
                <a:latin typeface="Calibri"/>
                <a:ea typeface="Calibri"/>
              </a:rPr>
              <a:t>Both indexing methods access the same elements from different directions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81" name="Shape 2"/>
          <p:cNvSpPr/>
          <p:nvPr/>
        </p:nvSpPr>
        <p:spPr>
          <a:xfrm>
            <a:off x="1143000" y="1554480"/>
            <a:ext cx="456840" cy="4568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2" name="Text 3"/>
          <p:cNvSpPr/>
          <p:nvPr/>
        </p:nvSpPr>
        <p:spPr>
          <a:xfrm>
            <a:off x="1143000" y="16459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83" name="Shape 4"/>
          <p:cNvSpPr/>
          <p:nvPr/>
        </p:nvSpPr>
        <p:spPr>
          <a:xfrm>
            <a:off x="914400" y="2103120"/>
            <a:ext cx="914040" cy="63972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4" name="Text 5"/>
          <p:cNvSpPr/>
          <p:nvPr/>
        </p:nvSpPr>
        <p:spPr>
          <a:xfrm>
            <a:off x="914400" y="224028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85" name="Shape 6"/>
          <p:cNvSpPr/>
          <p:nvPr/>
        </p:nvSpPr>
        <p:spPr>
          <a:xfrm>
            <a:off x="1097280" y="2834640"/>
            <a:ext cx="548280" cy="456840"/>
          </a:xfrm>
          <a:prstGeom prst="ellipse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6" name="Text 7"/>
          <p:cNvSpPr/>
          <p:nvPr/>
        </p:nvSpPr>
        <p:spPr>
          <a:xfrm>
            <a:off x="1097280" y="2926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-5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87" name="Shape 8"/>
          <p:cNvSpPr/>
          <p:nvPr/>
        </p:nvSpPr>
        <p:spPr>
          <a:xfrm>
            <a:off x="2514600" y="1554480"/>
            <a:ext cx="456840" cy="4568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8" name="Text 9"/>
          <p:cNvSpPr/>
          <p:nvPr/>
        </p:nvSpPr>
        <p:spPr>
          <a:xfrm>
            <a:off x="2514600" y="16459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89" name="Shape 10"/>
          <p:cNvSpPr/>
          <p:nvPr/>
        </p:nvSpPr>
        <p:spPr>
          <a:xfrm>
            <a:off x="2286000" y="2103120"/>
            <a:ext cx="914040" cy="63972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0" name="Text 11"/>
          <p:cNvSpPr/>
          <p:nvPr/>
        </p:nvSpPr>
        <p:spPr>
          <a:xfrm>
            <a:off x="2286000" y="224028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20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91" name="Shape 12"/>
          <p:cNvSpPr/>
          <p:nvPr/>
        </p:nvSpPr>
        <p:spPr>
          <a:xfrm>
            <a:off x="2468880" y="2834640"/>
            <a:ext cx="548280" cy="456840"/>
          </a:xfrm>
          <a:prstGeom prst="ellipse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2" name="Text 13"/>
          <p:cNvSpPr/>
          <p:nvPr/>
        </p:nvSpPr>
        <p:spPr>
          <a:xfrm>
            <a:off x="2468880" y="2926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-4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93" name="Shape 14"/>
          <p:cNvSpPr/>
          <p:nvPr/>
        </p:nvSpPr>
        <p:spPr>
          <a:xfrm>
            <a:off x="3886200" y="1554480"/>
            <a:ext cx="456840" cy="4568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4" name="Text 15"/>
          <p:cNvSpPr/>
          <p:nvPr/>
        </p:nvSpPr>
        <p:spPr>
          <a:xfrm>
            <a:off x="3886200" y="16459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95" name="Shape 16"/>
          <p:cNvSpPr/>
          <p:nvPr/>
        </p:nvSpPr>
        <p:spPr>
          <a:xfrm>
            <a:off x="3657600" y="2103120"/>
            <a:ext cx="914040" cy="63972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6" name="Text 17"/>
          <p:cNvSpPr/>
          <p:nvPr/>
        </p:nvSpPr>
        <p:spPr>
          <a:xfrm>
            <a:off x="3657600" y="224028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30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97" name="Shape 18"/>
          <p:cNvSpPr/>
          <p:nvPr/>
        </p:nvSpPr>
        <p:spPr>
          <a:xfrm>
            <a:off x="3840480" y="2834640"/>
            <a:ext cx="548280" cy="456840"/>
          </a:xfrm>
          <a:prstGeom prst="ellipse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8" name="Text 19"/>
          <p:cNvSpPr/>
          <p:nvPr/>
        </p:nvSpPr>
        <p:spPr>
          <a:xfrm>
            <a:off x="3840480" y="2926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-3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99" name="Shape 20"/>
          <p:cNvSpPr/>
          <p:nvPr/>
        </p:nvSpPr>
        <p:spPr>
          <a:xfrm>
            <a:off x="5257800" y="1554480"/>
            <a:ext cx="456840" cy="4568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0" name="Text 21"/>
          <p:cNvSpPr/>
          <p:nvPr/>
        </p:nvSpPr>
        <p:spPr>
          <a:xfrm>
            <a:off x="5257800" y="16459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01" name="Shape 22"/>
          <p:cNvSpPr/>
          <p:nvPr/>
        </p:nvSpPr>
        <p:spPr>
          <a:xfrm>
            <a:off x="5029200" y="2103120"/>
            <a:ext cx="914040" cy="63972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2" name="Text 23"/>
          <p:cNvSpPr/>
          <p:nvPr/>
        </p:nvSpPr>
        <p:spPr>
          <a:xfrm>
            <a:off x="5029200" y="224028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40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403" name="Shape 24"/>
          <p:cNvSpPr/>
          <p:nvPr/>
        </p:nvSpPr>
        <p:spPr>
          <a:xfrm>
            <a:off x="5212080" y="2834640"/>
            <a:ext cx="548280" cy="456840"/>
          </a:xfrm>
          <a:prstGeom prst="ellipse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4" name="Text 25"/>
          <p:cNvSpPr/>
          <p:nvPr/>
        </p:nvSpPr>
        <p:spPr>
          <a:xfrm>
            <a:off x="5212080" y="2926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-2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05" name="Shape 26"/>
          <p:cNvSpPr/>
          <p:nvPr/>
        </p:nvSpPr>
        <p:spPr>
          <a:xfrm>
            <a:off x="6629400" y="1554480"/>
            <a:ext cx="456840" cy="4568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6" name="Text 27"/>
          <p:cNvSpPr/>
          <p:nvPr/>
        </p:nvSpPr>
        <p:spPr>
          <a:xfrm>
            <a:off x="6629400" y="16459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07" name="Shape 28"/>
          <p:cNvSpPr/>
          <p:nvPr/>
        </p:nvSpPr>
        <p:spPr>
          <a:xfrm>
            <a:off x="6400800" y="2103120"/>
            <a:ext cx="914040" cy="63972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8" name="Text 29"/>
          <p:cNvSpPr/>
          <p:nvPr/>
        </p:nvSpPr>
        <p:spPr>
          <a:xfrm>
            <a:off x="6400800" y="224028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50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409" name="Shape 30"/>
          <p:cNvSpPr/>
          <p:nvPr/>
        </p:nvSpPr>
        <p:spPr>
          <a:xfrm>
            <a:off x="6583680" y="2834640"/>
            <a:ext cx="548280" cy="456840"/>
          </a:xfrm>
          <a:prstGeom prst="ellipse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Text 31"/>
          <p:cNvSpPr/>
          <p:nvPr/>
        </p:nvSpPr>
        <p:spPr>
          <a:xfrm>
            <a:off x="6583680" y="2926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-1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11" name="Text 32"/>
          <p:cNvSpPr/>
          <p:nvPr/>
        </p:nvSpPr>
        <p:spPr>
          <a:xfrm>
            <a:off x="274320" y="182880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alibri"/>
                <a:ea typeface="Calibri"/>
              </a:rPr>
              <a:t>Positive →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12" name="Text 33"/>
          <p:cNvSpPr/>
          <p:nvPr/>
        </p:nvSpPr>
        <p:spPr>
          <a:xfrm>
            <a:off x="8321040" y="320040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← </a:t>
            </a: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Negative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13" name="Text 34"/>
          <p:cNvSpPr/>
          <p:nvPr/>
        </p:nvSpPr>
        <p:spPr>
          <a:xfrm>
            <a:off x="640080" y="393192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Equivalent Access Examples: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4" name="Shape 35"/>
          <p:cNvSpPr/>
          <p:nvPr/>
        </p:nvSpPr>
        <p:spPr>
          <a:xfrm>
            <a:off x="640080" y="4389120"/>
            <a:ext cx="7863480" cy="365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5" name="Text 36"/>
          <p:cNvSpPr/>
          <p:nvPr/>
        </p:nvSpPr>
        <p:spPr>
          <a:xfrm>
            <a:off x="822960" y="448056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Positive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16" name="Text 37"/>
          <p:cNvSpPr/>
          <p:nvPr/>
        </p:nvSpPr>
        <p:spPr>
          <a:xfrm>
            <a:off x="2834640" y="448056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Negative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17" name="Text 38"/>
          <p:cNvSpPr/>
          <p:nvPr/>
        </p:nvSpPr>
        <p:spPr>
          <a:xfrm>
            <a:off x="4846320" y="448056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Value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18" name="Text 39"/>
          <p:cNvSpPr/>
          <p:nvPr/>
        </p:nvSpPr>
        <p:spPr>
          <a:xfrm>
            <a:off x="6126480" y="4480560"/>
            <a:ext cx="2194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Description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19" name="Shape 40"/>
          <p:cNvSpPr/>
          <p:nvPr/>
        </p:nvSpPr>
        <p:spPr>
          <a:xfrm>
            <a:off x="640080" y="4846320"/>
            <a:ext cx="7863480" cy="3196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0" name="Text 41"/>
          <p:cNvSpPr/>
          <p:nvPr/>
        </p:nvSpPr>
        <p:spPr>
          <a:xfrm>
            <a:off x="822960" y="489204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data[0]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21" name="Text 42"/>
          <p:cNvSpPr/>
          <p:nvPr/>
        </p:nvSpPr>
        <p:spPr>
          <a:xfrm>
            <a:off x="2834640" y="489204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data[-5]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22" name="Text 43"/>
          <p:cNvSpPr/>
          <p:nvPr/>
        </p:nvSpPr>
        <p:spPr>
          <a:xfrm>
            <a:off x="4846320" y="489204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10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23" name="Text 44"/>
          <p:cNvSpPr/>
          <p:nvPr/>
        </p:nvSpPr>
        <p:spPr>
          <a:xfrm>
            <a:off x="6126480" y="489204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First element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24" name="Shape 45"/>
          <p:cNvSpPr/>
          <p:nvPr/>
        </p:nvSpPr>
        <p:spPr>
          <a:xfrm>
            <a:off x="640080" y="5166360"/>
            <a:ext cx="7863480" cy="319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5" name="Text 46"/>
          <p:cNvSpPr/>
          <p:nvPr/>
        </p:nvSpPr>
        <p:spPr>
          <a:xfrm>
            <a:off x="822960" y="52120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data[1]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26" name="Text 47"/>
          <p:cNvSpPr/>
          <p:nvPr/>
        </p:nvSpPr>
        <p:spPr>
          <a:xfrm>
            <a:off x="2834640" y="52120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data[-4]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27" name="Text 48"/>
          <p:cNvSpPr/>
          <p:nvPr/>
        </p:nvSpPr>
        <p:spPr>
          <a:xfrm>
            <a:off x="4846320" y="521208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20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28" name="Text 49"/>
          <p:cNvSpPr/>
          <p:nvPr/>
        </p:nvSpPr>
        <p:spPr>
          <a:xfrm>
            <a:off x="6126480" y="521208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Second element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29" name="Shape 50"/>
          <p:cNvSpPr/>
          <p:nvPr/>
        </p:nvSpPr>
        <p:spPr>
          <a:xfrm>
            <a:off x="640080" y="5486400"/>
            <a:ext cx="7863480" cy="3196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0" name="Text 51"/>
          <p:cNvSpPr/>
          <p:nvPr/>
        </p:nvSpPr>
        <p:spPr>
          <a:xfrm>
            <a:off x="822960" y="553212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data[2]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31" name="Text 52"/>
          <p:cNvSpPr/>
          <p:nvPr/>
        </p:nvSpPr>
        <p:spPr>
          <a:xfrm>
            <a:off x="2834640" y="553212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data[-3]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32" name="Text 53"/>
          <p:cNvSpPr/>
          <p:nvPr/>
        </p:nvSpPr>
        <p:spPr>
          <a:xfrm>
            <a:off x="4846320" y="553212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30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33" name="Text 54"/>
          <p:cNvSpPr/>
          <p:nvPr/>
        </p:nvSpPr>
        <p:spPr>
          <a:xfrm>
            <a:off x="6126480" y="553212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Middle element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34" name="Shape 55"/>
          <p:cNvSpPr/>
          <p:nvPr/>
        </p:nvSpPr>
        <p:spPr>
          <a:xfrm>
            <a:off x="640080" y="5806440"/>
            <a:ext cx="7863480" cy="319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5" name="Text 56"/>
          <p:cNvSpPr/>
          <p:nvPr/>
        </p:nvSpPr>
        <p:spPr>
          <a:xfrm>
            <a:off x="822960" y="58521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data[3]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36" name="Text 57"/>
          <p:cNvSpPr/>
          <p:nvPr/>
        </p:nvSpPr>
        <p:spPr>
          <a:xfrm>
            <a:off x="2834640" y="58521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data[-2]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37" name="Text 58"/>
          <p:cNvSpPr/>
          <p:nvPr/>
        </p:nvSpPr>
        <p:spPr>
          <a:xfrm>
            <a:off x="4846320" y="585216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40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38" name="Text 59"/>
          <p:cNvSpPr/>
          <p:nvPr/>
        </p:nvSpPr>
        <p:spPr>
          <a:xfrm>
            <a:off x="6126480" y="585216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Fourth element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39" name="Shape 60"/>
          <p:cNvSpPr/>
          <p:nvPr/>
        </p:nvSpPr>
        <p:spPr>
          <a:xfrm>
            <a:off x="640080" y="6126480"/>
            <a:ext cx="7863480" cy="3196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0" name="Text 61"/>
          <p:cNvSpPr/>
          <p:nvPr/>
        </p:nvSpPr>
        <p:spPr>
          <a:xfrm>
            <a:off x="822960" y="617220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data[4]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41" name="Text 62"/>
          <p:cNvSpPr/>
          <p:nvPr/>
        </p:nvSpPr>
        <p:spPr>
          <a:xfrm>
            <a:off x="2834640" y="617220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data[-1]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42" name="Text 63"/>
          <p:cNvSpPr/>
          <p:nvPr/>
        </p:nvSpPr>
        <p:spPr>
          <a:xfrm>
            <a:off x="4846320" y="617220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50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43" name="Text 64"/>
          <p:cNvSpPr/>
          <p:nvPr/>
        </p:nvSpPr>
        <p:spPr>
          <a:xfrm>
            <a:off x="6126480" y="617220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Last element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2026-02-11T08:20:27Z</dcterms:created>
  <dc:creator>PptxGenJS</dc:creator>
  <dc:description/>
  <dc:language>en-IN</dc:language>
  <cp:lastModifiedBy/>
  <dcterms:modified xsi:type="dcterms:W3CDTF">2026-02-11T21:00:37Z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