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move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F77320B-6242-4379-83B7-11A89ECBA02C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47CBB1-0B11-4DBA-A6ED-45A02ABAA80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6836DB-DE5A-4C5A-B8B1-81E9EABB26D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B9087B-C409-4683-851A-91CD0EBD651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F9C356-96EE-4CD7-B1E6-A3DED49B845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C3A2FC-C5E4-4275-B0C6-BF054CA744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11C6C2-533E-49F9-9FB6-2F16E527F27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0CE169-C0CF-4637-B740-97F4E824C03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C43605-96C7-414E-8F3D-7DA94BEEE4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0F6606C-6929-415B-8A45-0A3FF4D043A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9183EED-5701-4F08-BD58-6E2F106414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075513-6390-40A1-9B7F-1CEDFD1C4D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BA3288-34DC-48EE-AA59-394C6F550AA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edit 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title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text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109800" y="0"/>
            <a:ext cx="9033840" cy="45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457200" y="640080"/>
            <a:ext cx="2011320" cy="41112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457200" y="6400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Chapter 15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457200" y="11887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Functional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57200" y="192024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00b4d8"/>
                </a:solidFill>
                <a:latin typeface="Calibri"/>
                <a:ea typeface="Calibri"/>
              </a:rPr>
              <a:t>Programming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265176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800" spc="-1" strike="noStrike">
                <a:solidFill>
                  <a:srgbClr val="f5f5f5"/>
                </a:solidFill>
                <a:latin typeface="Calibri"/>
                <a:ea typeface="Calibri"/>
              </a:rPr>
              <a:t>in Python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34290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0aec0"/>
                </a:solidFill>
                <a:latin typeface="Calibri"/>
                <a:ea typeface="Calibri"/>
              </a:rPr>
              <a:t>Lambda · Map · Filter · Reduce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6766560" y="731520"/>
            <a:ext cx="2102760" cy="365724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6812280" y="822960"/>
            <a:ext cx="201132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r>
              <a:rPr b="1" lang="en-US" sz="1200" spc="-1" strike="noStrike">
                <a:solidFill>
                  <a:srgbClr val="e94560"/>
                </a:solidFill>
                <a:latin typeface="Courier New"/>
                <a:ea typeface="Courier New"/>
              </a:rPr>
              <a:t>lambda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 x: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x * x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r>
              <a:rPr b="1" lang="en-US" sz="1200" spc="-1" strike="noStrike">
                <a:solidFill>
                  <a:srgbClr val="00b4d8"/>
                </a:solidFill>
                <a:latin typeface="Courier New"/>
                <a:ea typeface="Courier New"/>
              </a:rPr>
              <a:t>map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(f, lst)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r>
              <a:rPr b="1" lang="en-US" sz="1200" spc="-1" strike="noStrike">
                <a:solidFill>
                  <a:srgbClr val="3fb950"/>
                </a:solidFill>
                <a:latin typeface="Courier New"/>
                <a:ea typeface="Courier New"/>
              </a:rPr>
              <a:t>filter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(fn, it)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a657"/>
                </a:solidFill>
                <a:latin typeface="Courier New"/>
                <a:ea typeface="Courier New"/>
              </a:rPr>
              <a:t>reduce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(fn, it)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"/>
          <p:cNvSpPr/>
          <p:nvPr/>
        </p:nvSpPr>
        <p:spPr>
          <a:xfrm>
            <a:off x="365760" y="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What We'll Cover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365760" y="1005840"/>
            <a:ext cx="4023000" cy="1645560"/>
          </a:xfrm>
          <a:prstGeom prst="rect">
            <a:avLst/>
          </a:prstGeom>
          <a:solidFill>
            <a:srgbClr val="0f3460"/>
          </a:solidFill>
          <a:ln w="0">
            <a:noFill/>
          </a:ln>
          <a:effectLst>
            <a:outerShdw algn="bl" blurRad="763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Shape 3"/>
          <p:cNvSpPr/>
          <p:nvPr/>
        </p:nvSpPr>
        <p:spPr>
          <a:xfrm>
            <a:off x="365760" y="1005840"/>
            <a:ext cx="72720" cy="16455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4"/>
          <p:cNvSpPr/>
          <p:nvPr/>
        </p:nvSpPr>
        <p:spPr>
          <a:xfrm>
            <a:off x="548640" y="11430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Calibri"/>
              </a:rPr>
              <a:t>01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548640" y="15087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Lambda Functions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548640" y="187452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</a:rPr>
              <a:t>Anonymous, inline mini-functions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4754880" y="1005840"/>
            <a:ext cx="4023000" cy="1645560"/>
          </a:xfrm>
          <a:prstGeom prst="rect">
            <a:avLst/>
          </a:prstGeom>
          <a:solidFill>
            <a:srgbClr val="0f3460"/>
          </a:solidFill>
          <a:ln w="0">
            <a:noFill/>
          </a:ln>
          <a:effectLst>
            <a:outerShdw algn="bl" blurRad="763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Shape 8"/>
          <p:cNvSpPr/>
          <p:nvPr/>
        </p:nvSpPr>
        <p:spPr>
          <a:xfrm>
            <a:off x="4754880" y="1005840"/>
            <a:ext cx="72720" cy="16455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9"/>
          <p:cNvSpPr/>
          <p:nvPr/>
        </p:nvSpPr>
        <p:spPr>
          <a:xfrm>
            <a:off x="4937760" y="11430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Calibri"/>
              </a:rPr>
              <a:t>02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4937760" y="15087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Map Function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4937760" y="187452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</a:rPr>
              <a:t>Apply a function to every item in an iterable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365760" y="2880360"/>
            <a:ext cx="4023000" cy="1645560"/>
          </a:xfrm>
          <a:prstGeom prst="rect">
            <a:avLst/>
          </a:prstGeom>
          <a:solidFill>
            <a:srgbClr val="0f3460"/>
          </a:solidFill>
          <a:ln w="0">
            <a:noFill/>
          </a:ln>
          <a:effectLst>
            <a:outerShdw algn="bl" blurRad="763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Shape 13"/>
          <p:cNvSpPr/>
          <p:nvPr/>
        </p:nvSpPr>
        <p:spPr>
          <a:xfrm>
            <a:off x="365760" y="2880360"/>
            <a:ext cx="72720" cy="16455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4"/>
          <p:cNvSpPr/>
          <p:nvPr/>
        </p:nvSpPr>
        <p:spPr>
          <a:xfrm>
            <a:off x="548640" y="301752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Calibri"/>
              </a:rPr>
              <a:t>03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548640" y="33832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Filter Function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548640" y="374904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</a:rPr>
              <a:t>Select items based on a condition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4754880" y="2880360"/>
            <a:ext cx="4023000" cy="1645560"/>
          </a:xfrm>
          <a:prstGeom prst="rect">
            <a:avLst/>
          </a:prstGeom>
          <a:solidFill>
            <a:srgbClr val="0f3460"/>
          </a:solidFill>
          <a:ln w="0">
            <a:noFill/>
          </a:ln>
          <a:effectLst>
            <a:outerShdw algn="bl" blurRad="763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18"/>
          <p:cNvSpPr/>
          <p:nvPr/>
        </p:nvSpPr>
        <p:spPr>
          <a:xfrm>
            <a:off x="4754880" y="2880360"/>
            <a:ext cx="72720" cy="16455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9"/>
          <p:cNvSpPr/>
          <p:nvPr/>
        </p:nvSpPr>
        <p:spPr>
          <a:xfrm>
            <a:off x="4937760" y="301752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Calibri"/>
              </a:rPr>
              <a:t>04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4937760" y="33832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Reduce Function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4937760" y="374904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</a:rPr>
              <a:t>Accumulate items into a single value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"/>
          <p:cNvSpPr/>
          <p:nvPr/>
        </p:nvSpPr>
        <p:spPr>
          <a:xfrm>
            <a:off x="365760" y="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Lambda Functions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78" name="Shape 2"/>
          <p:cNvSpPr/>
          <p:nvPr/>
        </p:nvSpPr>
        <p:spPr>
          <a:xfrm>
            <a:off x="274320" y="868680"/>
            <a:ext cx="8595000" cy="127980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3"/>
          <p:cNvSpPr/>
          <p:nvPr/>
        </p:nvSpPr>
        <p:spPr>
          <a:xfrm>
            <a:off x="457200" y="9144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</a:rPr>
              <a:t>What is a Lambda Function?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457200" y="12801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</a:rPr>
              <a:t>A lambda function is a small, anonymous (nameless) function defined with the lambda keyword. It's a throwaway function — created inline for quick, one-time use without being formally named or stored.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274320" y="2331720"/>
            <a:ext cx="2742840" cy="1416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6"/>
          <p:cNvSpPr/>
          <p:nvPr/>
        </p:nvSpPr>
        <p:spPr>
          <a:xfrm>
            <a:off x="274320" y="2331720"/>
            <a:ext cx="2742840" cy="727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7"/>
          <p:cNvSpPr/>
          <p:nvPr/>
        </p:nvSpPr>
        <p:spPr>
          <a:xfrm>
            <a:off x="365760" y="24231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</a:rPr>
              <a:t>① </a:t>
            </a:r>
            <a:r>
              <a:rPr b="1" lang="en-US" sz="1300" spc="-1" strike="noStrike">
                <a:solidFill>
                  <a:srgbClr val="00b4d8"/>
                </a:solidFill>
                <a:latin typeface="Calibri"/>
              </a:rPr>
              <a:t>Anonymous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365760" y="274320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</a:rPr>
              <a:t>Has no name — defined on the fly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5" name="Shape 9"/>
          <p:cNvSpPr/>
          <p:nvPr/>
        </p:nvSpPr>
        <p:spPr>
          <a:xfrm>
            <a:off x="3200400" y="2331720"/>
            <a:ext cx="2742840" cy="1416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hape 10"/>
          <p:cNvSpPr/>
          <p:nvPr/>
        </p:nvSpPr>
        <p:spPr>
          <a:xfrm>
            <a:off x="3200400" y="2331720"/>
            <a:ext cx="2742840" cy="727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11"/>
          <p:cNvSpPr/>
          <p:nvPr/>
        </p:nvSpPr>
        <p:spPr>
          <a:xfrm>
            <a:off x="3291840" y="24231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</a:rPr>
              <a:t>② </a:t>
            </a:r>
            <a:r>
              <a:rPr b="1" lang="en-US" sz="1300" spc="-1" strike="noStrike">
                <a:solidFill>
                  <a:srgbClr val="00b4d8"/>
                </a:solidFill>
                <a:latin typeface="Calibri"/>
              </a:rPr>
              <a:t>Single Expression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3291840" y="274320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</a:rPr>
              <a:t>Can only contain one expression (no multi-line logic)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9" name="Shape 13"/>
          <p:cNvSpPr/>
          <p:nvPr/>
        </p:nvSpPr>
        <p:spPr>
          <a:xfrm>
            <a:off x="6126480" y="2331720"/>
            <a:ext cx="2742840" cy="1416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14"/>
          <p:cNvSpPr/>
          <p:nvPr/>
        </p:nvSpPr>
        <p:spPr>
          <a:xfrm>
            <a:off x="6126480" y="2331720"/>
            <a:ext cx="2742840" cy="727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5"/>
          <p:cNvSpPr/>
          <p:nvPr/>
        </p:nvSpPr>
        <p:spPr>
          <a:xfrm>
            <a:off x="6217920" y="24231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</a:rPr>
              <a:t>③ </a:t>
            </a:r>
            <a:r>
              <a:rPr b="1" lang="en-US" sz="1300" spc="-1" strike="noStrike">
                <a:solidFill>
                  <a:srgbClr val="00b4d8"/>
                </a:solidFill>
                <a:latin typeface="Calibri"/>
              </a:rPr>
              <a:t>Auto Return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6217920" y="274320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</a:rPr>
              <a:t>Automatically returns the expression result — no return keyword needed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3" name="Shape 17"/>
          <p:cNvSpPr/>
          <p:nvPr/>
        </p:nvSpPr>
        <p:spPr>
          <a:xfrm>
            <a:off x="274320" y="3886200"/>
            <a:ext cx="8595000" cy="8683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8"/>
          <p:cNvSpPr/>
          <p:nvPr/>
        </p:nvSpPr>
        <p:spPr>
          <a:xfrm>
            <a:off x="411480" y="39135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a0aec0"/>
                </a:solidFill>
                <a:latin typeface="Calibri"/>
              </a:rPr>
              <a:t>SYNTAX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411480" y="41148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e94560"/>
                </a:solidFill>
                <a:latin typeface="Courier New"/>
                <a:ea typeface="Courier New"/>
              </a:rPr>
              <a:t>lambda </a:t>
            </a:r>
            <a:r>
              <a:rPr b="0" lang="en-US" sz="1700" spc="-1" strike="noStrike">
                <a:solidFill>
                  <a:srgbClr val="ffa657"/>
                </a:solidFill>
                <a:latin typeface="Courier New"/>
                <a:ea typeface="Courier New"/>
              </a:rPr>
              <a:t>arguments</a:t>
            </a:r>
            <a:r>
              <a:rPr b="0" lang="en-US" sz="1700" spc="-1" strike="noStrike">
                <a:solidFill>
                  <a:srgbClr val="ffffff"/>
                </a:solidFill>
                <a:latin typeface="Courier New"/>
                <a:ea typeface="Courier New"/>
              </a:rPr>
              <a:t> : </a:t>
            </a:r>
            <a:r>
              <a:rPr b="0" lang="en-US" sz="1700" spc="-1" strike="noStrike">
                <a:solidFill>
                  <a:srgbClr val="3fb950"/>
                </a:solidFill>
                <a:latin typeface="Courier New"/>
                <a:ea typeface="Courier New"/>
              </a:rPr>
              <a:t>expression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Lambda Functions — Examples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182880" y="77724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3"/>
          <p:cNvSpPr/>
          <p:nvPr/>
        </p:nvSpPr>
        <p:spPr>
          <a:xfrm>
            <a:off x="320040" y="8686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①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Multiply Two Numbers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274320" y="1161360"/>
            <a:ext cx="4068720" cy="68544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5"/>
          <p:cNvSpPr/>
          <p:nvPr/>
        </p:nvSpPr>
        <p:spPr>
          <a:xfrm>
            <a:off x="320040" y="1179720"/>
            <a:ext cx="3977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multiply = lambda p, q: p * q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print(multiply(6, 7))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320040" y="189288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42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320040" y="214884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Takes two numbers and returns their product. Works just like a normal function but in one line.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4663440" y="77724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9"/>
          <p:cNvSpPr/>
          <p:nvPr/>
        </p:nvSpPr>
        <p:spPr>
          <a:xfrm>
            <a:off x="4800600" y="8686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②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Check If a Number is Positive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4754880" y="1161360"/>
            <a:ext cx="4068720" cy="68544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1"/>
          <p:cNvSpPr/>
          <p:nvPr/>
        </p:nvSpPr>
        <p:spPr>
          <a:xfrm>
            <a:off x="4800600" y="1179720"/>
            <a:ext cx="3977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is_positive = lambda n: n &gt; 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print(is_positive(-3))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4800600" y="189288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4800600" y="214884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Returns True if the number is greater than zero, False otherwise.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0" name="Shape 14"/>
          <p:cNvSpPr/>
          <p:nvPr/>
        </p:nvSpPr>
        <p:spPr>
          <a:xfrm>
            <a:off x="182880" y="292608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5"/>
          <p:cNvSpPr/>
          <p:nvPr/>
        </p:nvSpPr>
        <p:spPr>
          <a:xfrm>
            <a:off x="320040" y="301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③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Convert Celsius to Fahrenheit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" name="Shape 16"/>
          <p:cNvSpPr/>
          <p:nvPr/>
        </p:nvSpPr>
        <p:spPr>
          <a:xfrm>
            <a:off x="274320" y="3310200"/>
            <a:ext cx="4068720" cy="68544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7"/>
          <p:cNvSpPr/>
          <p:nvPr/>
        </p:nvSpPr>
        <p:spPr>
          <a:xfrm>
            <a:off x="320040" y="3328560"/>
            <a:ext cx="3977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to_fahrenheit = lambda c: (c * 9/5) + 32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print(to_fahrenheit(100))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4" name="Text 18"/>
          <p:cNvSpPr/>
          <p:nvPr/>
        </p:nvSpPr>
        <p:spPr>
          <a:xfrm>
            <a:off x="320040" y="404172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212.0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5" name="Text 19"/>
          <p:cNvSpPr/>
          <p:nvPr/>
        </p:nvSpPr>
        <p:spPr>
          <a:xfrm>
            <a:off x="320040" y="429768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A real-world use case: converts temperature from Celsius to Fahrenheit inline.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6" name="Shape 20"/>
          <p:cNvSpPr/>
          <p:nvPr/>
        </p:nvSpPr>
        <p:spPr>
          <a:xfrm>
            <a:off x="4663440" y="292608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21"/>
          <p:cNvSpPr/>
          <p:nvPr/>
        </p:nvSpPr>
        <p:spPr>
          <a:xfrm>
            <a:off x="4800600" y="301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④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Concatenate Two Strings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Shape 22"/>
          <p:cNvSpPr/>
          <p:nvPr/>
        </p:nvSpPr>
        <p:spPr>
          <a:xfrm>
            <a:off x="4754880" y="3310200"/>
            <a:ext cx="4068720" cy="68544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23"/>
          <p:cNvSpPr/>
          <p:nvPr/>
        </p:nvSpPr>
        <p:spPr>
          <a:xfrm>
            <a:off x="4800600" y="3328560"/>
            <a:ext cx="3977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join_words = lambda a, b: a + " " + b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print(join_words("Hello", "Python"))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0" name="Text 24"/>
          <p:cNvSpPr/>
          <p:nvPr/>
        </p:nvSpPr>
        <p:spPr>
          <a:xfrm>
            <a:off x="4800600" y="404172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Hello Python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1" name="Text 25"/>
          <p:cNvSpPr/>
          <p:nvPr/>
        </p:nvSpPr>
        <p:spPr>
          <a:xfrm>
            <a:off x="4800600" y="429768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Combines two strings with a space between them.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Map Function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274320" y="777240"/>
            <a:ext cx="8595000" cy="100548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3"/>
          <p:cNvSpPr/>
          <p:nvPr/>
        </p:nvSpPr>
        <p:spPr>
          <a:xfrm>
            <a:off x="457200" y="822960"/>
            <a:ext cx="8229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</a:rPr>
              <a:t>map() applies a given function to every item in an iterable (list, tuple, etc.) and returns a map object (an iterator). We typically convert this to a list or tuple.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274320" y="1874520"/>
            <a:ext cx="4114440" cy="7768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5"/>
          <p:cNvSpPr/>
          <p:nvPr/>
        </p:nvSpPr>
        <p:spPr>
          <a:xfrm>
            <a:off x="411480" y="18928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a0aec0"/>
                </a:solidFill>
                <a:latin typeface="Calibri"/>
              </a:rPr>
              <a:t>SYNTAX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411480" y="208476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ourier New"/>
                <a:ea typeface="Courier New"/>
              </a:rPr>
              <a:t>map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(function, iterable)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4572000" y="1874520"/>
            <a:ext cx="4297320" cy="137124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8"/>
          <p:cNvSpPr/>
          <p:nvPr/>
        </p:nvSpPr>
        <p:spPr>
          <a:xfrm>
            <a:off x="4709160" y="196596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9"/>
          <p:cNvSpPr/>
          <p:nvPr/>
        </p:nvSpPr>
        <p:spPr>
          <a:xfrm>
            <a:off x="4709160" y="1965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</a:rPr>
              <a:t>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2" name="Text 10"/>
          <p:cNvSpPr/>
          <p:nvPr/>
        </p:nvSpPr>
        <p:spPr>
          <a:xfrm>
            <a:off x="5029200" y="198432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</a:rPr>
              <a:t>Takes a function and an iterable as arguments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3" name="Shape 11"/>
          <p:cNvSpPr/>
          <p:nvPr/>
        </p:nvSpPr>
        <p:spPr>
          <a:xfrm>
            <a:off x="4709160" y="237744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12"/>
          <p:cNvSpPr/>
          <p:nvPr/>
        </p:nvSpPr>
        <p:spPr>
          <a:xfrm>
            <a:off x="4709160" y="23774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</a:rPr>
              <a:t>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5029200" y="23958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</a:rPr>
              <a:t>Applies the function to each element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4709160" y="278892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15"/>
          <p:cNvSpPr/>
          <p:nvPr/>
        </p:nvSpPr>
        <p:spPr>
          <a:xfrm>
            <a:off x="4709160" y="27889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</a:rPr>
              <a:t>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8" name="Text 16"/>
          <p:cNvSpPr/>
          <p:nvPr/>
        </p:nvSpPr>
        <p:spPr>
          <a:xfrm>
            <a:off x="5029200" y="28072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</a:rPr>
              <a:t>Returns a map object — convert it with list() or tuple()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274320" y="33375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</a:rPr>
              <a:t>Example: Cube every number in a 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18"/>
          <p:cNvSpPr/>
          <p:nvPr/>
        </p:nvSpPr>
        <p:spPr>
          <a:xfrm>
            <a:off x="274320" y="3639240"/>
            <a:ext cx="8595000" cy="114264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19"/>
          <p:cNvSpPr/>
          <p:nvPr/>
        </p:nvSpPr>
        <p:spPr>
          <a:xfrm>
            <a:off x="411480" y="3657600"/>
            <a:ext cx="8320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values = </a:t>
            </a:r>
            <a:r>
              <a:rPr b="0" lang="en-US" sz="1100" spc="-1" strike="noStrike">
                <a:solidFill>
                  <a:srgbClr val="ffa657"/>
                </a:solidFill>
                <a:latin typeface="Courier New"/>
                <a:ea typeface="Courier New"/>
              </a:rPr>
              <a:t>[2, 3, 4, 5, 6]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94560"/>
                </a:solidFill>
                <a:latin typeface="Courier New"/>
                <a:ea typeface="Courier New"/>
              </a:rPr>
              <a:t>def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cube(n):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94560"/>
                </a:solidFill>
                <a:latin typeface="Courier New"/>
                <a:ea typeface="Courier New"/>
              </a:rPr>
              <a:t>    </a:t>
            </a:r>
            <a:r>
              <a:rPr b="1" lang="en-US" sz="1100" spc="-1" strike="noStrike">
                <a:solidFill>
                  <a:srgbClr val="e94560"/>
                </a:solidFill>
                <a:latin typeface="Courier New"/>
                <a:ea typeface="Courier New"/>
              </a:rPr>
              <a:t>return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fb950"/>
                </a:solidFill>
                <a:latin typeface="Courier New"/>
                <a:ea typeface="Courier New"/>
              </a:rPr>
              <a:t>n ** 3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cubed =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urier New"/>
                <a:ea typeface="Courier New"/>
              </a:rPr>
              <a:t>list(</a:t>
            </a:r>
            <a:r>
              <a:rPr b="1" lang="en-US" sz="1100" spc="-1" strike="noStrike">
                <a:solidFill>
                  <a:srgbClr val="00b4d8"/>
                </a:solidFill>
                <a:latin typeface="Courier New"/>
                <a:ea typeface="Courier New"/>
              </a:rPr>
              <a:t>map</a:t>
            </a:r>
            <a:r>
              <a:rPr b="0" lang="en-US" sz="1100" spc="-1" strike="noStrike">
                <a:solidFill>
                  <a:srgbClr val="00b4d8"/>
                </a:solidFill>
                <a:latin typeface="Courier New"/>
                <a:ea typeface="Courier New"/>
              </a:rPr>
              <a:t>(cube, values))</a:t>
            </a:r>
            <a:r>
              <a:rPr b="0" lang="en-US" sz="1100" spc="-1" strike="noStrike">
                <a:solidFill>
                  <a:srgbClr val="a0aec0"/>
                </a:solidFill>
                <a:latin typeface="Courier New"/>
                <a:ea typeface="Courier New"/>
              </a:rPr>
              <a:t>     # Output: </a:t>
            </a:r>
            <a:r>
              <a:rPr b="0" lang="en-US" sz="1100" spc="-1" strike="noStrike">
                <a:solidFill>
                  <a:srgbClr val="3fb950"/>
                </a:solidFill>
                <a:latin typeface="Courier New"/>
                <a:ea typeface="Courier New"/>
              </a:rPr>
              <a:t>[8, 27, 64, 125, 216]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Map + Lambda — Power Combo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182880" y="77724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3"/>
          <p:cNvSpPr/>
          <p:nvPr/>
        </p:nvSpPr>
        <p:spPr>
          <a:xfrm>
            <a:off x="182880" y="777240"/>
            <a:ext cx="63720" cy="2011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4"/>
          <p:cNvSpPr/>
          <p:nvPr/>
        </p:nvSpPr>
        <p:spPr>
          <a:xfrm>
            <a:off x="320040" y="8686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①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Double every price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7" name="Shape 5"/>
          <p:cNvSpPr/>
          <p:nvPr/>
        </p:nvSpPr>
        <p:spPr>
          <a:xfrm>
            <a:off x="274320" y="1170360"/>
            <a:ext cx="4068720" cy="749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6"/>
          <p:cNvSpPr/>
          <p:nvPr/>
        </p:nvSpPr>
        <p:spPr>
          <a:xfrm>
            <a:off x="320040" y="1188720"/>
            <a:ext cx="3977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prices = [10, 25, 40, 55]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doubled = list(map(lambda p: p * 2, prices))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print(doubled)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320040" y="196596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[20, 50, 80, 110]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320040" y="220356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Doubles each price in the list using map + lambda in a single compact line.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4663440" y="77724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Shape 10"/>
          <p:cNvSpPr/>
          <p:nvPr/>
        </p:nvSpPr>
        <p:spPr>
          <a:xfrm>
            <a:off x="4663440" y="777240"/>
            <a:ext cx="63720" cy="2011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1"/>
          <p:cNvSpPr/>
          <p:nvPr/>
        </p:nvSpPr>
        <p:spPr>
          <a:xfrm>
            <a:off x="4800600" y="8686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②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Convert temperatures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4754880" y="1170360"/>
            <a:ext cx="4068720" cy="749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3"/>
          <p:cNvSpPr/>
          <p:nvPr/>
        </p:nvSpPr>
        <p:spPr>
          <a:xfrm>
            <a:off x="4800600" y="1188720"/>
            <a:ext cx="3977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celsius = [0, 20, 37, 100]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fahrenheit = list(map(lambda c: (c*9/5)+32, celsius))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print(fahrenheit)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56" name="Text 14"/>
          <p:cNvSpPr/>
          <p:nvPr/>
        </p:nvSpPr>
        <p:spPr>
          <a:xfrm>
            <a:off x="4800600" y="196596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[32.0, 68.0, 98.6, 212.0]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7" name="Text 15"/>
          <p:cNvSpPr/>
          <p:nvPr/>
        </p:nvSpPr>
        <p:spPr>
          <a:xfrm>
            <a:off x="4800600" y="220356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Converts each Celsius value to Fahrenheit — no loop needed.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8" name="Shape 16"/>
          <p:cNvSpPr/>
          <p:nvPr/>
        </p:nvSpPr>
        <p:spPr>
          <a:xfrm>
            <a:off x="182880" y="292608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17"/>
          <p:cNvSpPr/>
          <p:nvPr/>
        </p:nvSpPr>
        <p:spPr>
          <a:xfrm>
            <a:off x="182880" y="2926080"/>
            <a:ext cx="63720" cy="2011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18"/>
          <p:cNvSpPr/>
          <p:nvPr/>
        </p:nvSpPr>
        <p:spPr>
          <a:xfrm>
            <a:off x="320040" y="301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③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Get string lengths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1" name="Shape 19"/>
          <p:cNvSpPr/>
          <p:nvPr/>
        </p:nvSpPr>
        <p:spPr>
          <a:xfrm>
            <a:off x="274320" y="3319200"/>
            <a:ext cx="4068720" cy="749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20"/>
          <p:cNvSpPr/>
          <p:nvPr/>
        </p:nvSpPr>
        <p:spPr>
          <a:xfrm>
            <a:off x="320040" y="3337560"/>
            <a:ext cx="3977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fruits = ['apple','kiwi','banana','fig']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lengths = list(map(lambda f: len(f), fruits))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print(lengths)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3" name="Text 21"/>
          <p:cNvSpPr/>
          <p:nvPr/>
        </p:nvSpPr>
        <p:spPr>
          <a:xfrm>
            <a:off x="320040" y="411480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[5, 4, 6, 3]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4" name="Text 22"/>
          <p:cNvSpPr/>
          <p:nvPr/>
        </p:nvSpPr>
        <p:spPr>
          <a:xfrm>
            <a:off x="320040" y="43524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Finds the character length of each fruit name in the list.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5" name="Shape 23"/>
          <p:cNvSpPr/>
          <p:nvPr/>
        </p:nvSpPr>
        <p:spPr>
          <a:xfrm>
            <a:off x="4663440" y="292608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24"/>
          <p:cNvSpPr/>
          <p:nvPr/>
        </p:nvSpPr>
        <p:spPr>
          <a:xfrm>
            <a:off x="4663440" y="2926080"/>
            <a:ext cx="63720" cy="2011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25"/>
          <p:cNvSpPr/>
          <p:nvPr/>
        </p:nvSpPr>
        <p:spPr>
          <a:xfrm>
            <a:off x="4800600" y="301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④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Add tax to items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Shape 26"/>
          <p:cNvSpPr/>
          <p:nvPr/>
        </p:nvSpPr>
        <p:spPr>
          <a:xfrm>
            <a:off x="4754880" y="3319200"/>
            <a:ext cx="4068720" cy="749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7"/>
          <p:cNvSpPr/>
          <p:nvPr/>
        </p:nvSpPr>
        <p:spPr>
          <a:xfrm>
            <a:off x="4800600" y="3337560"/>
            <a:ext cx="3977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costs = [100, 200, 350]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with_tax = list(map(lambda x: x * 1.18, costs))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print(with_tax)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70" name="Text 28"/>
          <p:cNvSpPr/>
          <p:nvPr/>
        </p:nvSpPr>
        <p:spPr>
          <a:xfrm>
            <a:off x="4800600" y="411480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[118.0, 236.0, 413.0]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1" name="Text 29"/>
          <p:cNvSpPr/>
          <p:nvPr/>
        </p:nvSpPr>
        <p:spPr>
          <a:xfrm>
            <a:off x="4800600" y="43524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Applies an 18% tax to each cost — perfect for financial calculations.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6d2e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Filter Function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274320" y="777240"/>
            <a:ext cx="8595000" cy="100548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3"/>
          <p:cNvSpPr/>
          <p:nvPr/>
        </p:nvSpPr>
        <p:spPr>
          <a:xfrm>
            <a:off x="457200" y="822960"/>
            <a:ext cx="8229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</a:rPr>
              <a:t>filter() applies a function to each item in an iterable and returns only the items for which the function returns True. It is used to screen or sieve data based on a condition.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274320" y="1874520"/>
            <a:ext cx="4114440" cy="7768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5"/>
          <p:cNvSpPr/>
          <p:nvPr/>
        </p:nvSpPr>
        <p:spPr>
          <a:xfrm>
            <a:off x="411480" y="18928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a0aec0"/>
                </a:solidFill>
                <a:latin typeface="Calibri"/>
              </a:rPr>
              <a:t>SYNTAX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411480" y="208476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a26769"/>
                </a:solidFill>
                <a:latin typeface="Courier New"/>
                <a:ea typeface="Courier New"/>
              </a:rPr>
              <a:t>filter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(function, iterable)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9" name="Shape 7"/>
          <p:cNvSpPr/>
          <p:nvPr/>
        </p:nvSpPr>
        <p:spPr>
          <a:xfrm>
            <a:off x="4572000" y="1874520"/>
            <a:ext cx="4297320" cy="137124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Shape 8"/>
          <p:cNvSpPr/>
          <p:nvPr/>
        </p:nvSpPr>
        <p:spPr>
          <a:xfrm>
            <a:off x="4709160" y="1965960"/>
            <a:ext cx="273960" cy="273960"/>
          </a:xfrm>
          <a:prstGeom prst="ellipse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9"/>
          <p:cNvSpPr/>
          <p:nvPr/>
        </p:nvSpPr>
        <p:spPr>
          <a:xfrm>
            <a:off x="4709160" y="1965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5029200" y="198432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</a:rPr>
              <a:t>Applies function to each element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4709160" y="2377440"/>
            <a:ext cx="273960" cy="273960"/>
          </a:xfrm>
          <a:prstGeom prst="ellipse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2"/>
          <p:cNvSpPr/>
          <p:nvPr/>
        </p:nvSpPr>
        <p:spPr>
          <a:xfrm>
            <a:off x="4709160" y="23774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5029200" y="23958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</a:rPr>
              <a:t>Keeps element if function returns True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6" name="Shape 14"/>
          <p:cNvSpPr/>
          <p:nvPr/>
        </p:nvSpPr>
        <p:spPr>
          <a:xfrm>
            <a:off x="4709160" y="2788920"/>
            <a:ext cx="273960" cy="273960"/>
          </a:xfrm>
          <a:prstGeom prst="ellipse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5"/>
          <p:cNvSpPr/>
          <p:nvPr/>
        </p:nvSpPr>
        <p:spPr>
          <a:xfrm>
            <a:off x="4709160" y="27889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5029200" y="28072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</a:rPr>
              <a:t>Discards elements where function returns False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9" name="Text 17"/>
          <p:cNvSpPr/>
          <p:nvPr/>
        </p:nvSpPr>
        <p:spPr>
          <a:xfrm>
            <a:off x="274320" y="33375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26769"/>
                </a:solidFill>
                <a:latin typeface="Calibri"/>
              </a:rPr>
              <a:t>Example: Filter students who passed (score ≥ 50)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0" name="Shape 18"/>
          <p:cNvSpPr/>
          <p:nvPr/>
        </p:nvSpPr>
        <p:spPr>
          <a:xfrm>
            <a:off x="274320" y="3639240"/>
            <a:ext cx="8595000" cy="114264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9"/>
          <p:cNvSpPr/>
          <p:nvPr/>
        </p:nvSpPr>
        <p:spPr>
          <a:xfrm>
            <a:off x="411480" y="3657600"/>
            <a:ext cx="8320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scores</a:t>
            </a:r>
            <a:r>
              <a:rPr b="0" lang="en-US" sz="1100" spc="-1" strike="noStrike">
                <a:solidFill>
                  <a:srgbClr val="ffa657"/>
                </a:solidFill>
                <a:latin typeface="Courier New"/>
                <a:ea typeface="Courier New"/>
              </a:rPr>
              <a:t> = [42, 78, 55, 33, 91, 47, 60]</a:t>
            </a:r>
            <a:endParaRPr b="0" lang="en-IN" sz="1100" spc="-1" strike="noStrike">
              <a:latin typeface="Arial"/>
            </a:endParaRPr>
          </a:p>
          <a:p>
            <a:endParaRPr b="0" lang="en-IN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passed = list(</a:t>
            </a:r>
            <a:r>
              <a:rPr b="1" lang="en-US" sz="1100" spc="-1" strike="noStrike">
                <a:solidFill>
                  <a:srgbClr val="a26769"/>
                </a:solidFill>
                <a:latin typeface="Courier New"/>
                <a:ea typeface="Courier New"/>
              </a:rPr>
              <a:t>filter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(lambda s: s &gt;= 50, scores))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urier New"/>
                <a:ea typeface="Courier New"/>
              </a:rPr>
              <a:t>print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(passed)     # Output: </a:t>
            </a:r>
            <a:r>
              <a:rPr b="0" lang="en-US" sz="1100" spc="-1" strike="noStrike">
                <a:solidFill>
                  <a:srgbClr val="3fb950"/>
                </a:solidFill>
                <a:latin typeface="Courier New"/>
                <a:ea typeface="Courier New"/>
              </a:rPr>
              <a:t>[78, 55, 91, 60]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6d2e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Filter — More Examples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182880" y="77724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3"/>
          <p:cNvSpPr/>
          <p:nvPr/>
        </p:nvSpPr>
        <p:spPr>
          <a:xfrm>
            <a:off x="182880" y="777240"/>
            <a:ext cx="63720" cy="2011320"/>
          </a:xfrm>
          <a:prstGeom prst="rect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4"/>
          <p:cNvSpPr/>
          <p:nvPr/>
        </p:nvSpPr>
        <p:spPr>
          <a:xfrm>
            <a:off x="320040" y="8686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a26769"/>
                </a:solidFill>
                <a:latin typeface="Calibri"/>
              </a:rPr>
              <a:t>① </a:t>
            </a:r>
            <a:r>
              <a:rPr b="1" lang="en-US" sz="1200" spc="-1" strike="noStrike">
                <a:solidFill>
                  <a:srgbClr val="a26769"/>
                </a:solidFill>
                <a:latin typeface="Calibri"/>
              </a:rPr>
              <a:t>Keep only even numbers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7" name="Shape 5"/>
          <p:cNvSpPr/>
          <p:nvPr/>
        </p:nvSpPr>
        <p:spPr>
          <a:xfrm>
            <a:off x="274320" y="1170360"/>
            <a:ext cx="4068720" cy="749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6"/>
          <p:cNvSpPr/>
          <p:nvPr/>
        </p:nvSpPr>
        <p:spPr>
          <a:xfrm>
            <a:off x="320040" y="1188720"/>
            <a:ext cx="3977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nums = [1, 2, 3, 4, 5, 6, 7, 8]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evens = list(filter(lambda n: n%2==0, nums))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print(evens)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320040" y="196596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[2, 4, 6, 8]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320040" y="220356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Filters the list to keep only numbers divisible by 2.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1" name="Shape 9"/>
          <p:cNvSpPr/>
          <p:nvPr/>
        </p:nvSpPr>
        <p:spPr>
          <a:xfrm>
            <a:off x="4663440" y="77724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Shape 10"/>
          <p:cNvSpPr/>
          <p:nvPr/>
        </p:nvSpPr>
        <p:spPr>
          <a:xfrm>
            <a:off x="4663440" y="777240"/>
            <a:ext cx="63720" cy="2011320"/>
          </a:xfrm>
          <a:prstGeom prst="rect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1"/>
          <p:cNvSpPr/>
          <p:nvPr/>
        </p:nvSpPr>
        <p:spPr>
          <a:xfrm>
            <a:off x="4800600" y="8686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a26769"/>
                </a:solidFill>
                <a:latin typeface="Calibri"/>
              </a:rPr>
              <a:t>② </a:t>
            </a:r>
            <a:r>
              <a:rPr b="1" lang="en-US" sz="1200" spc="-1" strike="noStrike">
                <a:solidFill>
                  <a:srgbClr val="a26769"/>
                </a:solidFill>
                <a:latin typeface="Calibri"/>
              </a:rPr>
              <a:t>Words longer than 4 letters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4754880" y="1170360"/>
            <a:ext cx="4068720" cy="749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3"/>
          <p:cNvSpPr/>
          <p:nvPr/>
        </p:nvSpPr>
        <p:spPr>
          <a:xfrm>
            <a:off x="4800600" y="1188720"/>
            <a:ext cx="3977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words = ['cat','elephant','ox','tiger']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long_w = list(filter(lambda w: len(w)&gt;4, words))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print(long_w)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06" name="Text 14"/>
          <p:cNvSpPr/>
          <p:nvPr/>
        </p:nvSpPr>
        <p:spPr>
          <a:xfrm>
            <a:off x="4800600" y="196596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['elephant', 'tiger']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Text 15"/>
          <p:cNvSpPr/>
          <p:nvPr/>
        </p:nvSpPr>
        <p:spPr>
          <a:xfrm>
            <a:off x="4800600" y="220356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Keeps only words with more than 4 characters.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182880" y="292608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Shape 17"/>
          <p:cNvSpPr/>
          <p:nvPr/>
        </p:nvSpPr>
        <p:spPr>
          <a:xfrm>
            <a:off x="182880" y="2926080"/>
            <a:ext cx="63720" cy="2011320"/>
          </a:xfrm>
          <a:prstGeom prst="rect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8"/>
          <p:cNvSpPr/>
          <p:nvPr/>
        </p:nvSpPr>
        <p:spPr>
          <a:xfrm>
            <a:off x="320040" y="301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a26769"/>
                </a:solidFill>
                <a:latin typeface="Calibri"/>
              </a:rPr>
              <a:t>③ </a:t>
            </a:r>
            <a:r>
              <a:rPr b="1" lang="en-US" sz="1200" spc="-1" strike="noStrike">
                <a:solidFill>
                  <a:srgbClr val="a26769"/>
                </a:solidFill>
                <a:latin typeface="Calibri"/>
              </a:rPr>
              <a:t>Adults only (age ≥ 18)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1" name="Shape 19"/>
          <p:cNvSpPr/>
          <p:nvPr/>
        </p:nvSpPr>
        <p:spPr>
          <a:xfrm>
            <a:off x="274320" y="3319200"/>
            <a:ext cx="4068720" cy="749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0"/>
          <p:cNvSpPr/>
          <p:nvPr/>
        </p:nvSpPr>
        <p:spPr>
          <a:xfrm>
            <a:off x="320040" y="3337560"/>
            <a:ext cx="3977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ages = [12, 25, 17, 30, 15, 22]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adults = list(filter(lambda a: a&gt;=18, ages))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print(adults)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13" name="Text 21"/>
          <p:cNvSpPr/>
          <p:nvPr/>
        </p:nvSpPr>
        <p:spPr>
          <a:xfrm>
            <a:off x="320040" y="411480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[25, 30, 22]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Text 22"/>
          <p:cNvSpPr/>
          <p:nvPr/>
        </p:nvSpPr>
        <p:spPr>
          <a:xfrm>
            <a:off x="320040" y="43524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Filters out underage values — useful in user data validation.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5" name="Shape 23"/>
          <p:cNvSpPr/>
          <p:nvPr/>
        </p:nvSpPr>
        <p:spPr>
          <a:xfrm>
            <a:off x="4663440" y="292608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Shape 24"/>
          <p:cNvSpPr/>
          <p:nvPr/>
        </p:nvSpPr>
        <p:spPr>
          <a:xfrm>
            <a:off x="4663440" y="2926080"/>
            <a:ext cx="63720" cy="2011320"/>
          </a:xfrm>
          <a:prstGeom prst="rect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25"/>
          <p:cNvSpPr/>
          <p:nvPr/>
        </p:nvSpPr>
        <p:spPr>
          <a:xfrm>
            <a:off x="4800600" y="301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a26769"/>
                </a:solidFill>
                <a:latin typeface="Calibri"/>
              </a:rPr>
              <a:t>④ </a:t>
            </a:r>
            <a:r>
              <a:rPr b="1" lang="en-US" sz="1200" spc="-1" strike="noStrike">
                <a:solidFill>
                  <a:srgbClr val="a26769"/>
                </a:solidFill>
                <a:latin typeface="Calibri"/>
              </a:rPr>
              <a:t>Remove empty strings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8" name="Shape 26"/>
          <p:cNvSpPr/>
          <p:nvPr/>
        </p:nvSpPr>
        <p:spPr>
          <a:xfrm>
            <a:off x="4754880" y="3319200"/>
            <a:ext cx="4068720" cy="749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7"/>
          <p:cNvSpPr/>
          <p:nvPr/>
        </p:nvSpPr>
        <p:spPr>
          <a:xfrm>
            <a:off x="4800600" y="3337560"/>
            <a:ext cx="3977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entries = ['Alice','','Bob','','Carol']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valid = list(filter(lambda s: s != '', entries))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print(valid)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0" name="Text 28"/>
          <p:cNvSpPr/>
          <p:nvPr/>
        </p:nvSpPr>
        <p:spPr>
          <a:xfrm>
            <a:off x="4800600" y="411480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['Alice', 'Bob', 'Carol']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1" name="Text 29"/>
          <p:cNvSpPr/>
          <p:nvPr/>
        </p:nvSpPr>
        <p:spPr>
          <a:xfrm>
            <a:off x="4800600" y="43524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Cleans data by removing blank entries from a list.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Reduce Function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274320" y="777240"/>
            <a:ext cx="8595000" cy="114264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3"/>
          <p:cNvSpPr/>
          <p:nvPr/>
        </p:nvSpPr>
        <p:spPr>
          <a:xfrm>
            <a:off x="457200" y="82296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</a:rPr>
              <a:t>reduce() from the functools module takes a function and an iterable, applies the function to the first two items, then applies it to that result and the next item — continuing until a single cumulative value is produced.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26" name="Shape 4"/>
          <p:cNvSpPr/>
          <p:nvPr/>
        </p:nvSpPr>
        <p:spPr>
          <a:xfrm>
            <a:off x="274320" y="2011680"/>
            <a:ext cx="4114440" cy="7768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5"/>
          <p:cNvSpPr/>
          <p:nvPr/>
        </p:nvSpPr>
        <p:spPr>
          <a:xfrm>
            <a:off x="411480" y="203004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a0aec0"/>
                </a:solidFill>
                <a:latin typeface="Calibri"/>
              </a:rPr>
              <a:t>IMPORT REQUIRED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411480" y="222192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94560"/>
                </a:solidFill>
                <a:latin typeface="Courier New"/>
                <a:ea typeface="Courier New"/>
              </a:rPr>
              <a:t>from </a:t>
            </a:r>
            <a:r>
              <a:rPr b="0" lang="en-US" sz="1300" spc="-1" strike="noStrike">
                <a:solidFill>
                  <a:srgbClr val="ffa657"/>
                </a:solidFill>
                <a:latin typeface="Courier New"/>
                <a:ea typeface="Courier New"/>
              </a:rPr>
              <a:t>functools </a:t>
            </a:r>
            <a:r>
              <a:rPr b="1" lang="en-US" sz="1300" spc="-1" strike="noStrike">
                <a:solidFill>
                  <a:srgbClr val="e94560"/>
                </a:solidFill>
                <a:latin typeface="Courier New"/>
                <a:ea typeface="Courier New"/>
              </a:rPr>
              <a:t>import </a:t>
            </a:r>
            <a:r>
              <a:rPr b="0" lang="en-US" sz="1300" spc="-1" strike="noStrike">
                <a:solidFill>
                  <a:srgbClr val="00b4d8"/>
                </a:solidFill>
                <a:latin typeface="Courier New"/>
                <a:ea typeface="Courier New"/>
              </a:rPr>
              <a:t>reduce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4572000" y="2011680"/>
            <a:ext cx="4297320" cy="7768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8"/>
          <p:cNvSpPr/>
          <p:nvPr/>
        </p:nvSpPr>
        <p:spPr>
          <a:xfrm>
            <a:off x="4709160" y="203004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a0aec0"/>
                </a:solidFill>
                <a:latin typeface="Calibri"/>
              </a:rPr>
              <a:t>SYNTAX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1" name="Text 9"/>
          <p:cNvSpPr/>
          <p:nvPr/>
        </p:nvSpPr>
        <p:spPr>
          <a:xfrm>
            <a:off x="4709160" y="22219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b85042"/>
                </a:solidFill>
                <a:latin typeface="Courier New"/>
                <a:ea typeface="Courier New"/>
              </a:rPr>
              <a:t>reduce</a:t>
            </a: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(fn, iterable[, init])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2" name="Text 10"/>
          <p:cNvSpPr/>
          <p:nvPr/>
        </p:nvSpPr>
        <p:spPr>
          <a:xfrm>
            <a:off x="274320" y="29260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a58c"/>
                </a:solidFill>
                <a:latin typeface="Calibri"/>
              </a:rPr>
              <a:t>How reduce() works on [1, 2, 3, 4, 5] with addition: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3" name="Shape 11"/>
          <p:cNvSpPr/>
          <p:nvPr/>
        </p:nvSpPr>
        <p:spPr>
          <a:xfrm>
            <a:off x="274320" y="3273480"/>
            <a:ext cx="1919880" cy="59400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2"/>
          <p:cNvSpPr/>
          <p:nvPr/>
        </p:nvSpPr>
        <p:spPr>
          <a:xfrm>
            <a:off x="274320" y="32734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Step 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274320" y="35204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1+2=3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6" name="Shape 14"/>
          <p:cNvSpPr/>
          <p:nvPr/>
        </p:nvSpPr>
        <p:spPr>
          <a:xfrm>
            <a:off x="2212560" y="3566160"/>
            <a:ext cx="420840" cy="360"/>
          </a:xfrm>
          <a:prstGeom prst="line">
            <a:avLst/>
          </a:prstGeom>
          <a:ln w="19050">
            <a:solidFill>
              <a:srgbClr val="a0aec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Shape 15"/>
          <p:cNvSpPr/>
          <p:nvPr/>
        </p:nvSpPr>
        <p:spPr>
          <a:xfrm>
            <a:off x="2377440" y="3273480"/>
            <a:ext cx="1919880" cy="59400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16"/>
          <p:cNvSpPr/>
          <p:nvPr/>
        </p:nvSpPr>
        <p:spPr>
          <a:xfrm>
            <a:off x="2377440" y="32734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Step 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9" name="Text 17"/>
          <p:cNvSpPr/>
          <p:nvPr/>
        </p:nvSpPr>
        <p:spPr>
          <a:xfrm>
            <a:off x="2377440" y="35204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3+3=6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0" name="Shape 18"/>
          <p:cNvSpPr/>
          <p:nvPr/>
        </p:nvSpPr>
        <p:spPr>
          <a:xfrm>
            <a:off x="4315680" y="3566160"/>
            <a:ext cx="420840" cy="360"/>
          </a:xfrm>
          <a:prstGeom prst="line">
            <a:avLst/>
          </a:prstGeom>
          <a:ln w="19050">
            <a:solidFill>
              <a:srgbClr val="a0aec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19"/>
          <p:cNvSpPr/>
          <p:nvPr/>
        </p:nvSpPr>
        <p:spPr>
          <a:xfrm>
            <a:off x="4480560" y="3273480"/>
            <a:ext cx="1919880" cy="59400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20"/>
          <p:cNvSpPr/>
          <p:nvPr/>
        </p:nvSpPr>
        <p:spPr>
          <a:xfrm>
            <a:off x="4480560" y="32734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Step 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4480560" y="35204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6+4=10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4" name="Shape 22"/>
          <p:cNvSpPr/>
          <p:nvPr/>
        </p:nvSpPr>
        <p:spPr>
          <a:xfrm>
            <a:off x="6418800" y="3566160"/>
            <a:ext cx="420840" cy="360"/>
          </a:xfrm>
          <a:prstGeom prst="line">
            <a:avLst/>
          </a:prstGeom>
          <a:ln w="19050">
            <a:solidFill>
              <a:srgbClr val="a0aec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Shape 23"/>
          <p:cNvSpPr/>
          <p:nvPr/>
        </p:nvSpPr>
        <p:spPr>
          <a:xfrm>
            <a:off x="6583680" y="3273480"/>
            <a:ext cx="1919880" cy="59400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24"/>
          <p:cNvSpPr/>
          <p:nvPr/>
        </p:nvSpPr>
        <p:spPr>
          <a:xfrm>
            <a:off x="6583680" y="32734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Step 4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7" name="Text 25"/>
          <p:cNvSpPr/>
          <p:nvPr/>
        </p:nvSpPr>
        <p:spPr>
          <a:xfrm>
            <a:off x="6583680" y="35204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10+5=15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8" name="Shape 26"/>
          <p:cNvSpPr/>
          <p:nvPr/>
        </p:nvSpPr>
        <p:spPr>
          <a:xfrm>
            <a:off x="274320" y="3931920"/>
            <a:ext cx="8595000" cy="8683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7"/>
          <p:cNvSpPr/>
          <p:nvPr/>
        </p:nvSpPr>
        <p:spPr>
          <a:xfrm>
            <a:off x="411480" y="3959280"/>
            <a:ext cx="832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0" lang="en-US" sz="1100" spc="-1" strike="noStrike">
                <a:solidFill>
                  <a:srgbClr val="a0aec0"/>
                </a:solidFill>
                <a:latin typeface="Courier New"/>
                <a:ea typeface="Courier New"/>
              </a:rPr>
              <a:t>from functools import reduce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result = reduce(</a:t>
            </a:r>
            <a:r>
              <a:rPr b="1" lang="en-US" sz="1100" spc="-1" strike="noStrike">
                <a:solidFill>
                  <a:srgbClr val="e94560"/>
                </a:solidFill>
                <a:latin typeface="Courier New"/>
                <a:ea typeface="Courier New"/>
              </a:rPr>
              <a:t>lambda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a, b: a + b, [1, 2, 3, 4, 5])   # Output: </a:t>
            </a:r>
            <a:r>
              <a:rPr b="1" lang="en-US" sz="1100" spc="-1" strike="noStrike">
                <a:solidFill>
                  <a:srgbClr val="3fb950"/>
                </a:solidFill>
                <a:latin typeface="Courier New"/>
                <a:ea typeface="Courier New"/>
              </a:rPr>
              <a:t>15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Reduce — More Examples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52" name="Shape 2"/>
          <p:cNvSpPr/>
          <p:nvPr/>
        </p:nvSpPr>
        <p:spPr>
          <a:xfrm>
            <a:off x="182880" y="77724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Shape 3"/>
          <p:cNvSpPr/>
          <p:nvPr/>
        </p:nvSpPr>
        <p:spPr>
          <a:xfrm>
            <a:off x="182880" y="777240"/>
            <a:ext cx="63720" cy="201132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4"/>
          <p:cNvSpPr/>
          <p:nvPr/>
        </p:nvSpPr>
        <p:spPr>
          <a:xfrm>
            <a:off x="320040" y="8686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7a58c"/>
                </a:solidFill>
                <a:latin typeface="Calibri"/>
              </a:rPr>
              <a:t>① </a:t>
            </a:r>
            <a:r>
              <a:rPr b="1" lang="en-US" sz="1200" spc="-1" strike="noStrike">
                <a:solidFill>
                  <a:srgbClr val="e7a58c"/>
                </a:solidFill>
                <a:latin typeface="Calibri"/>
              </a:rPr>
              <a:t>Find Maximum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5" name="Shape 5"/>
          <p:cNvSpPr/>
          <p:nvPr/>
        </p:nvSpPr>
        <p:spPr>
          <a:xfrm>
            <a:off x="274320" y="1170360"/>
            <a:ext cx="4068720" cy="7768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6"/>
          <p:cNvSpPr/>
          <p:nvPr/>
        </p:nvSpPr>
        <p:spPr>
          <a:xfrm>
            <a:off x="320040" y="1188720"/>
            <a:ext cx="397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from functools import reduce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nums = [14, 7, 22, 9, 31]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max_val = reduce(lambda a,b: a if a&gt;b else b, nums)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print(max_val)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57" name="Text 7"/>
          <p:cNvSpPr/>
          <p:nvPr/>
        </p:nvSpPr>
        <p:spPr>
          <a:xfrm>
            <a:off x="320040" y="198432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31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Text 8"/>
          <p:cNvSpPr/>
          <p:nvPr/>
        </p:nvSpPr>
        <p:spPr>
          <a:xfrm>
            <a:off x="320040" y="222192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Uses reduce to find the largest value without using the max() built-in.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9" name="Shape 9"/>
          <p:cNvSpPr/>
          <p:nvPr/>
        </p:nvSpPr>
        <p:spPr>
          <a:xfrm>
            <a:off x="4663440" y="77724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Shape 10"/>
          <p:cNvSpPr/>
          <p:nvPr/>
        </p:nvSpPr>
        <p:spPr>
          <a:xfrm>
            <a:off x="4663440" y="777240"/>
            <a:ext cx="63720" cy="201132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11"/>
          <p:cNvSpPr/>
          <p:nvPr/>
        </p:nvSpPr>
        <p:spPr>
          <a:xfrm>
            <a:off x="4800600" y="8686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7a58c"/>
                </a:solidFill>
                <a:latin typeface="Calibri"/>
              </a:rPr>
              <a:t>② </a:t>
            </a:r>
            <a:r>
              <a:rPr b="1" lang="en-US" sz="1200" spc="-1" strike="noStrike">
                <a:solidFill>
                  <a:srgbClr val="e7a58c"/>
                </a:solidFill>
                <a:latin typeface="Calibri"/>
              </a:rPr>
              <a:t>Calculate Factorial (5!)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2" name="Shape 12"/>
          <p:cNvSpPr/>
          <p:nvPr/>
        </p:nvSpPr>
        <p:spPr>
          <a:xfrm>
            <a:off x="4754880" y="1170360"/>
            <a:ext cx="4068720" cy="7768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13"/>
          <p:cNvSpPr/>
          <p:nvPr/>
        </p:nvSpPr>
        <p:spPr>
          <a:xfrm>
            <a:off x="4800600" y="1188720"/>
            <a:ext cx="397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from functools import reduce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result = reduce(lambda a,b: a*b, range(1,6))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print(result)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64" name="Text 14"/>
          <p:cNvSpPr/>
          <p:nvPr/>
        </p:nvSpPr>
        <p:spPr>
          <a:xfrm>
            <a:off x="4800600" y="198432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120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5" name="Text 15"/>
          <p:cNvSpPr/>
          <p:nvPr/>
        </p:nvSpPr>
        <p:spPr>
          <a:xfrm>
            <a:off x="4800600" y="222192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Multiplies 1×2×3×4×5 step-by-step — classic reduce use case.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6" name="Shape 16"/>
          <p:cNvSpPr/>
          <p:nvPr/>
        </p:nvSpPr>
        <p:spPr>
          <a:xfrm>
            <a:off x="182880" y="292608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Shape 17"/>
          <p:cNvSpPr/>
          <p:nvPr/>
        </p:nvSpPr>
        <p:spPr>
          <a:xfrm>
            <a:off x="182880" y="2926080"/>
            <a:ext cx="63720" cy="201132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18"/>
          <p:cNvSpPr/>
          <p:nvPr/>
        </p:nvSpPr>
        <p:spPr>
          <a:xfrm>
            <a:off x="320040" y="301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7a58c"/>
                </a:solidFill>
                <a:latin typeface="Calibri"/>
              </a:rPr>
              <a:t>③ </a:t>
            </a:r>
            <a:r>
              <a:rPr b="1" lang="en-US" sz="1200" spc="-1" strike="noStrike">
                <a:solidFill>
                  <a:srgbClr val="e7a58c"/>
                </a:solidFill>
                <a:latin typeface="Calibri"/>
              </a:rPr>
              <a:t>Flatten a nested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9" name="Shape 19"/>
          <p:cNvSpPr/>
          <p:nvPr/>
        </p:nvSpPr>
        <p:spPr>
          <a:xfrm>
            <a:off x="274320" y="3319200"/>
            <a:ext cx="4068720" cy="7768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0"/>
          <p:cNvSpPr/>
          <p:nvPr/>
        </p:nvSpPr>
        <p:spPr>
          <a:xfrm>
            <a:off x="320040" y="3337560"/>
            <a:ext cx="397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from functools import reduce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nested = [[1,2],[3,4],[5,6]]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flat = reduce(lambda a,b: a+b, nested)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print(flat)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1" name="Text 21"/>
          <p:cNvSpPr/>
          <p:nvPr/>
        </p:nvSpPr>
        <p:spPr>
          <a:xfrm>
            <a:off x="320040" y="413316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[1, 2, 3, 4, 5, 6]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2" name="Text 22"/>
          <p:cNvSpPr/>
          <p:nvPr/>
        </p:nvSpPr>
        <p:spPr>
          <a:xfrm>
            <a:off x="320040" y="437076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Merges sub-lists into one flat list by concatenation.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3" name="Shape 23"/>
          <p:cNvSpPr/>
          <p:nvPr/>
        </p:nvSpPr>
        <p:spPr>
          <a:xfrm>
            <a:off x="4663440" y="2926080"/>
            <a:ext cx="4251600" cy="2011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Shape 24"/>
          <p:cNvSpPr/>
          <p:nvPr/>
        </p:nvSpPr>
        <p:spPr>
          <a:xfrm>
            <a:off x="4663440" y="2926080"/>
            <a:ext cx="63720" cy="201132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25"/>
          <p:cNvSpPr/>
          <p:nvPr/>
        </p:nvSpPr>
        <p:spPr>
          <a:xfrm>
            <a:off x="4800600" y="301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7a58c"/>
                </a:solidFill>
                <a:latin typeface="Calibri"/>
              </a:rPr>
              <a:t>④ </a:t>
            </a:r>
            <a:r>
              <a:rPr b="1" lang="en-US" sz="1200" spc="-1" strike="noStrike">
                <a:solidFill>
                  <a:srgbClr val="e7a58c"/>
                </a:solidFill>
                <a:latin typeface="Calibri"/>
              </a:rPr>
              <a:t>Build a sentence from words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6" name="Shape 26"/>
          <p:cNvSpPr/>
          <p:nvPr/>
        </p:nvSpPr>
        <p:spPr>
          <a:xfrm>
            <a:off x="4754880" y="3319200"/>
            <a:ext cx="4068720" cy="7768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27"/>
          <p:cNvSpPr/>
          <p:nvPr/>
        </p:nvSpPr>
        <p:spPr>
          <a:xfrm>
            <a:off x="4800600" y="3337560"/>
            <a:ext cx="397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from functools import reduce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words=['Python','is','awesome']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sentence=reduce(lambda a,b: a+' '+b, words)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print(sentence)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8" name="Text 28"/>
          <p:cNvSpPr/>
          <p:nvPr/>
        </p:nvSpPr>
        <p:spPr>
          <a:xfrm>
            <a:off x="4800600" y="413316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</a:rPr>
              <a:t>Output: Python is awesome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Text 29"/>
          <p:cNvSpPr/>
          <p:nvPr/>
        </p:nvSpPr>
        <p:spPr>
          <a:xfrm>
            <a:off x="4800600" y="437076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Joins individual words into a full sentence using reduce.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Map vs Filter vs Reduce — At a Glance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182880" y="777240"/>
            <a:ext cx="8777880" cy="9597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Shape 3"/>
          <p:cNvSpPr/>
          <p:nvPr/>
        </p:nvSpPr>
        <p:spPr>
          <a:xfrm>
            <a:off x="182880" y="777240"/>
            <a:ext cx="914040" cy="9597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4"/>
          <p:cNvSpPr/>
          <p:nvPr/>
        </p:nvSpPr>
        <p:spPr>
          <a:xfrm>
            <a:off x="182880" y="777240"/>
            <a:ext cx="914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λ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85" name="Text 5"/>
          <p:cNvSpPr/>
          <p:nvPr/>
        </p:nvSpPr>
        <p:spPr>
          <a:xfrm>
            <a:off x="182880" y="128016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lambda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Text 6"/>
          <p:cNvSpPr/>
          <p:nvPr/>
        </p:nvSpPr>
        <p:spPr>
          <a:xfrm>
            <a:off x="1234440" y="82296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Anonymous Function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1234440" y="114300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Input: arguments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8" name="Text 8"/>
          <p:cNvSpPr/>
          <p:nvPr/>
        </p:nvSpPr>
        <p:spPr>
          <a:xfrm>
            <a:off x="1234440" y="137160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Output: single expression result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9" name="Shape 9"/>
          <p:cNvSpPr/>
          <p:nvPr/>
        </p:nvSpPr>
        <p:spPr>
          <a:xfrm>
            <a:off x="3291840" y="868680"/>
            <a:ext cx="8640" cy="776880"/>
          </a:xfrm>
          <a:prstGeom prst="rect">
            <a:avLst/>
          </a:prstGeom>
          <a:solidFill>
            <a:srgbClr val="a0ae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10"/>
          <p:cNvSpPr/>
          <p:nvPr/>
        </p:nvSpPr>
        <p:spPr>
          <a:xfrm>
            <a:off x="3429000" y="868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0aec0"/>
                </a:solidFill>
                <a:latin typeface="Calibri"/>
              </a:rPr>
              <a:t>Best used for: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3429000" y="11246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94560"/>
                </a:solidFill>
                <a:latin typeface="Calibri"/>
              </a:rPr>
              <a:t>Quick, one-off inline functions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2" name="Shape 12"/>
          <p:cNvSpPr/>
          <p:nvPr/>
        </p:nvSpPr>
        <p:spPr>
          <a:xfrm>
            <a:off x="182880" y="1828800"/>
            <a:ext cx="8777880" cy="9597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13"/>
          <p:cNvSpPr/>
          <p:nvPr/>
        </p:nvSpPr>
        <p:spPr>
          <a:xfrm>
            <a:off x="182880" y="1828800"/>
            <a:ext cx="914040" cy="9597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14"/>
          <p:cNvSpPr/>
          <p:nvPr/>
        </p:nvSpPr>
        <p:spPr>
          <a:xfrm>
            <a:off x="182880" y="1828800"/>
            <a:ext cx="914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⇒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5" name="Text 15"/>
          <p:cNvSpPr/>
          <p:nvPr/>
        </p:nvSpPr>
        <p:spPr>
          <a:xfrm>
            <a:off x="182880" y="23317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map()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6" name="Text 16"/>
          <p:cNvSpPr/>
          <p:nvPr/>
        </p:nvSpPr>
        <p:spPr>
          <a:xfrm>
            <a:off x="1234440" y="18745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Transformer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7" name="Text 17"/>
          <p:cNvSpPr/>
          <p:nvPr/>
        </p:nvSpPr>
        <p:spPr>
          <a:xfrm>
            <a:off x="1234440" y="219456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Input: list of N items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8" name="Text 18"/>
          <p:cNvSpPr/>
          <p:nvPr/>
        </p:nvSpPr>
        <p:spPr>
          <a:xfrm>
            <a:off x="1234440" y="242316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Output: list of N results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9" name="Shape 19"/>
          <p:cNvSpPr/>
          <p:nvPr/>
        </p:nvSpPr>
        <p:spPr>
          <a:xfrm>
            <a:off x="3291840" y="1920240"/>
            <a:ext cx="8640" cy="776880"/>
          </a:xfrm>
          <a:prstGeom prst="rect">
            <a:avLst/>
          </a:prstGeom>
          <a:solidFill>
            <a:srgbClr val="a0ae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20"/>
          <p:cNvSpPr/>
          <p:nvPr/>
        </p:nvSpPr>
        <p:spPr>
          <a:xfrm>
            <a:off x="3429000" y="19202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0aec0"/>
                </a:solidFill>
                <a:latin typeface="Calibri"/>
              </a:rPr>
              <a:t>Best used for: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1" name="Text 21"/>
          <p:cNvSpPr/>
          <p:nvPr/>
        </p:nvSpPr>
        <p:spPr>
          <a:xfrm>
            <a:off x="3429000" y="2176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</a:rPr>
              <a:t>Convert / transform every element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2" name="Shape 22"/>
          <p:cNvSpPr/>
          <p:nvPr/>
        </p:nvSpPr>
        <p:spPr>
          <a:xfrm>
            <a:off x="182880" y="2880360"/>
            <a:ext cx="8777880" cy="9597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Shape 23"/>
          <p:cNvSpPr/>
          <p:nvPr/>
        </p:nvSpPr>
        <p:spPr>
          <a:xfrm>
            <a:off x="182880" y="2880360"/>
            <a:ext cx="914040" cy="959760"/>
          </a:xfrm>
          <a:prstGeom prst="rect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24"/>
          <p:cNvSpPr/>
          <p:nvPr/>
        </p:nvSpPr>
        <p:spPr>
          <a:xfrm>
            <a:off x="182880" y="2880360"/>
            <a:ext cx="914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⊇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05" name="Text 25"/>
          <p:cNvSpPr/>
          <p:nvPr/>
        </p:nvSpPr>
        <p:spPr>
          <a:xfrm>
            <a:off x="182880" y="338328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filter()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6" name="Text 26"/>
          <p:cNvSpPr/>
          <p:nvPr/>
        </p:nvSpPr>
        <p:spPr>
          <a:xfrm>
            <a:off x="1234440" y="29260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Selector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7" name="Text 27"/>
          <p:cNvSpPr/>
          <p:nvPr/>
        </p:nvSpPr>
        <p:spPr>
          <a:xfrm>
            <a:off x="1234440" y="32461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Input: list of N items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8" name="Text 28"/>
          <p:cNvSpPr/>
          <p:nvPr/>
        </p:nvSpPr>
        <p:spPr>
          <a:xfrm>
            <a:off x="1234440" y="34747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Output: list of ≤N items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9" name="Shape 29"/>
          <p:cNvSpPr/>
          <p:nvPr/>
        </p:nvSpPr>
        <p:spPr>
          <a:xfrm>
            <a:off x="3291840" y="2971800"/>
            <a:ext cx="8640" cy="776880"/>
          </a:xfrm>
          <a:prstGeom prst="rect">
            <a:avLst/>
          </a:prstGeom>
          <a:solidFill>
            <a:srgbClr val="a0ae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30"/>
          <p:cNvSpPr/>
          <p:nvPr/>
        </p:nvSpPr>
        <p:spPr>
          <a:xfrm>
            <a:off x="3429000" y="297180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0aec0"/>
                </a:solidFill>
                <a:latin typeface="Calibri"/>
              </a:rPr>
              <a:t>Best used for: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1" name="Text 31"/>
          <p:cNvSpPr/>
          <p:nvPr/>
        </p:nvSpPr>
        <p:spPr>
          <a:xfrm>
            <a:off x="3429000" y="32277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26769"/>
                </a:solidFill>
                <a:latin typeface="Calibri"/>
              </a:rPr>
              <a:t>Keep only elements that pass a test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2" name="Shape 32"/>
          <p:cNvSpPr/>
          <p:nvPr/>
        </p:nvSpPr>
        <p:spPr>
          <a:xfrm>
            <a:off x="182880" y="3931920"/>
            <a:ext cx="8777880" cy="9597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Shape 33"/>
          <p:cNvSpPr/>
          <p:nvPr/>
        </p:nvSpPr>
        <p:spPr>
          <a:xfrm>
            <a:off x="182880" y="3931920"/>
            <a:ext cx="914040" cy="95976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34"/>
          <p:cNvSpPr/>
          <p:nvPr/>
        </p:nvSpPr>
        <p:spPr>
          <a:xfrm>
            <a:off x="182880" y="3931920"/>
            <a:ext cx="914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↠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15" name="Text 35"/>
          <p:cNvSpPr/>
          <p:nvPr/>
        </p:nvSpPr>
        <p:spPr>
          <a:xfrm>
            <a:off x="182880" y="443484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reduce()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6" name="Text 36"/>
          <p:cNvSpPr/>
          <p:nvPr/>
        </p:nvSpPr>
        <p:spPr>
          <a:xfrm>
            <a:off x="1234440" y="39776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Accumulator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7" name="Text 37"/>
          <p:cNvSpPr/>
          <p:nvPr/>
        </p:nvSpPr>
        <p:spPr>
          <a:xfrm>
            <a:off x="1234440" y="429768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Input: list of N items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8" name="Text 38"/>
          <p:cNvSpPr/>
          <p:nvPr/>
        </p:nvSpPr>
        <p:spPr>
          <a:xfrm>
            <a:off x="1234440" y="452628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</a:rPr>
              <a:t>Output: 1 cumulative value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9" name="Shape 39"/>
          <p:cNvSpPr/>
          <p:nvPr/>
        </p:nvSpPr>
        <p:spPr>
          <a:xfrm>
            <a:off x="3291840" y="4023360"/>
            <a:ext cx="8640" cy="776880"/>
          </a:xfrm>
          <a:prstGeom prst="rect">
            <a:avLst/>
          </a:prstGeom>
          <a:solidFill>
            <a:srgbClr val="a0ae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40"/>
          <p:cNvSpPr/>
          <p:nvPr/>
        </p:nvSpPr>
        <p:spPr>
          <a:xfrm>
            <a:off x="3429000" y="40233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0aec0"/>
                </a:solidFill>
                <a:latin typeface="Calibri"/>
              </a:rPr>
              <a:t>Best used for: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1" name="Text 41"/>
          <p:cNvSpPr/>
          <p:nvPr/>
        </p:nvSpPr>
        <p:spPr>
          <a:xfrm>
            <a:off x="3429000" y="42793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b85042"/>
                </a:solidFill>
                <a:latin typeface="Calibri"/>
              </a:rPr>
              <a:t>Combine all elements into one result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Summary &amp; Key Takeaways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4" name="Text 2"/>
          <p:cNvSpPr/>
          <p:nvPr/>
        </p:nvSpPr>
        <p:spPr>
          <a:xfrm>
            <a:off x="365760" y="77724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0e0ef"/>
                </a:solidFill>
                <a:latin typeface="Calibri"/>
              </a:rPr>
              <a:t>Functional Programming makes code more concise, readable, and expressive.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5" name="Shape 3"/>
          <p:cNvSpPr/>
          <p:nvPr/>
        </p:nvSpPr>
        <p:spPr>
          <a:xfrm>
            <a:off x="274320" y="1280160"/>
            <a:ext cx="8595000" cy="62136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Shape 4"/>
          <p:cNvSpPr/>
          <p:nvPr/>
        </p:nvSpPr>
        <p:spPr>
          <a:xfrm>
            <a:off x="274320" y="1280160"/>
            <a:ext cx="1371240" cy="621360"/>
          </a:xfrm>
          <a:prstGeom prst="rect">
            <a:avLst/>
          </a:prstGeom>
          <a:solidFill>
            <a:srgbClr val="1621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5"/>
          <p:cNvSpPr/>
          <p:nvPr/>
        </p:nvSpPr>
        <p:spPr>
          <a:xfrm>
            <a:off x="274320" y="1280160"/>
            <a:ext cx="1371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Lambda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8" name="Text 6"/>
          <p:cNvSpPr/>
          <p:nvPr/>
        </p:nvSpPr>
        <p:spPr>
          <a:xfrm>
            <a:off x="1783080" y="1280160"/>
            <a:ext cx="69490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</a:rPr>
              <a:t>Write tiny anonymous functions in one line — no def needed.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29" name="Shape 7"/>
          <p:cNvSpPr/>
          <p:nvPr/>
        </p:nvSpPr>
        <p:spPr>
          <a:xfrm>
            <a:off x="274320" y="2011680"/>
            <a:ext cx="8595000" cy="62136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8"/>
          <p:cNvSpPr/>
          <p:nvPr/>
        </p:nvSpPr>
        <p:spPr>
          <a:xfrm>
            <a:off x="274320" y="2011680"/>
            <a:ext cx="1371240" cy="621360"/>
          </a:xfrm>
          <a:prstGeom prst="rect">
            <a:avLst/>
          </a:prstGeom>
          <a:solidFill>
            <a:srgbClr val="1621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9"/>
          <p:cNvSpPr/>
          <p:nvPr/>
        </p:nvSpPr>
        <p:spPr>
          <a:xfrm>
            <a:off x="274320" y="2011680"/>
            <a:ext cx="1371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Map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Text 10"/>
          <p:cNvSpPr/>
          <p:nvPr/>
        </p:nvSpPr>
        <p:spPr>
          <a:xfrm>
            <a:off x="1783080" y="2011680"/>
            <a:ext cx="69490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</a:rPr>
              <a:t>Transform every element of a list using a function.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33" name="Shape 11"/>
          <p:cNvSpPr/>
          <p:nvPr/>
        </p:nvSpPr>
        <p:spPr>
          <a:xfrm>
            <a:off x="274320" y="2743200"/>
            <a:ext cx="8595000" cy="62136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Shape 12"/>
          <p:cNvSpPr/>
          <p:nvPr/>
        </p:nvSpPr>
        <p:spPr>
          <a:xfrm>
            <a:off x="274320" y="2743200"/>
            <a:ext cx="1371240" cy="621360"/>
          </a:xfrm>
          <a:prstGeom prst="rect">
            <a:avLst/>
          </a:prstGeom>
          <a:solidFill>
            <a:srgbClr val="1621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13"/>
          <p:cNvSpPr/>
          <p:nvPr/>
        </p:nvSpPr>
        <p:spPr>
          <a:xfrm>
            <a:off x="274320" y="2743200"/>
            <a:ext cx="1371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Filter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6" name="Text 14"/>
          <p:cNvSpPr/>
          <p:nvPr/>
        </p:nvSpPr>
        <p:spPr>
          <a:xfrm>
            <a:off x="1783080" y="2743200"/>
            <a:ext cx="69490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</a:rPr>
              <a:t>Screen elements from a list based on a True/False condition.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37" name="Shape 15"/>
          <p:cNvSpPr/>
          <p:nvPr/>
        </p:nvSpPr>
        <p:spPr>
          <a:xfrm>
            <a:off x="274320" y="3474720"/>
            <a:ext cx="8595000" cy="62136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Shape 16"/>
          <p:cNvSpPr/>
          <p:nvPr/>
        </p:nvSpPr>
        <p:spPr>
          <a:xfrm>
            <a:off x="274320" y="3474720"/>
            <a:ext cx="1371240" cy="621360"/>
          </a:xfrm>
          <a:prstGeom prst="rect">
            <a:avLst/>
          </a:prstGeom>
          <a:solidFill>
            <a:srgbClr val="1621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17"/>
          <p:cNvSpPr/>
          <p:nvPr/>
        </p:nvSpPr>
        <p:spPr>
          <a:xfrm>
            <a:off x="274320" y="3474720"/>
            <a:ext cx="1371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Reduce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0" name="Text 18"/>
          <p:cNvSpPr/>
          <p:nvPr/>
        </p:nvSpPr>
        <p:spPr>
          <a:xfrm>
            <a:off x="1783080" y="3474720"/>
            <a:ext cx="69490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</a:rPr>
              <a:t>Collapse a list into one cumulative value step-by-step.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41" name="Shape 19"/>
          <p:cNvSpPr/>
          <p:nvPr/>
        </p:nvSpPr>
        <p:spPr>
          <a:xfrm>
            <a:off x="274320" y="4206240"/>
            <a:ext cx="8595000" cy="62136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20"/>
          <p:cNvSpPr/>
          <p:nvPr/>
        </p:nvSpPr>
        <p:spPr>
          <a:xfrm>
            <a:off x="274320" y="4206240"/>
            <a:ext cx="1371240" cy="621360"/>
          </a:xfrm>
          <a:prstGeom prst="rect">
            <a:avLst/>
          </a:prstGeom>
          <a:solidFill>
            <a:srgbClr val="1621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21"/>
          <p:cNvSpPr/>
          <p:nvPr/>
        </p:nvSpPr>
        <p:spPr>
          <a:xfrm>
            <a:off x="274320" y="4206240"/>
            <a:ext cx="1371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</a:rPr>
              <a:t>Combine Them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4" name="Text 22"/>
          <p:cNvSpPr/>
          <p:nvPr/>
        </p:nvSpPr>
        <p:spPr>
          <a:xfrm>
            <a:off x="1783080" y="4206240"/>
            <a:ext cx="69490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</a:rPr>
              <a:t>lambda + map/filter/reduce = powerful, elegant one-liners.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45" name="Text 23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0aec0"/>
                </a:solidFill>
                <a:latin typeface="Calibri"/>
              </a:rPr>
              <a:t>Chapter 15 — Functional Programming in Python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2026-02-18T04:18:08Z</dcterms:created>
  <dc:creator>PptxGenJS</dc:creator>
  <dc:description/>
  <dc:language>en-IN</dc:language>
  <cp:lastModifiedBy/>
  <dcterms:modified xsi:type="dcterms:W3CDTF">2026-02-18T22:37:55Z</dcterms:modified>
  <cp:revision>2</cp:revision>
  <dc:subject>PptxGenJS Presentation</dc:subject>
  <dc:title>Functional Programming in Python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