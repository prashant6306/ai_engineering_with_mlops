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71E4FE4-F238-4002-A56C-20B755F16379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954366-9E84-4172-966F-3E8FB61A0F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2C2666-4AF9-4C8D-B670-F2A7B61D9A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E33C8C-2219-4473-A471-E90216A04F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5E12E3-7936-4B4A-9516-1D15995D901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616A45-8E97-4D51-A94B-46FF055D2C0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B349BB-0A0A-4038-AD7F-F2A6E54B35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B5491F-2023-4133-B454-CB90EFFAC9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146FDA-F5E1-42AC-94EA-ECE6902CA9F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CD3524-E515-4F10-9C7C-82756C124F6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BFD284-BA28-4F65-B62E-FF20B3C3978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EE605D-52A0-435D-AAD0-CB9D3FE46A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ED50B5-0E96-4A33-9B2B-F27A16B6CF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109800" y="0"/>
            <a:ext cx="9033480" cy="45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640080"/>
            <a:ext cx="2010960" cy="4107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640080"/>
            <a:ext cx="2010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15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57200" y="1188720"/>
            <a:ext cx="6400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Functional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1920240"/>
            <a:ext cx="6400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00b4d8"/>
                </a:solidFill>
                <a:latin typeface="Calibri"/>
                <a:ea typeface="Calibri"/>
              </a:rPr>
              <a:t>Programming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265176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00" spc="-1" strike="noStrike">
                <a:solidFill>
                  <a:srgbClr val="f5f5f5"/>
                </a:solidFill>
                <a:latin typeface="Calibri"/>
                <a:ea typeface="Calibri"/>
              </a:rPr>
              <a:t>in Python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342900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a0aec0"/>
                </a:solidFill>
                <a:latin typeface="Calibri"/>
                <a:ea typeface="Calibri"/>
              </a:rPr>
              <a:t>Lambda · Map · Filter · Reduce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6766560" y="731520"/>
            <a:ext cx="2102400" cy="36568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6812280" y="822960"/>
            <a:ext cx="201096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94560"/>
                </a:solidFill>
                <a:latin typeface="Courier New"/>
                <a:ea typeface="Courier New"/>
              </a:rPr>
              <a:t>lambda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x: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x * x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b4d8"/>
                </a:solidFill>
                <a:latin typeface="Courier New"/>
                <a:ea typeface="Courier New"/>
              </a:rPr>
              <a:t>map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(f, lst)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fb950"/>
                </a:solidFill>
                <a:latin typeface="Courier New"/>
                <a:ea typeface="Courier New"/>
              </a:rPr>
              <a:t>filter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(fn, it)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a657"/>
                </a:solidFill>
                <a:latin typeface="Courier New"/>
                <a:ea typeface="Courier New"/>
              </a:rPr>
              <a:t>reduce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(fn, it)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What We'll Cover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365760" y="1005840"/>
            <a:ext cx="4022640" cy="164520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3"/>
          <p:cNvSpPr/>
          <p:nvPr/>
        </p:nvSpPr>
        <p:spPr>
          <a:xfrm>
            <a:off x="365760" y="1005840"/>
            <a:ext cx="72360" cy="16452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4"/>
          <p:cNvSpPr/>
          <p:nvPr/>
        </p:nvSpPr>
        <p:spPr>
          <a:xfrm>
            <a:off x="548640" y="114300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  <a:ea typeface="DejaVu Sans"/>
              </a:rPr>
              <a:t>01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548640" y="15087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Lambda Functions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48640" y="1874520"/>
            <a:ext cx="3656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DejaVu Sans"/>
              </a:rPr>
              <a:t>Anonymous, inline mini-functions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4754880" y="1005840"/>
            <a:ext cx="4022640" cy="164520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8"/>
          <p:cNvSpPr/>
          <p:nvPr/>
        </p:nvSpPr>
        <p:spPr>
          <a:xfrm>
            <a:off x="4754880" y="1005840"/>
            <a:ext cx="72360" cy="16452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9"/>
          <p:cNvSpPr/>
          <p:nvPr/>
        </p:nvSpPr>
        <p:spPr>
          <a:xfrm>
            <a:off x="4937760" y="114300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  <a:ea typeface="DejaVu Sans"/>
              </a:rPr>
              <a:t>02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4937760" y="15087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Map Function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4937760" y="1874520"/>
            <a:ext cx="3656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DejaVu Sans"/>
              </a:rPr>
              <a:t>Apply a function to every item in an iterable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365760" y="2880360"/>
            <a:ext cx="4022640" cy="164520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3"/>
          <p:cNvSpPr/>
          <p:nvPr/>
        </p:nvSpPr>
        <p:spPr>
          <a:xfrm>
            <a:off x="365760" y="2880360"/>
            <a:ext cx="72360" cy="16452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4"/>
          <p:cNvSpPr/>
          <p:nvPr/>
        </p:nvSpPr>
        <p:spPr>
          <a:xfrm>
            <a:off x="548640" y="301752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  <a:ea typeface="DejaVu Sans"/>
              </a:rPr>
              <a:t>03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548640" y="33832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Filter Function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548640" y="3749040"/>
            <a:ext cx="3656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DejaVu Sans"/>
              </a:rPr>
              <a:t>Select items based on a condition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4754880" y="2880360"/>
            <a:ext cx="4022640" cy="1645200"/>
          </a:xfrm>
          <a:prstGeom prst="rect">
            <a:avLst/>
          </a:prstGeom>
          <a:solidFill>
            <a:srgbClr val="0f3460"/>
          </a:solidFill>
          <a:ln w="0">
            <a:noFill/>
          </a:ln>
          <a:effectLst>
            <a:outerShdw algn="bl" blurRad="763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8"/>
          <p:cNvSpPr/>
          <p:nvPr/>
        </p:nvSpPr>
        <p:spPr>
          <a:xfrm>
            <a:off x="4754880" y="2880360"/>
            <a:ext cx="72360" cy="16452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9"/>
          <p:cNvSpPr/>
          <p:nvPr/>
        </p:nvSpPr>
        <p:spPr>
          <a:xfrm>
            <a:off x="4937760" y="301752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  <a:ea typeface="DejaVu Sans"/>
              </a:rPr>
              <a:t>04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4937760" y="33832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Reduce Function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4937760" y="3749040"/>
            <a:ext cx="3656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DejaVu Sans"/>
              </a:rPr>
              <a:t>Accumulate items into a single value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Lambda Functions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274320" y="868680"/>
            <a:ext cx="8594640" cy="127944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3"/>
          <p:cNvSpPr/>
          <p:nvPr/>
        </p:nvSpPr>
        <p:spPr>
          <a:xfrm>
            <a:off x="457200" y="9144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DejaVu Sans"/>
              </a:rPr>
              <a:t>What is a Lambda Function?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457200" y="128016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A lambda function is a small, anonymous (nameless) function defined with the lambda keyword. It's a throwaway function — created inline for quick, one-time use without being formally named or stored.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274320" y="2331720"/>
            <a:ext cx="2742480" cy="14166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6"/>
          <p:cNvSpPr/>
          <p:nvPr/>
        </p:nvSpPr>
        <p:spPr>
          <a:xfrm>
            <a:off x="274320" y="2331720"/>
            <a:ext cx="2742480" cy="72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7"/>
          <p:cNvSpPr/>
          <p:nvPr/>
        </p:nvSpPr>
        <p:spPr>
          <a:xfrm>
            <a:off x="36576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①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Anonymous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365760" y="2743200"/>
            <a:ext cx="2559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Has no name — defined on the fly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3200400" y="2331720"/>
            <a:ext cx="2742480" cy="14166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10"/>
          <p:cNvSpPr/>
          <p:nvPr/>
        </p:nvSpPr>
        <p:spPr>
          <a:xfrm>
            <a:off x="3200400" y="2331720"/>
            <a:ext cx="2742480" cy="72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1"/>
          <p:cNvSpPr/>
          <p:nvPr/>
        </p:nvSpPr>
        <p:spPr>
          <a:xfrm>
            <a:off x="329184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②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Single Expression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3291840" y="2743200"/>
            <a:ext cx="2559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Can only contain one expression (no multi-line logic)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126480" y="2331720"/>
            <a:ext cx="2742480" cy="14166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14"/>
          <p:cNvSpPr/>
          <p:nvPr/>
        </p:nvSpPr>
        <p:spPr>
          <a:xfrm>
            <a:off x="6126480" y="2331720"/>
            <a:ext cx="2742480" cy="72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5"/>
          <p:cNvSpPr/>
          <p:nvPr/>
        </p:nvSpPr>
        <p:spPr>
          <a:xfrm>
            <a:off x="6217920" y="24231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③ </a:t>
            </a: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Auto Return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217920" y="2743200"/>
            <a:ext cx="2559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Automatically returns the expression result — no return keyword needed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3" name="Shape 17"/>
          <p:cNvSpPr/>
          <p:nvPr/>
        </p:nvSpPr>
        <p:spPr>
          <a:xfrm>
            <a:off x="274320" y="3886200"/>
            <a:ext cx="8594640" cy="8679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8"/>
          <p:cNvSpPr/>
          <p:nvPr/>
        </p:nvSpPr>
        <p:spPr>
          <a:xfrm>
            <a:off x="411480" y="391356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  <a:ea typeface="DejaVu Sans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411480" y="411480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94560"/>
                </a:solidFill>
                <a:latin typeface="Courier New"/>
                <a:ea typeface="Courier New"/>
              </a:rPr>
              <a:t>lambda </a:t>
            </a:r>
            <a:r>
              <a:rPr b="0" lang="en-US" sz="1700" spc="-1" strike="noStrike">
                <a:solidFill>
                  <a:srgbClr val="ffa657"/>
                </a:solidFill>
                <a:latin typeface="Courier New"/>
                <a:ea typeface="Courier New"/>
              </a:rPr>
              <a:t>arguments</a:t>
            </a:r>
            <a:r>
              <a:rPr b="0" lang="en-US" sz="1700" spc="-1" strike="noStrike">
                <a:solidFill>
                  <a:srgbClr val="ffffff"/>
                </a:solidFill>
                <a:latin typeface="Courier New"/>
                <a:ea typeface="Courier New"/>
              </a:rPr>
              <a:t> : </a:t>
            </a:r>
            <a:r>
              <a:rPr b="0" lang="en-US" sz="1700" spc="-1" strike="noStrike">
                <a:solidFill>
                  <a:srgbClr val="3fb950"/>
                </a:solidFill>
                <a:latin typeface="Courier New"/>
                <a:ea typeface="Courier New"/>
              </a:rPr>
              <a:t>expression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Lambda Functions — Examples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18288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3"/>
          <p:cNvSpPr/>
          <p:nvPr/>
        </p:nvSpPr>
        <p:spPr>
          <a:xfrm>
            <a:off x="32004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①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Multiply Two Numbers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274320" y="1161360"/>
            <a:ext cx="4068360" cy="6850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5"/>
          <p:cNvSpPr/>
          <p:nvPr/>
        </p:nvSpPr>
        <p:spPr>
          <a:xfrm>
            <a:off x="320040" y="1179720"/>
            <a:ext cx="3976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multiply = lambda p, q: p * q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print(multiply(6, 7))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320040" y="189288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42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320040" y="2148840"/>
            <a:ext cx="4022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Takes two numbers and returns their product. Works just like a normal function but in one line.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466344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9"/>
          <p:cNvSpPr/>
          <p:nvPr/>
        </p:nvSpPr>
        <p:spPr>
          <a:xfrm>
            <a:off x="480060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②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Check If a Number is Positive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4754880" y="1161360"/>
            <a:ext cx="4068360" cy="6850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1"/>
          <p:cNvSpPr/>
          <p:nvPr/>
        </p:nvSpPr>
        <p:spPr>
          <a:xfrm>
            <a:off x="4800600" y="1179720"/>
            <a:ext cx="3976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is_positive = lambda n: n &gt;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print(is_positive(-3))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4800600" y="189288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4800600" y="2148840"/>
            <a:ext cx="4022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Returns True if the number is greater than zero, False otherwise.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18288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5"/>
          <p:cNvSpPr/>
          <p:nvPr/>
        </p:nvSpPr>
        <p:spPr>
          <a:xfrm>
            <a:off x="32004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③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Convert Celsius to Fahrenheit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274320" y="3310200"/>
            <a:ext cx="4068360" cy="6850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7"/>
          <p:cNvSpPr/>
          <p:nvPr/>
        </p:nvSpPr>
        <p:spPr>
          <a:xfrm>
            <a:off x="320040" y="3328560"/>
            <a:ext cx="3976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to_fahrenheit = lambda c: (c * 9/5) + 32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print(to_fahrenheit(100))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4" name="Text 18"/>
          <p:cNvSpPr/>
          <p:nvPr/>
        </p:nvSpPr>
        <p:spPr>
          <a:xfrm>
            <a:off x="320040" y="404172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212.0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320040" y="4297680"/>
            <a:ext cx="4022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A real-world use case: converts temperature from Celsius to Fahrenheit inline.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6" name="Shape 20"/>
          <p:cNvSpPr/>
          <p:nvPr/>
        </p:nvSpPr>
        <p:spPr>
          <a:xfrm>
            <a:off x="466344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1"/>
          <p:cNvSpPr/>
          <p:nvPr/>
        </p:nvSpPr>
        <p:spPr>
          <a:xfrm>
            <a:off x="480060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④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Concatenate Two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4754880" y="3310200"/>
            <a:ext cx="4068360" cy="6850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23"/>
          <p:cNvSpPr/>
          <p:nvPr/>
        </p:nvSpPr>
        <p:spPr>
          <a:xfrm>
            <a:off x="4800600" y="3328560"/>
            <a:ext cx="3976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join_words = lambda a, b: a + " " + b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print(join_words("Hello", "Python"))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0" name="Text 24"/>
          <p:cNvSpPr/>
          <p:nvPr/>
        </p:nvSpPr>
        <p:spPr>
          <a:xfrm>
            <a:off x="4800600" y="404172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Hello Python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4800600" y="4297680"/>
            <a:ext cx="4022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Combines two strings with a space between them.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Map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274320" y="777240"/>
            <a:ext cx="8594640" cy="100512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3"/>
          <p:cNvSpPr/>
          <p:nvPr/>
        </p:nvSpPr>
        <p:spPr>
          <a:xfrm>
            <a:off x="457200" y="82296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map() applies a given function to every item in an iterable (list, tuple, etc.) and returns a map object (an iterator). We typically convert this to a list or tuple.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74320" y="1874520"/>
            <a:ext cx="411408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5"/>
          <p:cNvSpPr/>
          <p:nvPr/>
        </p:nvSpPr>
        <p:spPr>
          <a:xfrm>
            <a:off x="411480" y="1892880"/>
            <a:ext cx="1828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  <a:ea typeface="DejaVu Sans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411480" y="208476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ourier New"/>
                <a:ea typeface="Courier New"/>
              </a:rPr>
              <a:t>map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(function, iterable)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4572000" y="1874520"/>
            <a:ext cx="4296960" cy="137088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8"/>
          <p:cNvSpPr/>
          <p:nvPr/>
        </p:nvSpPr>
        <p:spPr>
          <a:xfrm>
            <a:off x="4709160" y="196596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9"/>
          <p:cNvSpPr/>
          <p:nvPr/>
        </p:nvSpPr>
        <p:spPr>
          <a:xfrm>
            <a:off x="4709160" y="19659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DejaVu Sans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5029200" y="198432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Takes a function and an iterable as arguments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4709160" y="237744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2"/>
          <p:cNvSpPr/>
          <p:nvPr/>
        </p:nvSpPr>
        <p:spPr>
          <a:xfrm>
            <a:off x="4709160" y="23774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DejaVu Sans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5029200" y="239580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Applies the function to each element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4709160" y="2788920"/>
            <a:ext cx="273600" cy="2736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5"/>
          <p:cNvSpPr/>
          <p:nvPr/>
        </p:nvSpPr>
        <p:spPr>
          <a:xfrm>
            <a:off x="4709160" y="27889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DejaVu San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5029200" y="280728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Returns a map object — convert it with list() or tuple()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231120" y="29664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Example: Cube every number in a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274320" y="3537720"/>
            <a:ext cx="8545680" cy="15022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9"/>
          <p:cNvSpPr/>
          <p:nvPr/>
        </p:nvSpPr>
        <p:spPr>
          <a:xfrm>
            <a:off x="411480" y="3657600"/>
            <a:ext cx="8320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values = </a:t>
            </a:r>
            <a:r>
              <a:rPr b="0" lang="en-US" sz="1100" spc="-1" strike="noStrike">
                <a:solidFill>
                  <a:srgbClr val="ffa657"/>
                </a:solidFill>
                <a:latin typeface="Courier New"/>
                <a:ea typeface="Courier New"/>
              </a:rPr>
              <a:t>[2, 3, 4, 5, 6]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def 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cube(n):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    </a:t>
            </a: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return </a:t>
            </a:r>
            <a:r>
              <a:rPr b="0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n ** 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cubed = </a:t>
            </a:r>
            <a:r>
              <a:rPr b="0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list(</a:t>
            </a:r>
            <a:r>
              <a:rPr b="1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map</a:t>
            </a:r>
            <a:r>
              <a:rPr b="0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(cube, values))</a:t>
            </a:r>
            <a:r>
              <a:rPr b="0" lang="en-US" sz="1100" spc="-1" strike="noStrike">
                <a:solidFill>
                  <a:srgbClr val="a0aec0"/>
                </a:solidFill>
                <a:latin typeface="Courier New"/>
                <a:ea typeface="Courier New"/>
              </a:rPr>
              <a:t>     # Output: </a:t>
            </a:r>
            <a:r>
              <a:rPr b="0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[8, 27, 64, 125, 216]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Map + Lambda — Power Combo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18288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3"/>
          <p:cNvSpPr/>
          <p:nvPr/>
        </p:nvSpPr>
        <p:spPr>
          <a:xfrm>
            <a:off x="182880" y="777240"/>
            <a:ext cx="63360" cy="20109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4"/>
          <p:cNvSpPr/>
          <p:nvPr/>
        </p:nvSpPr>
        <p:spPr>
          <a:xfrm>
            <a:off x="32004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①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Double every price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274320" y="117036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6"/>
          <p:cNvSpPr/>
          <p:nvPr/>
        </p:nvSpPr>
        <p:spPr>
          <a:xfrm>
            <a:off x="320040" y="118872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prices = [10, 25, 40, 55]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doubled = list(map(lambda p: p * 2, prices))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print(doubled)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320040" y="196596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[20, 50, 80, 110]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320040" y="22035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Doubles each price in the list using map + lambda in a single compact line.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466344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10"/>
          <p:cNvSpPr/>
          <p:nvPr/>
        </p:nvSpPr>
        <p:spPr>
          <a:xfrm>
            <a:off x="4663440" y="777240"/>
            <a:ext cx="63360" cy="20109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1"/>
          <p:cNvSpPr/>
          <p:nvPr/>
        </p:nvSpPr>
        <p:spPr>
          <a:xfrm>
            <a:off x="480060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②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Convert temperatures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4754880" y="117036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3"/>
          <p:cNvSpPr/>
          <p:nvPr/>
        </p:nvSpPr>
        <p:spPr>
          <a:xfrm>
            <a:off x="4800600" y="118872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celsius = [0, 20, 37, 100]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fahrenheit = list(map(lambda c: (c*9/5)+32, celsius))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print(fahrenheit)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4800600" y="196596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[32.0, 68.0, 98.6, 212.0]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4800600" y="22035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Converts each Celsius value to Fahrenheit — no loop needed.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Shape 16"/>
          <p:cNvSpPr/>
          <p:nvPr/>
        </p:nvSpPr>
        <p:spPr>
          <a:xfrm>
            <a:off x="18288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7"/>
          <p:cNvSpPr/>
          <p:nvPr/>
        </p:nvSpPr>
        <p:spPr>
          <a:xfrm>
            <a:off x="182880" y="2926080"/>
            <a:ext cx="63360" cy="20109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8"/>
          <p:cNvSpPr/>
          <p:nvPr/>
        </p:nvSpPr>
        <p:spPr>
          <a:xfrm>
            <a:off x="32004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③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Get string lengths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1" name="Shape 19"/>
          <p:cNvSpPr/>
          <p:nvPr/>
        </p:nvSpPr>
        <p:spPr>
          <a:xfrm>
            <a:off x="274320" y="331920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20"/>
          <p:cNvSpPr/>
          <p:nvPr/>
        </p:nvSpPr>
        <p:spPr>
          <a:xfrm>
            <a:off x="320040" y="333756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fruits = ['apple','kiwi','banana','fig']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lengths = list(map(lambda f: len(f), fruits))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print(lengths)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320040" y="411480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[5, 4, 6,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320040" y="435240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Finds the character length of each fruit name in the list.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5" name="Shape 23"/>
          <p:cNvSpPr/>
          <p:nvPr/>
        </p:nvSpPr>
        <p:spPr>
          <a:xfrm>
            <a:off x="466344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24"/>
          <p:cNvSpPr/>
          <p:nvPr/>
        </p:nvSpPr>
        <p:spPr>
          <a:xfrm>
            <a:off x="4663440" y="2926080"/>
            <a:ext cx="63360" cy="20109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25"/>
          <p:cNvSpPr/>
          <p:nvPr/>
        </p:nvSpPr>
        <p:spPr>
          <a:xfrm>
            <a:off x="480060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④ </a:t>
            </a: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Add tax to items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Shape 26"/>
          <p:cNvSpPr/>
          <p:nvPr/>
        </p:nvSpPr>
        <p:spPr>
          <a:xfrm>
            <a:off x="4754880" y="331920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7"/>
          <p:cNvSpPr/>
          <p:nvPr/>
        </p:nvSpPr>
        <p:spPr>
          <a:xfrm>
            <a:off x="4800600" y="333756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costs = [100, 200, 350]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with_tax = list(map(lambda x: x * 1.18, costs))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print(with_tax)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0" name="Text 28"/>
          <p:cNvSpPr/>
          <p:nvPr/>
        </p:nvSpPr>
        <p:spPr>
          <a:xfrm>
            <a:off x="4800600" y="411480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[118.0, 236.0, 413.0]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Text 29"/>
          <p:cNvSpPr/>
          <p:nvPr/>
        </p:nvSpPr>
        <p:spPr>
          <a:xfrm>
            <a:off x="4800600" y="435240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Applies an 18% tax to each cost — perfect for financial calculations.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Filter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274320" y="777240"/>
            <a:ext cx="8594640" cy="100512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"/>
          <p:cNvSpPr/>
          <p:nvPr/>
        </p:nvSpPr>
        <p:spPr>
          <a:xfrm>
            <a:off x="457200" y="82296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filter() applies a function to each item in an iterable and returns only the items for which the function returns True. It is used to screen or sieve data based on a condition.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274320" y="1874520"/>
            <a:ext cx="411408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5"/>
          <p:cNvSpPr/>
          <p:nvPr/>
        </p:nvSpPr>
        <p:spPr>
          <a:xfrm>
            <a:off x="411480" y="1892880"/>
            <a:ext cx="1828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  <a:ea typeface="DejaVu Sans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11480" y="208476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26769"/>
                </a:solidFill>
                <a:latin typeface="Courier New"/>
                <a:ea typeface="Courier New"/>
              </a:rPr>
              <a:t>filter</a:t>
            </a:r>
            <a:r>
              <a:rPr b="0" lang="en-US" sz="1400" spc="-1" strike="noStrike">
                <a:solidFill>
                  <a:srgbClr val="ffffff"/>
                </a:solidFill>
                <a:latin typeface="Courier New"/>
                <a:ea typeface="Courier New"/>
              </a:rPr>
              <a:t>(function, iterable)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4572000" y="1874520"/>
            <a:ext cx="4296960" cy="137088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8"/>
          <p:cNvSpPr/>
          <p:nvPr/>
        </p:nvSpPr>
        <p:spPr>
          <a:xfrm>
            <a:off x="4709160" y="1965960"/>
            <a:ext cx="273600" cy="273600"/>
          </a:xfrm>
          <a:prstGeom prst="ellipse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9"/>
          <p:cNvSpPr/>
          <p:nvPr/>
        </p:nvSpPr>
        <p:spPr>
          <a:xfrm>
            <a:off x="4709160" y="19659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5029200" y="198432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Applies function to each element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4709160" y="2377440"/>
            <a:ext cx="273600" cy="273600"/>
          </a:xfrm>
          <a:prstGeom prst="ellipse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2"/>
          <p:cNvSpPr/>
          <p:nvPr/>
        </p:nvSpPr>
        <p:spPr>
          <a:xfrm>
            <a:off x="4709160" y="23774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5029200" y="239580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Keeps element if function returns True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4709160" y="2788920"/>
            <a:ext cx="273600" cy="273600"/>
          </a:xfrm>
          <a:prstGeom prst="ellipse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5"/>
          <p:cNvSpPr/>
          <p:nvPr/>
        </p:nvSpPr>
        <p:spPr>
          <a:xfrm>
            <a:off x="4709160" y="27889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5029200" y="280728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f5f5"/>
                </a:solidFill>
                <a:latin typeface="Calibri"/>
                <a:ea typeface="DejaVu Sans"/>
              </a:rPr>
              <a:t>Discards elements where function returns False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274320" y="33375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DejaVu Sans"/>
              </a:rPr>
              <a:t>Example: Filter students who passed (score ≥ 50)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Shape 18"/>
          <p:cNvSpPr/>
          <p:nvPr/>
        </p:nvSpPr>
        <p:spPr>
          <a:xfrm>
            <a:off x="274320" y="3639240"/>
            <a:ext cx="8594640" cy="114228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9"/>
          <p:cNvSpPr/>
          <p:nvPr/>
        </p:nvSpPr>
        <p:spPr>
          <a:xfrm>
            <a:off x="411480" y="3657600"/>
            <a:ext cx="8320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scores</a:t>
            </a:r>
            <a:r>
              <a:rPr b="0" lang="en-US" sz="1100" spc="-1" strike="noStrike">
                <a:solidFill>
                  <a:srgbClr val="ffa657"/>
                </a:solidFill>
                <a:latin typeface="Courier New"/>
                <a:ea typeface="Courier New"/>
              </a:rPr>
              <a:t> = [42, 78, 55, 33, 91, 47, 60]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passed = list(</a:t>
            </a:r>
            <a:r>
              <a:rPr b="1" lang="en-US" sz="1100" spc="-1" strike="noStrike">
                <a:solidFill>
                  <a:srgbClr val="a26769"/>
                </a:solidFill>
                <a:latin typeface="Courier New"/>
                <a:ea typeface="Courier New"/>
              </a:rPr>
              <a:t>filter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(lambda s: s &gt;= 50, scores))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urier New"/>
                <a:ea typeface="Courier New"/>
              </a:rPr>
              <a:t>print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(passed)     # Output: </a:t>
            </a:r>
            <a:r>
              <a:rPr b="0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[78, 55, 91, 60]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6d2e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Filter — More Examples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18288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3"/>
          <p:cNvSpPr/>
          <p:nvPr/>
        </p:nvSpPr>
        <p:spPr>
          <a:xfrm>
            <a:off x="182880" y="777240"/>
            <a:ext cx="63360" cy="201096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4"/>
          <p:cNvSpPr/>
          <p:nvPr/>
        </p:nvSpPr>
        <p:spPr>
          <a:xfrm>
            <a:off x="32004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①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Keep only even numbers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274320" y="117036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6"/>
          <p:cNvSpPr/>
          <p:nvPr/>
        </p:nvSpPr>
        <p:spPr>
          <a:xfrm>
            <a:off x="320040" y="118872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nums = [1, 2, 3, 4, 5, 6, 7, 8]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evens = list(filter(lambda n: n%2==0, nums))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print(evens)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320040" y="196596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[2, 4, 6, 8]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320040" y="22035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Filters the list to keep only numbers divisible by 2.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466344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10"/>
          <p:cNvSpPr/>
          <p:nvPr/>
        </p:nvSpPr>
        <p:spPr>
          <a:xfrm>
            <a:off x="4663440" y="777240"/>
            <a:ext cx="63360" cy="201096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1"/>
          <p:cNvSpPr/>
          <p:nvPr/>
        </p:nvSpPr>
        <p:spPr>
          <a:xfrm>
            <a:off x="480060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②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Words longer than 4 letters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4754880" y="117036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3"/>
          <p:cNvSpPr/>
          <p:nvPr/>
        </p:nvSpPr>
        <p:spPr>
          <a:xfrm>
            <a:off x="4800600" y="118872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words = ['cat','elephant','ox','tiger']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long_w = list(filter(lambda w: len(w)&gt;4, words))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print(long_w)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4800600" y="196596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['elephant', 'tiger']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4800600" y="22035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Keeps only words with more than 4 characters.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18288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Shape 17"/>
          <p:cNvSpPr/>
          <p:nvPr/>
        </p:nvSpPr>
        <p:spPr>
          <a:xfrm>
            <a:off x="182880" y="2926080"/>
            <a:ext cx="63360" cy="201096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8"/>
          <p:cNvSpPr/>
          <p:nvPr/>
        </p:nvSpPr>
        <p:spPr>
          <a:xfrm>
            <a:off x="32004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③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Adults only (age ≥ 18)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1" name="Shape 19"/>
          <p:cNvSpPr/>
          <p:nvPr/>
        </p:nvSpPr>
        <p:spPr>
          <a:xfrm>
            <a:off x="274320" y="331920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0"/>
          <p:cNvSpPr/>
          <p:nvPr/>
        </p:nvSpPr>
        <p:spPr>
          <a:xfrm>
            <a:off x="320040" y="333756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ages = [12, 25, 17, 30, 15, 22]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adults = list(filter(lambda a: a&gt;=18, ages))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print(adults)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3" name="Text 21"/>
          <p:cNvSpPr/>
          <p:nvPr/>
        </p:nvSpPr>
        <p:spPr>
          <a:xfrm>
            <a:off x="320040" y="411480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[25, 30, 22]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320040" y="435240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Filters out underage values — useful in user data validation.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5" name="Shape 23"/>
          <p:cNvSpPr/>
          <p:nvPr/>
        </p:nvSpPr>
        <p:spPr>
          <a:xfrm>
            <a:off x="466344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Shape 24"/>
          <p:cNvSpPr/>
          <p:nvPr/>
        </p:nvSpPr>
        <p:spPr>
          <a:xfrm>
            <a:off x="4663440" y="2926080"/>
            <a:ext cx="63360" cy="201096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25"/>
          <p:cNvSpPr/>
          <p:nvPr/>
        </p:nvSpPr>
        <p:spPr>
          <a:xfrm>
            <a:off x="480060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④ </a:t>
            </a:r>
            <a:r>
              <a:rPr b="1" lang="en-US" sz="1200" spc="-1" strike="noStrike">
                <a:solidFill>
                  <a:srgbClr val="a26769"/>
                </a:solidFill>
                <a:latin typeface="Calibri"/>
                <a:ea typeface="DejaVu Sans"/>
              </a:rPr>
              <a:t>Remove empty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4754880" y="3319200"/>
            <a:ext cx="4068360" cy="7491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7"/>
          <p:cNvSpPr/>
          <p:nvPr/>
        </p:nvSpPr>
        <p:spPr>
          <a:xfrm>
            <a:off x="4800600" y="333756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entries = ['Alice','','Bob','','Carol']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valid = list(filter(lambda s: s != '', entries))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print(valid)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0" name="Text 28"/>
          <p:cNvSpPr/>
          <p:nvPr/>
        </p:nvSpPr>
        <p:spPr>
          <a:xfrm>
            <a:off x="4800600" y="411480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['Alice', 'Bob', 'Carol']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4800600" y="435240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Cleans data by removing blank entries from a list.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Reduce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274320" y="777240"/>
            <a:ext cx="8594640" cy="11422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3"/>
          <p:cNvSpPr/>
          <p:nvPr/>
        </p:nvSpPr>
        <p:spPr>
          <a:xfrm>
            <a:off x="457200" y="82296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reduce() from the functools module takes a function and an iterable, applies the function to the first two items, then applies it to that result and the next item — continuing until a single cumulative value is produced.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274320" y="2011680"/>
            <a:ext cx="411408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5"/>
          <p:cNvSpPr/>
          <p:nvPr/>
        </p:nvSpPr>
        <p:spPr>
          <a:xfrm>
            <a:off x="411480" y="2030040"/>
            <a:ext cx="2742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  <a:ea typeface="DejaVu Sans"/>
              </a:rPr>
              <a:t>IMPORT REQUIRED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411480" y="222192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94560"/>
                </a:solidFill>
                <a:latin typeface="Courier New"/>
                <a:ea typeface="Courier New"/>
              </a:rPr>
              <a:t>from </a:t>
            </a:r>
            <a:r>
              <a:rPr b="0" lang="en-US" sz="1300" spc="-1" strike="noStrike">
                <a:solidFill>
                  <a:srgbClr val="ffa657"/>
                </a:solidFill>
                <a:latin typeface="Courier New"/>
                <a:ea typeface="Courier New"/>
              </a:rPr>
              <a:t>functools </a:t>
            </a:r>
            <a:r>
              <a:rPr b="1" lang="en-US" sz="1300" spc="-1" strike="noStrike">
                <a:solidFill>
                  <a:srgbClr val="e94560"/>
                </a:solidFill>
                <a:latin typeface="Courier New"/>
                <a:ea typeface="Courier New"/>
              </a:rPr>
              <a:t>import </a:t>
            </a:r>
            <a:r>
              <a:rPr b="0" lang="en-US" sz="1300" spc="-1" strike="noStrike">
                <a:solidFill>
                  <a:srgbClr val="00b4d8"/>
                </a:solidFill>
                <a:latin typeface="Courier New"/>
                <a:ea typeface="Courier New"/>
              </a:rPr>
              <a:t>reduce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4572000" y="2011680"/>
            <a:ext cx="429696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8"/>
          <p:cNvSpPr/>
          <p:nvPr/>
        </p:nvSpPr>
        <p:spPr>
          <a:xfrm>
            <a:off x="4709160" y="2030040"/>
            <a:ext cx="1828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a0aec0"/>
                </a:solidFill>
                <a:latin typeface="Calibri"/>
                <a:ea typeface="DejaVu Sans"/>
              </a:rPr>
              <a:t>SYNTAX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4709160" y="2221920"/>
            <a:ext cx="4022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b85042"/>
                </a:solidFill>
                <a:latin typeface="Courier New"/>
                <a:ea typeface="Courier New"/>
              </a:rPr>
              <a:t>reduce</a:t>
            </a:r>
            <a:r>
              <a:rPr b="0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(fn, iterable[, init])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274320" y="29260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a58c"/>
                </a:solidFill>
                <a:latin typeface="Calibri"/>
                <a:ea typeface="DejaVu Sans"/>
              </a:rPr>
              <a:t>How reduce() works on [1, 2, 3, 4, 5] with addition: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274320" y="3273480"/>
            <a:ext cx="1919520" cy="59364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2"/>
          <p:cNvSpPr/>
          <p:nvPr/>
        </p:nvSpPr>
        <p:spPr>
          <a:xfrm>
            <a:off x="274320" y="327348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Step 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274320" y="352044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1+2=3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2212560" y="3566160"/>
            <a:ext cx="420840" cy="360"/>
          </a:xfrm>
          <a:prstGeom prst="line">
            <a:avLst/>
          </a:prstGeom>
          <a:ln w="19050">
            <a:solidFill>
              <a:srgbClr val="a0ae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15"/>
          <p:cNvSpPr/>
          <p:nvPr/>
        </p:nvSpPr>
        <p:spPr>
          <a:xfrm>
            <a:off x="2377440" y="3273480"/>
            <a:ext cx="1919520" cy="59364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6"/>
          <p:cNvSpPr/>
          <p:nvPr/>
        </p:nvSpPr>
        <p:spPr>
          <a:xfrm>
            <a:off x="2377440" y="327348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Step 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2377440" y="352044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3+3=6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4315680" y="3566160"/>
            <a:ext cx="420840" cy="360"/>
          </a:xfrm>
          <a:prstGeom prst="line">
            <a:avLst/>
          </a:prstGeom>
          <a:ln w="19050">
            <a:solidFill>
              <a:srgbClr val="a0ae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19"/>
          <p:cNvSpPr/>
          <p:nvPr/>
        </p:nvSpPr>
        <p:spPr>
          <a:xfrm>
            <a:off x="4480560" y="3273480"/>
            <a:ext cx="1919520" cy="59364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20"/>
          <p:cNvSpPr/>
          <p:nvPr/>
        </p:nvSpPr>
        <p:spPr>
          <a:xfrm>
            <a:off x="4480560" y="327348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Step 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4480560" y="352044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6+4=10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6418800" y="3566160"/>
            <a:ext cx="420840" cy="360"/>
          </a:xfrm>
          <a:prstGeom prst="line">
            <a:avLst/>
          </a:prstGeom>
          <a:ln w="19050">
            <a:solidFill>
              <a:srgbClr val="a0ae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23"/>
          <p:cNvSpPr/>
          <p:nvPr/>
        </p:nvSpPr>
        <p:spPr>
          <a:xfrm>
            <a:off x="6583680" y="3273480"/>
            <a:ext cx="1919520" cy="59364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24"/>
          <p:cNvSpPr/>
          <p:nvPr/>
        </p:nvSpPr>
        <p:spPr>
          <a:xfrm>
            <a:off x="6583680" y="327348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Step 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6583680" y="352044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10+5=15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8" name="Shape 26"/>
          <p:cNvSpPr/>
          <p:nvPr/>
        </p:nvSpPr>
        <p:spPr>
          <a:xfrm>
            <a:off x="274320" y="3931920"/>
            <a:ext cx="8594640" cy="86796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7"/>
          <p:cNvSpPr/>
          <p:nvPr/>
        </p:nvSpPr>
        <p:spPr>
          <a:xfrm>
            <a:off x="411480" y="3959280"/>
            <a:ext cx="8320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a0aec0"/>
                </a:solidFill>
                <a:latin typeface="Courier New"/>
                <a:ea typeface="Courier New"/>
              </a:rPr>
              <a:t>from functools import reduce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result = reduce(</a:t>
            </a:r>
            <a:r>
              <a:rPr b="1" lang="en-US" sz="1100" spc="-1" strike="noStrike">
                <a:solidFill>
                  <a:srgbClr val="e94560"/>
                </a:solidFill>
                <a:latin typeface="Courier New"/>
                <a:ea typeface="Courier New"/>
              </a:rPr>
              <a:t>lambda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a, b: a + b, [1, 2, 3, 4, 5])   # Output: </a:t>
            </a:r>
            <a:r>
              <a:rPr b="1" lang="en-US" sz="1100" spc="-1" strike="noStrike">
                <a:solidFill>
                  <a:srgbClr val="3fb950"/>
                </a:solidFill>
                <a:latin typeface="Courier New"/>
                <a:ea typeface="Courier New"/>
              </a:rPr>
              <a:t>15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Reduce — More Examples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18288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3"/>
          <p:cNvSpPr/>
          <p:nvPr/>
        </p:nvSpPr>
        <p:spPr>
          <a:xfrm>
            <a:off x="182880" y="777240"/>
            <a:ext cx="63360" cy="201096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4"/>
          <p:cNvSpPr/>
          <p:nvPr/>
        </p:nvSpPr>
        <p:spPr>
          <a:xfrm>
            <a:off x="32004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①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Find Maximum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274320" y="1170360"/>
            <a:ext cx="406836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6"/>
          <p:cNvSpPr/>
          <p:nvPr/>
        </p:nvSpPr>
        <p:spPr>
          <a:xfrm>
            <a:off x="320040" y="1188720"/>
            <a:ext cx="3976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nums = [14, 7, 22, 9, 31]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max_val = reduce(lambda a,b: a if a&gt;b else b, nums)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print(max_val)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320040" y="198432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31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320040" y="222192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Uses reduce to find the largest value without using the max() built-in.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Shape 9"/>
          <p:cNvSpPr/>
          <p:nvPr/>
        </p:nvSpPr>
        <p:spPr>
          <a:xfrm>
            <a:off x="4663440" y="77724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Shape 10"/>
          <p:cNvSpPr/>
          <p:nvPr/>
        </p:nvSpPr>
        <p:spPr>
          <a:xfrm>
            <a:off x="4663440" y="777240"/>
            <a:ext cx="63360" cy="201096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1"/>
          <p:cNvSpPr/>
          <p:nvPr/>
        </p:nvSpPr>
        <p:spPr>
          <a:xfrm>
            <a:off x="4800600" y="8686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②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Calculate Factorial (5!)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4754880" y="1170360"/>
            <a:ext cx="406836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3"/>
          <p:cNvSpPr/>
          <p:nvPr/>
        </p:nvSpPr>
        <p:spPr>
          <a:xfrm>
            <a:off x="4800600" y="1188720"/>
            <a:ext cx="3976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result = reduce(lambda a,b: a*b, range(1,6))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print(result)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4800600" y="198432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120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4800600" y="222192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Multiplies 1×2×3×4×5 step-by-step — classic reduce use case.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18288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Shape 17"/>
          <p:cNvSpPr/>
          <p:nvPr/>
        </p:nvSpPr>
        <p:spPr>
          <a:xfrm>
            <a:off x="182880" y="2926080"/>
            <a:ext cx="63360" cy="201096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18"/>
          <p:cNvSpPr/>
          <p:nvPr/>
        </p:nvSpPr>
        <p:spPr>
          <a:xfrm>
            <a:off x="32004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③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Flatten a nested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9" name="Shape 19"/>
          <p:cNvSpPr/>
          <p:nvPr/>
        </p:nvSpPr>
        <p:spPr>
          <a:xfrm>
            <a:off x="274320" y="3319200"/>
            <a:ext cx="406836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0"/>
          <p:cNvSpPr/>
          <p:nvPr/>
        </p:nvSpPr>
        <p:spPr>
          <a:xfrm>
            <a:off x="320040" y="3337560"/>
            <a:ext cx="3976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nested = [[1,2],[3,4],[5,6]]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flat = reduce(lambda a,b: a+b, nested)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print(flat)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1" name="Text 21"/>
          <p:cNvSpPr/>
          <p:nvPr/>
        </p:nvSpPr>
        <p:spPr>
          <a:xfrm>
            <a:off x="320040" y="413316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[1, 2, 3, 4, 5, 6]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Text 22"/>
          <p:cNvSpPr/>
          <p:nvPr/>
        </p:nvSpPr>
        <p:spPr>
          <a:xfrm>
            <a:off x="320040" y="43707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Merges sub-lists into one flat list by concatenation.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3" name="Shape 23"/>
          <p:cNvSpPr/>
          <p:nvPr/>
        </p:nvSpPr>
        <p:spPr>
          <a:xfrm>
            <a:off x="4663440" y="2926080"/>
            <a:ext cx="4251240" cy="20109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Shape 24"/>
          <p:cNvSpPr/>
          <p:nvPr/>
        </p:nvSpPr>
        <p:spPr>
          <a:xfrm>
            <a:off x="4663440" y="2926080"/>
            <a:ext cx="63360" cy="201096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25"/>
          <p:cNvSpPr/>
          <p:nvPr/>
        </p:nvSpPr>
        <p:spPr>
          <a:xfrm>
            <a:off x="4800600" y="30175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④ </a:t>
            </a:r>
            <a:r>
              <a:rPr b="1" lang="en-US" sz="1200" spc="-1" strike="noStrike">
                <a:solidFill>
                  <a:srgbClr val="e7a58c"/>
                </a:solidFill>
                <a:latin typeface="Calibri"/>
                <a:ea typeface="DejaVu Sans"/>
              </a:rPr>
              <a:t>Build a sentence from words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Shape 26"/>
          <p:cNvSpPr/>
          <p:nvPr/>
        </p:nvSpPr>
        <p:spPr>
          <a:xfrm>
            <a:off x="4754880" y="3319200"/>
            <a:ext cx="4068360" cy="77652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27"/>
          <p:cNvSpPr/>
          <p:nvPr/>
        </p:nvSpPr>
        <p:spPr>
          <a:xfrm>
            <a:off x="4800600" y="3337560"/>
            <a:ext cx="3976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from functools import reduce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words=['Python','is','awesome']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sentence=reduce(lambda a,b: a+' '+b, words)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58a6ff"/>
                </a:solidFill>
                <a:latin typeface="Courier New"/>
                <a:ea typeface="Courier New"/>
              </a:rPr>
              <a:t>print(sentence)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8" name="Text 28"/>
          <p:cNvSpPr/>
          <p:nvPr/>
        </p:nvSpPr>
        <p:spPr>
          <a:xfrm>
            <a:off x="4800600" y="413316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fb950"/>
                </a:solidFill>
                <a:latin typeface="Calibri"/>
                <a:ea typeface="DejaVu Sans"/>
              </a:rPr>
              <a:t>Output: Python is awesome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Text 29"/>
          <p:cNvSpPr/>
          <p:nvPr/>
        </p:nvSpPr>
        <p:spPr>
          <a:xfrm>
            <a:off x="4800600" y="43707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Joins individual words into a full sentence using reduce.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Map vs Filter vs Reduce — At a Glance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182880" y="777240"/>
            <a:ext cx="8777520" cy="9594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3"/>
          <p:cNvSpPr/>
          <p:nvPr/>
        </p:nvSpPr>
        <p:spPr>
          <a:xfrm>
            <a:off x="182880" y="777240"/>
            <a:ext cx="913680" cy="9594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4"/>
          <p:cNvSpPr/>
          <p:nvPr/>
        </p:nvSpPr>
        <p:spPr>
          <a:xfrm>
            <a:off x="182880" y="777240"/>
            <a:ext cx="913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λ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182880" y="128016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lambda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1234440" y="82296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Anonymous 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1234440" y="114300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Input: arguments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1234440" y="137160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Output: single expression result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9" name="Shape 9"/>
          <p:cNvSpPr/>
          <p:nvPr/>
        </p:nvSpPr>
        <p:spPr>
          <a:xfrm>
            <a:off x="3291840" y="868680"/>
            <a:ext cx="8280" cy="77652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10"/>
          <p:cNvSpPr/>
          <p:nvPr/>
        </p:nvSpPr>
        <p:spPr>
          <a:xfrm>
            <a:off x="3429000" y="86868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  <a:ea typeface="DejaVu Sans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3429000" y="112464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94560"/>
                </a:solidFill>
                <a:latin typeface="Calibri"/>
                <a:ea typeface="DejaVu Sans"/>
              </a:rPr>
              <a:t>Quick, one-off inline functions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2" name="Shape 12"/>
          <p:cNvSpPr/>
          <p:nvPr/>
        </p:nvSpPr>
        <p:spPr>
          <a:xfrm>
            <a:off x="182880" y="1828800"/>
            <a:ext cx="8777520" cy="9594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13"/>
          <p:cNvSpPr/>
          <p:nvPr/>
        </p:nvSpPr>
        <p:spPr>
          <a:xfrm>
            <a:off x="182880" y="1828800"/>
            <a:ext cx="913680" cy="9594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4"/>
          <p:cNvSpPr/>
          <p:nvPr/>
        </p:nvSpPr>
        <p:spPr>
          <a:xfrm>
            <a:off x="182880" y="1828800"/>
            <a:ext cx="913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182880" y="233172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map()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1234440" y="187452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Transformer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7" name="Text 17"/>
          <p:cNvSpPr/>
          <p:nvPr/>
        </p:nvSpPr>
        <p:spPr>
          <a:xfrm>
            <a:off x="1234440" y="219456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Input: list of 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8" name="Text 18"/>
          <p:cNvSpPr/>
          <p:nvPr/>
        </p:nvSpPr>
        <p:spPr>
          <a:xfrm>
            <a:off x="1234440" y="242316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Output: list of N results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9" name="Shape 19"/>
          <p:cNvSpPr/>
          <p:nvPr/>
        </p:nvSpPr>
        <p:spPr>
          <a:xfrm>
            <a:off x="3291840" y="1920240"/>
            <a:ext cx="8280" cy="77652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20"/>
          <p:cNvSpPr/>
          <p:nvPr/>
        </p:nvSpPr>
        <p:spPr>
          <a:xfrm>
            <a:off x="3429000" y="192024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  <a:ea typeface="DejaVu Sans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Text 21"/>
          <p:cNvSpPr/>
          <p:nvPr/>
        </p:nvSpPr>
        <p:spPr>
          <a:xfrm>
            <a:off x="3429000" y="217620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Convert / transform every element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2" name="Shape 22"/>
          <p:cNvSpPr/>
          <p:nvPr/>
        </p:nvSpPr>
        <p:spPr>
          <a:xfrm>
            <a:off x="182880" y="2880360"/>
            <a:ext cx="8777520" cy="9594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Shape 23"/>
          <p:cNvSpPr/>
          <p:nvPr/>
        </p:nvSpPr>
        <p:spPr>
          <a:xfrm>
            <a:off x="182880" y="2880360"/>
            <a:ext cx="913680" cy="959400"/>
          </a:xfrm>
          <a:prstGeom prst="rect">
            <a:avLst/>
          </a:prstGeom>
          <a:solidFill>
            <a:srgbClr val="a267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24"/>
          <p:cNvSpPr/>
          <p:nvPr/>
        </p:nvSpPr>
        <p:spPr>
          <a:xfrm>
            <a:off x="182880" y="2880360"/>
            <a:ext cx="913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⊇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5" name="Text 25"/>
          <p:cNvSpPr/>
          <p:nvPr/>
        </p:nvSpPr>
        <p:spPr>
          <a:xfrm>
            <a:off x="182880" y="338328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filter()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6" name="Text 26"/>
          <p:cNvSpPr/>
          <p:nvPr/>
        </p:nvSpPr>
        <p:spPr>
          <a:xfrm>
            <a:off x="1234440" y="292608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Selector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7" name="Text 27"/>
          <p:cNvSpPr/>
          <p:nvPr/>
        </p:nvSpPr>
        <p:spPr>
          <a:xfrm>
            <a:off x="1234440" y="324612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Input: list of 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8" name="Text 28"/>
          <p:cNvSpPr/>
          <p:nvPr/>
        </p:nvSpPr>
        <p:spPr>
          <a:xfrm>
            <a:off x="1234440" y="347472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Output: list of ≤N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9" name="Shape 29"/>
          <p:cNvSpPr/>
          <p:nvPr/>
        </p:nvSpPr>
        <p:spPr>
          <a:xfrm>
            <a:off x="3291840" y="2971800"/>
            <a:ext cx="8280" cy="77652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30"/>
          <p:cNvSpPr/>
          <p:nvPr/>
        </p:nvSpPr>
        <p:spPr>
          <a:xfrm>
            <a:off x="3429000" y="2971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  <a:ea typeface="DejaVu Sans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1" name="Text 31"/>
          <p:cNvSpPr/>
          <p:nvPr/>
        </p:nvSpPr>
        <p:spPr>
          <a:xfrm>
            <a:off x="3429000" y="322776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DejaVu Sans"/>
              </a:rPr>
              <a:t>Keep only elements that pass a test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2" name="Shape 32"/>
          <p:cNvSpPr/>
          <p:nvPr/>
        </p:nvSpPr>
        <p:spPr>
          <a:xfrm>
            <a:off x="182880" y="3931920"/>
            <a:ext cx="8777520" cy="95940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33"/>
          <p:cNvSpPr/>
          <p:nvPr/>
        </p:nvSpPr>
        <p:spPr>
          <a:xfrm>
            <a:off x="182880" y="3931920"/>
            <a:ext cx="913680" cy="9594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34"/>
          <p:cNvSpPr/>
          <p:nvPr/>
        </p:nvSpPr>
        <p:spPr>
          <a:xfrm>
            <a:off x="182880" y="3931920"/>
            <a:ext cx="913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↠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5" name="Text 35"/>
          <p:cNvSpPr/>
          <p:nvPr/>
        </p:nvSpPr>
        <p:spPr>
          <a:xfrm>
            <a:off x="182880" y="443484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reduce()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6" name="Text 36"/>
          <p:cNvSpPr/>
          <p:nvPr/>
        </p:nvSpPr>
        <p:spPr>
          <a:xfrm>
            <a:off x="1234440" y="397764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Accumulator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7" name="Text 37"/>
          <p:cNvSpPr/>
          <p:nvPr/>
        </p:nvSpPr>
        <p:spPr>
          <a:xfrm>
            <a:off x="1234440" y="429768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Input: list of N items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8" name="Text 38"/>
          <p:cNvSpPr/>
          <p:nvPr/>
        </p:nvSpPr>
        <p:spPr>
          <a:xfrm>
            <a:off x="1234440" y="452628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a0aec0"/>
                </a:solidFill>
                <a:latin typeface="Calibri"/>
                <a:ea typeface="DejaVu Sans"/>
              </a:rPr>
              <a:t>Output: 1 cumulative value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9" name="Shape 39"/>
          <p:cNvSpPr/>
          <p:nvPr/>
        </p:nvSpPr>
        <p:spPr>
          <a:xfrm>
            <a:off x="3291840" y="4023360"/>
            <a:ext cx="8280" cy="776520"/>
          </a:xfrm>
          <a:prstGeom prst="rect">
            <a:avLst/>
          </a:prstGeom>
          <a:solidFill>
            <a:srgbClr val="a0ae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40"/>
          <p:cNvSpPr/>
          <p:nvPr/>
        </p:nvSpPr>
        <p:spPr>
          <a:xfrm>
            <a:off x="3429000" y="402336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  <a:ea typeface="DejaVu Sans"/>
              </a:rPr>
              <a:t>Best used for: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Text 41"/>
          <p:cNvSpPr/>
          <p:nvPr/>
        </p:nvSpPr>
        <p:spPr>
          <a:xfrm>
            <a:off x="3429000" y="427932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b85042"/>
                </a:solidFill>
                <a:latin typeface="Calibri"/>
                <a:ea typeface="DejaVu Sans"/>
              </a:rPr>
              <a:t>Combine all elements into one result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1"/>
          <p:cNvSpPr/>
          <p:nvPr/>
        </p:nvSpPr>
        <p:spPr>
          <a:xfrm>
            <a:off x="365760" y="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Summary &amp; Key Takeaways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365760" y="777240"/>
            <a:ext cx="8411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0e0ef"/>
                </a:solidFill>
                <a:latin typeface="Calibri"/>
                <a:ea typeface="DejaVu Sans"/>
              </a:rPr>
              <a:t>Functional Programming makes code more concise, readable, and expressive.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5" name="Shape 3"/>
          <p:cNvSpPr/>
          <p:nvPr/>
        </p:nvSpPr>
        <p:spPr>
          <a:xfrm>
            <a:off x="274320" y="1280160"/>
            <a:ext cx="8594640" cy="62100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Shape 4"/>
          <p:cNvSpPr/>
          <p:nvPr/>
        </p:nvSpPr>
        <p:spPr>
          <a:xfrm>
            <a:off x="274320" y="1280160"/>
            <a:ext cx="1370880" cy="62100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5"/>
          <p:cNvSpPr/>
          <p:nvPr/>
        </p:nvSpPr>
        <p:spPr>
          <a:xfrm>
            <a:off x="274320" y="1280160"/>
            <a:ext cx="137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Lambda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1783080" y="1280160"/>
            <a:ext cx="69487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Write tiny anonymous functions in one line — no def needed.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29" name="Shape 7"/>
          <p:cNvSpPr/>
          <p:nvPr/>
        </p:nvSpPr>
        <p:spPr>
          <a:xfrm>
            <a:off x="274320" y="2011680"/>
            <a:ext cx="8594640" cy="62100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8"/>
          <p:cNvSpPr/>
          <p:nvPr/>
        </p:nvSpPr>
        <p:spPr>
          <a:xfrm>
            <a:off x="274320" y="2011680"/>
            <a:ext cx="1370880" cy="62100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9"/>
          <p:cNvSpPr/>
          <p:nvPr/>
        </p:nvSpPr>
        <p:spPr>
          <a:xfrm>
            <a:off x="274320" y="2011680"/>
            <a:ext cx="137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Map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1783080" y="2011680"/>
            <a:ext cx="69487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Transform every element of a list using a function.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33" name="Shape 11"/>
          <p:cNvSpPr/>
          <p:nvPr/>
        </p:nvSpPr>
        <p:spPr>
          <a:xfrm>
            <a:off x="274320" y="2743200"/>
            <a:ext cx="8594640" cy="62100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Shape 12"/>
          <p:cNvSpPr/>
          <p:nvPr/>
        </p:nvSpPr>
        <p:spPr>
          <a:xfrm>
            <a:off x="274320" y="2743200"/>
            <a:ext cx="1370880" cy="62100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13"/>
          <p:cNvSpPr/>
          <p:nvPr/>
        </p:nvSpPr>
        <p:spPr>
          <a:xfrm>
            <a:off x="274320" y="2743200"/>
            <a:ext cx="137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Filter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6" name="Text 14"/>
          <p:cNvSpPr/>
          <p:nvPr/>
        </p:nvSpPr>
        <p:spPr>
          <a:xfrm>
            <a:off x="1783080" y="2743200"/>
            <a:ext cx="69487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Screen elements from a list based on a True/False condition.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37" name="Shape 15"/>
          <p:cNvSpPr/>
          <p:nvPr/>
        </p:nvSpPr>
        <p:spPr>
          <a:xfrm>
            <a:off x="274320" y="3474720"/>
            <a:ext cx="8594640" cy="62100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16"/>
          <p:cNvSpPr/>
          <p:nvPr/>
        </p:nvSpPr>
        <p:spPr>
          <a:xfrm>
            <a:off x="274320" y="3474720"/>
            <a:ext cx="1370880" cy="62100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17"/>
          <p:cNvSpPr/>
          <p:nvPr/>
        </p:nvSpPr>
        <p:spPr>
          <a:xfrm>
            <a:off x="274320" y="3474720"/>
            <a:ext cx="137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Reduce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0" name="Text 18"/>
          <p:cNvSpPr/>
          <p:nvPr/>
        </p:nvSpPr>
        <p:spPr>
          <a:xfrm>
            <a:off x="1783080" y="3474720"/>
            <a:ext cx="69487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Collapse a list into one cumulative value step-by-step.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274320" y="4206240"/>
            <a:ext cx="8594640" cy="62100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20"/>
          <p:cNvSpPr/>
          <p:nvPr/>
        </p:nvSpPr>
        <p:spPr>
          <a:xfrm>
            <a:off x="274320" y="4206240"/>
            <a:ext cx="1370880" cy="621000"/>
          </a:xfrm>
          <a:prstGeom prst="rect">
            <a:avLst/>
          </a:prstGeom>
          <a:solidFill>
            <a:srgbClr val="1621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21"/>
          <p:cNvSpPr/>
          <p:nvPr/>
        </p:nvSpPr>
        <p:spPr>
          <a:xfrm>
            <a:off x="274320" y="4206240"/>
            <a:ext cx="137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DejaVu Sans"/>
              </a:rPr>
              <a:t>Combine Them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4" name="Text 22"/>
          <p:cNvSpPr/>
          <p:nvPr/>
        </p:nvSpPr>
        <p:spPr>
          <a:xfrm>
            <a:off x="1783080" y="4206240"/>
            <a:ext cx="69487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5f5f5"/>
                </a:solidFill>
                <a:latin typeface="Calibri"/>
                <a:ea typeface="DejaVu Sans"/>
              </a:rPr>
              <a:t>lambda + map/filter/reduce = powerful, elegant one-liners.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5" name="Text 23"/>
          <p:cNvSpPr/>
          <p:nvPr/>
        </p:nvSpPr>
        <p:spPr>
          <a:xfrm>
            <a:off x="365760" y="4846320"/>
            <a:ext cx="8411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0aec0"/>
                </a:solidFill>
                <a:latin typeface="Calibri"/>
                <a:ea typeface="DejaVu Sans"/>
              </a:rPr>
              <a:t>Chapter 15 — Functional Programming in Python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2026-02-18T04:18:08Z</dcterms:created>
  <dc:creator>PptxGenJS</dc:creator>
  <dc:description/>
  <dc:language>en-IN</dc:language>
  <cp:lastModifiedBy/>
  <dcterms:modified xsi:type="dcterms:W3CDTF">2026-02-19T21:53:18Z</dcterms:modified>
  <cp:revision>4</cp:revision>
  <dc:subject>PptxGenJS Presentation</dc:subject>
  <dc:title>Functional Programming in Python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