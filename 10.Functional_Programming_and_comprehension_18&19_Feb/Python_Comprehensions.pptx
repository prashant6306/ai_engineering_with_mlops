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0" cy="5143500"/>
          </a:xfrm>
          <a:prstGeom prst="rect">
            <a:avLst/>
          </a:prstGeom>
          <a:solidFill>
            <a:srgbClr val="0A0A1A"/>
          </a:solidFill>
          <a:ln/>
        </p:spPr>
      </p:sp>
      <p:sp>
        <p:nvSpPr>
          <p:cNvPr id="3" name="Shape 1"/>
          <p:cNvSpPr/>
          <p:nvPr/>
        </p:nvSpPr>
        <p:spPr>
          <a:xfrm>
            <a:off x="3200400" y="0"/>
            <a:ext cx="5943600" cy="514350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0" y="0"/>
            <a:ext cx="64008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548640"/>
            <a:ext cx="2194560" cy="384048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548640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Chapter 12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097280"/>
            <a:ext cx="457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00B4D8"/>
                </a:solidFill>
              </a:rPr>
              <a:t>[</a:t>
            </a:r>
            <a:endParaRPr lang="en-US" sz="10000" dirty="0"/>
          </a:p>
        </p:txBody>
      </p:sp>
      <p:sp>
        <p:nvSpPr>
          <p:cNvPr id="8" name="Text 6"/>
          <p:cNvSpPr/>
          <p:nvPr/>
        </p:nvSpPr>
        <p:spPr>
          <a:xfrm>
            <a:off x="822960" y="1463040"/>
            <a:ext cx="21031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expression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for item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in iterable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condition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0" y="1097280"/>
            <a:ext cx="4572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0" b="1" dirty="0">
                <a:solidFill>
                  <a:srgbClr val="00B4D8"/>
                </a:solidFill>
              </a:rPr>
              <a:t>]</a:t>
            </a:r>
            <a:endParaRPr lang="en-US" sz="10000" dirty="0"/>
          </a:p>
        </p:txBody>
      </p:sp>
      <p:sp>
        <p:nvSpPr>
          <p:cNvPr id="10" name="Text 8"/>
          <p:cNvSpPr/>
          <p:nvPr/>
        </p:nvSpPr>
        <p:spPr>
          <a:xfrm>
            <a:off x="3474720" y="91440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3474720" y="160020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Comprehensions</a:t>
            </a:r>
            <a:endParaRPr lang="en-US" sz="4800" dirty="0"/>
          </a:p>
        </p:txBody>
      </p:sp>
      <p:sp>
        <p:nvSpPr>
          <p:cNvPr id="12" name="Text 10"/>
          <p:cNvSpPr/>
          <p:nvPr/>
        </p:nvSpPr>
        <p:spPr>
          <a:xfrm>
            <a:off x="3474720" y="23774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92A4"/>
                </a:solidFill>
              </a:rPr>
              <a:t>Write elegant, compact Python in one line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474720" y="2926080"/>
            <a:ext cx="1600200" cy="34747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4" name="Text 12"/>
          <p:cNvSpPr/>
          <p:nvPr/>
        </p:nvSpPr>
        <p:spPr>
          <a:xfrm>
            <a:off x="3474720" y="292608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List  [ ]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257800" y="2926080"/>
            <a:ext cx="1600200" cy="347472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16" name="Text 14"/>
          <p:cNvSpPr/>
          <p:nvPr/>
        </p:nvSpPr>
        <p:spPr>
          <a:xfrm>
            <a:off x="5257800" y="292608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Set  { }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040880" y="2926080"/>
            <a:ext cx="1600200" cy="347472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8" name="Text 16"/>
          <p:cNvSpPr/>
          <p:nvPr/>
        </p:nvSpPr>
        <p:spPr>
          <a:xfrm>
            <a:off x="7040880" y="292608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Dictionary  { : }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74720" y="4389120"/>
            <a:ext cx="5486400" cy="27432"/>
          </a:xfrm>
          <a:prstGeom prst="rect">
            <a:avLst/>
          </a:prstGeom>
          <a:solidFill>
            <a:srgbClr val="8892A4"/>
          </a:solidFill>
          <a:ln/>
        </p:spPr>
      </p:sp>
      <p:sp>
        <p:nvSpPr>
          <p:cNvPr id="20" name="Text 18"/>
          <p:cNvSpPr/>
          <p:nvPr/>
        </p:nvSpPr>
        <p:spPr>
          <a:xfrm>
            <a:off x="3474720" y="446227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8892A4"/>
                </a:solidFill>
              </a:rPr>
              <a:t>Concise · Readable · Pythonic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are Comprehensions?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96012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686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D"/>
                </a:solidFill>
              </a:rPr>
              <a:t>Comprehensions are a concise, readable way to create lists, sets, and dictionaries by iterating over a sequence and optionally applying a condition — all in a single line of code.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920240"/>
            <a:ext cx="8595360" cy="82296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920240"/>
            <a:ext cx="64008" cy="8229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99339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① Create Easily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32257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D"/>
                </a:solidFill>
              </a:rPr>
              <a:t>Use comprehensions to create list, set, or dictionary in a compact, elegant way — much shorter than traditional for-loops.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74320" y="2880360"/>
            <a:ext cx="8595360" cy="82296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1" name="Shape 9"/>
          <p:cNvSpPr/>
          <p:nvPr/>
        </p:nvSpPr>
        <p:spPr>
          <a:xfrm>
            <a:off x="274320" y="2880360"/>
            <a:ext cx="64008" cy="82296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95351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D6A0"/>
                </a:solidFill>
              </a:rPr>
              <a:t>② Iterate &amp; Assign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28269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D"/>
                </a:solidFill>
              </a:rPr>
              <a:t>You iterate over items in a sequence and assign results into a container like list, set, or dictionary.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74320" y="3840480"/>
            <a:ext cx="8595360" cy="82296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5" name="Shape 13"/>
          <p:cNvSpPr/>
          <p:nvPr/>
        </p:nvSpPr>
        <p:spPr>
          <a:xfrm>
            <a:off x="274320" y="3840480"/>
            <a:ext cx="64008" cy="822960"/>
          </a:xfrm>
          <a:prstGeom prst="rect">
            <a:avLst/>
          </a:prstGeom>
          <a:solidFill>
            <a:srgbClr val="FF9F1C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91363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F1C"/>
                </a:solidFill>
              </a:rPr>
              <a:t>③ Not for Tuples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242816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D"/>
                </a:solidFill>
              </a:rPr>
              <a:t>Comprehensions cannot assign to a tuple because tuples are immutable — they cannot be changed after creation.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274320" y="4754880"/>
            <a:ext cx="8595360" cy="274320"/>
          </a:xfrm>
          <a:prstGeom prst="rect">
            <a:avLst/>
          </a:prstGeom>
          <a:solidFill>
            <a:srgbClr val="1C1C3E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" y="4764024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00B4D8"/>
                </a:solidFill>
              </a:rPr>
              <a:t>💡  Think of comprehension as: loop + filter + expression — all compressed into one line!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0E17"/>
                </a:solidFill>
              </a:rPr>
              <a:t>List Comprehension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6868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D"/>
                </a:solidFill>
              </a:rPr>
              <a:t>List comprehension creates a new list by iterating over a sequence and applying an expression to each item — optionally filtering with a condition.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17830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Syntax Breakdown: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2121408"/>
            <a:ext cx="8595360" cy="54864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2139696"/>
            <a:ext cx="8321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</a:t>
            </a:r>
            <a:pPr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expression </a:t>
            </a:r>
            <a:pPr indent="0" marL="0">
              <a:buNone/>
            </a:pPr>
            <a:r>
              <a:rPr lang="en-US" sz="1500" b="1" dirty="0">
                <a:solidFill>
                  <a:srgbClr val="FF7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</a:t>
            </a:r>
            <a:pPr indent="0" marL="0">
              <a:buNone/>
            </a:pPr>
            <a:r>
              <a:rPr lang="en-US" sz="15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 </a:t>
            </a:r>
            <a:pPr indent="0" marL="0">
              <a:buNone/>
            </a:pPr>
            <a:r>
              <a:rPr lang="en-US" sz="1500" b="1" dirty="0">
                <a:solidFill>
                  <a:srgbClr val="FF7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</a:t>
            </a:r>
            <a:pPr indent="0" marL="0">
              <a:buNone/>
            </a:pPr>
            <a:r>
              <a:rPr lang="en-US" sz="15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iterable/sequence </a:t>
            </a:r>
            <a:pPr indent="0" marL="0">
              <a:buNone/>
            </a:pPr>
            <a:r>
              <a:rPr lang="en-US" sz="1500" b="1" dirty="0">
                <a:solidFill>
                  <a:srgbClr val="FF7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</a:t>
            </a:r>
            <a:pPr indent="0" marL="0">
              <a:buNone/>
            </a:pPr>
            <a:r>
              <a:rPr lang="en-US" sz="15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condition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]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274320" y="2834640"/>
            <a:ext cx="2788920" cy="196596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0" name="Shape 8"/>
          <p:cNvSpPr/>
          <p:nvPr/>
        </p:nvSpPr>
        <p:spPr>
          <a:xfrm>
            <a:off x="274320" y="2834640"/>
            <a:ext cx="2788920" cy="64008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1" name="Text 9"/>
          <p:cNvSpPr/>
          <p:nvPr/>
        </p:nvSpPr>
        <p:spPr>
          <a:xfrm>
            <a:off x="384048" y="29077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expression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4048" y="3310128"/>
            <a:ext cx="2560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D"/>
                </a:solidFill>
              </a:rPr>
              <a:t>The logic/operation to apply to each item. This becomes the value stored in the new list.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200400" y="2834640"/>
            <a:ext cx="2788920" cy="196596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4" name="Shape 12"/>
          <p:cNvSpPr/>
          <p:nvPr/>
        </p:nvSpPr>
        <p:spPr>
          <a:xfrm>
            <a:off x="3200400" y="2834640"/>
            <a:ext cx="2788920" cy="64008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5" name="Text 13"/>
          <p:cNvSpPr/>
          <p:nvPr/>
        </p:nvSpPr>
        <p:spPr>
          <a:xfrm>
            <a:off x="3310128" y="29077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iterable / sequence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10128" y="3310128"/>
            <a:ext cx="2560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D"/>
                </a:solidFill>
              </a:rPr>
              <a:t>A list, set, dictionary, range, or any sequence we want to loop through.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126480" y="2834640"/>
            <a:ext cx="2788920" cy="196596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8" name="Shape 16"/>
          <p:cNvSpPr/>
          <p:nvPr/>
        </p:nvSpPr>
        <p:spPr>
          <a:xfrm>
            <a:off x="6126480" y="2834640"/>
            <a:ext cx="2788920" cy="64008"/>
          </a:xfrm>
          <a:prstGeom prst="rect">
            <a:avLst/>
          </a:prstGeom>
          <a:solidFill>
            <a:srgbClr val="FFA657"/>
          </a:solidFill>
          <a:ln/>
        </p:spPr>
      </p:sp>
      <p:sp>
        <p:nvSpPr>
          <p:cNvPr id="19" name="Text 17"/>
          <p:cNvSpPr/>
          <p:nvPr/>
        </p:nvSpPr>
        <p:spPr>
          <a:xfrm>
            <a:off x="6236208" y="2907792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condition (optional)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6236208" y="3310128"/>
            <a:ext cx="25603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E8F4FD"/>
                </a:solidFill>
              </a:rPr>
              <a:t>A filter — only items where this is True are included. Can be omitted entirely.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274320" y="4864608"/>
            <a:ext cx="8595360" cy="201168"/>
          </a:xfrm>
          <a:prstGeom prst="rect">
            <a:avLst/>
          </a:prstGeom>
          <a:solidFill>
            <a:srgbClr val="1C1C3E"/>
          </a:solidFill>
          <a:ln/>
        </p:spPr>
      </p:sp>
      <p:sp>
        <p:nvSpPr>
          <p:cNvPr id="22" name="Text 20"/>
          <p:cNvSpPr/>
          <p:nvPr/>
        </p:nvSpPr>
        <p:spPr>
          <a:xfrm>
            <a:off x="457200" y="4873752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892A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Replaces: for item in sequence: new_list.append(expression)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0E17"/>
                </a:solidFill>
              </a:rPr>
              <a:t>List Comprehension — Examples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4251960" cy="20116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5" name="Shape 3"/>
          <p:cNvSpPr/>
          <p:nvPr/>
        </p:nvSpPr>
        <p:spPr>
          <a:xfrm>
            <a:off x="182880" y="777240"/>
            <a:ext cx="64008" cy="20116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8686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① Squares of numbers 1 to 5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170432"/>
            <a:ext cx="4069080" cy="749808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188720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squares = [n**2 for n in range(1, 6)]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print(squares)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20040" y="196596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</a:rPr>
              <a:t>Output: [1, 4, 9, 16, 25]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224028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A4"/>
                </a:solidFill>
              </a:rPr>
              <a:t>Calculates the square of each number from 1 to 5.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777240"/>
            <a:ext cx="4251960" cy="20116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2" name="Shape 10"/>
          <p:cNvSpPr/>
          <p:nvPr/>
        </p:nvSpPr>
        <p:spPr>
          <a:xfrm>
            <a:off x="4663440" y="777240"/>
            <a:ext cx="64008" cy="20116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8686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② Even numbers from 1 to 20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1170432"/>
            <a:ext cx="4069080" cy="749808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5" name="Text 13"/>
          <p:cNvSpPr/>
          <p:nvPr/>
        </p:nvSpPr>
        <p:spPr>
          <a:xfrm>
            <a:off x="4800600" y="1188720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evens = [n for n in range(1,21) if n%2==0]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print(evens)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00600" y="196596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</a:rPr>
              <a:t>Output: [2, 4, 6, 8, 10, 12, 14, 16, 18, 20]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00600" y="224028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A4"/>
                </a:solidFill>
              </a:rPr>
              <a:t>Filters only even numbers using the if condition.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82880" y="2926080"/>
            <a:ext cx="4251960" cy="20116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9" name="Shape 17"/>
          <p:cNvSpPr/>
          <p:nvPr/>
        </p:nvSpPr>
        <p:spPr>
          <a:xfrm>
            <a:off x="182880" y="2926080"/>
            <a:ext cx="64008" cy="20116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0" name="Text 18"/>
          <p:cNvSpPr/>
          <p:nvPr/>
        </p:nvSpPr>
        <p:spPr>
          <a:xfrm>
            <a:off x="320040" y="30175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③ Convert words to uppercase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3319272"/>
            <a:ext cx="4069080" cy="749808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" y="3337560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animals=['cat','dog','fish','bird']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upper=[a.upper() for a in animals]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print(upper)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20040" y="411480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</a:rPr>
              <a:t>Output: ['CAT', 'DOG', 'FISH', 'BIRD']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0040" y="438912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A4"/>
                </a:solidFill>
              </a:rPr>
              <a:t>Applies .upper() method to every string in the list.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63440" y="2926080"/>
            <a:ext cx="4251960" cy="20116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26" name="Shape 24"/>
          <p:cNvSpPr/>
          <p:nvPr/>
        </p:nvSpPr>
        <p:spPr>
          <a:xfrm>
            <a:off x="4663440" y="2926080"/>
            <a:ext cx="64008" cy="20116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7" name="Text 25"/>
          <p:cNvSpPr/>
          <p:nvPr/>
        </p:nvSpPr>
        <p:spPr>
          <a:xfrm>
            <a:off x="4800600" y="30175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④ Squares of even numbers 0–9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54880" y="3319272"/>
            <a:ext cx="4069080" cy="749808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29" name="Text 27"/>
          <p:cNvSpPr/>
          <p:nvPr/>
        </p:nvSpPr>
        <p:spPr>
          <a:xfrm>
            <a:off x="4800600" y="3337560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result = [x**2 for x in range(10)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if x%2 == 0]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print(result)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4800600" y="411480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</a:rPr>
              <a:t>Output: [0, 4, 16, 36, 64]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00600" y="438912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A4"/>
                </a:solidFill>
              </a:rPr>
              <a:t>Combines expression + condition: squares of only even numbers.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0E17"/>
                </a:solidFill>
              </a:rPr>
              <a:t>List Comprehension — More Examples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182880" y="777240"/>
            <a:ext cx="4251960" cy="20116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5" name="Shape 3"/>
          <p:cNvSpPr/>
          <p:nvPr/>
        </p:nvSpPr>
        <p:spPr>
          <a:xfrm>
            <a:off x="182880" y="777240"/>
            <a:ext cx="64008" cy="201168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8686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</a:rPr>
              <a:t>⑤ Extract lengths of words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1170432"/>
            <a:ext cx="4069080" cy="749808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8" name="Text 6"/>
          <p:cNvSpPr/>
          <p:nvPr/>
        </p:nvSpPr>
        <p:spPr>
          <a:xfrm>
            <a:off x="320040" y="1188720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words = ['Python','is','fun','and','easy']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lengths = [len(w) for w in words]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print(lengths)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320040" y="196596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</a:rPr>
              <a:t>Output: [6, 2, 3, 3, 4]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20040" y="224028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A4"/>
                </a:solidFill>
              </a:rPr>
              <a:t>Uses len() inside the expression to get character count of each word.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663440" y="777240"/>
            <a:ext cx="4251960" cy="20116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2" name="Shape 10"/>
          <p:cNvSpPr/>
          <p:nvPr/>
        </p:nvSpPr>
        <p:spPr>
          <a:xfrm>
            <a:off x="4663440" y="777240"/>
            <a:ext cx="64008" cy="201168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3" name="Text 11"/>
          <p:cNvSpPr/>
          <p:nvPr/>
        </p:nvSpPr>
        <p:spPr>
          <a:xfrm>
            <a:off x="4800600" y="86868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</a:rPr>
              <a:t>⑥ Celsius to Fahrenheit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1170432"/>
            <a:ext cx="4069080" cy="749808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5" name="Text 13"/>
          <p:cNvSpPr/>
          <p:nvPr/>
        </p:nvSpPr>
        <p:spPr>
          <a:xfrm>
            <a:off x="4800600" y="1188720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celsius=[0, 20, 37, 100]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fahrenheit=[(c*9/5)+32 for c in celsius]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print(fahrenheit)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00600" y="196596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</a:rPr>
              <a:t>Output: [32.0, 68.0, 98.6, 212.0]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800600" y="224028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A4"/>
                </a:solidFill>
              </a:rPr>
              <a:t>Applies a formula to each element — great real-world use case.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182880" y="2926080"/>
            <a:ext cx="4251960" cy="20116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9" name="Shape 17"/>
          <p:cNvSpPr/>
          <p:nvPr/>
        </p:nvSpPr>
        <p:spPr>
          <a:xfrm>
            <a:off x="182880" y="2926080"/>
            <a:ext cx="64008" cy="201168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0" name="Text 18"/>
          <p:cNvSpPr/>
          <p:nvPr/>
        </p:nvSpPr>
        <p:spPr>
          <a:xfrm>
            <a:off x="320040" y="30175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</a:rPr>
              <a:t>⑦ Filter names starting with 'A'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74320" y="3319272"/>
            <a:ext cx="4069080" cy="749808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22" name="Text 20"/>
          <p:cNvSpPr/>
          <p:nvPr/>
        </p:nvSpPr>
        <p:spPr>
          <a:xfrm>
            <a:off x="320040" y="3337560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names=['Alice','Bob','Anna','Tom','Amy']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a_names=[n for n in names if n[0]=='A']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print(a_names)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20040" y="411480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</a:rPr>
              <a:t>Output: ['Alice', 'Anna', 'Amy']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0040" y="438912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A4"/>
                </a:solidFill>
              </a:rPr>
              <a:t>Filters strings by checking their first character using indexing.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663440" y="2926080"/>
            <a:ext cx="4251960" cy="20116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26" name="Shape 24"/>
          <p:cNvSpPr/>
          <p:nvPr/>
        </p:nvSpPr>
        <p:spPr>
          <a:xfrm>
            <a:off x="4663440" y="2926080"/>
            <a:ext cx="64008" cy="201168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7" name="Text 25"/>
          <p:cNvSpPr/>
          <p:nvPr/>
        </p:nvSpPr>
        <p:spPr>
          <a:xfrm>
            <a:off x="4800600" y="30175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</a:rPr>
              <a:t>⑧ Create pairs (multiplication table)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754880" y="3319272"/>
            <a:ext cx="4069080" cy="749808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29" name="Text 27"/>
          <p:cNvSpPr/>
          <p:nvPr/>
        </p:nvSpPr>
        <p:spPr>
          <a:xfrm>
            <a:off x="4800600" y="3337560"/>
            <a:ext cx="39776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pairs=[(r,c) for r in range(1,4)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for c in range(1,4)]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print(pairs)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800600" y="411480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FB950"/>
                </a:solidFill>
              </a:rPr>
              <a:t>Output: [(1,1),(1,2),(1,3),(2,1)...]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00600" y="4389120"/>
            <a:ext cx="4023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A4"/>
                </a:solidFill>
              </a:rPr>
              <a:t>Nested comprehension — two for loops to create all row-column pairs.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Set Comprehension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6868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D"/>
                </a:solidFill>
              </a:rPr>
              <a:t>Set comprehension creates a new set by iterating over a sequence — just like list comprehension, but uses curly braces { } and the result contains only unique values (no duplicates).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17647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2FBE"/>
                </a:solidFill>
              </a:rPr>
              <a:t>Syntax: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2075688"/>
            <a:ext cx="8595360" cy="54864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2093976"/>
            <a:ext cx="83210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expression </a:t>
            </a:r>
            <a:pPr indent="0" marL="0">
              <a:buNone/>
            </a:pPr>
            <a:r>
              <a:rPr lang="en-US" sz="1400" b="1" dirty="0">
                <a:solidFill>
                  <a:srgbClr val="FF7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</a:t>
            </a:r>
            <a:pPr indent="0" marL="0">
              <a:buNone/>
            </a:pPr>
            <a:r>
              <a:rPr lang="en-US" sz="14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 </a:t>
            </a:r>
            <a:pPr indent="0" marL="0">
              <a:buNone/>
            </a:pPr>
            <a:r>
              <a:rPr lang="en-US" sz="1400" b="1" dirty="0">
                <a:solidFill>
                  <a:srgbClr val="FF7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</a:t>
            </a:r>
            <a:pPr indent="0" marL="0">
              <a:buNone/>
            </a:pPr>
            <a:r>
              <a:rPr lang="en-US" sz="14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sequence/iterable </a:t>
            </a:r>
            <a:pPr indent="0" marL="0">
              <a:buNone/>
            </a:pPr>
            <a:r>
              <a:rPr lang="en-US" sz="1400" b="1" dirty="0">
                <a:solidFill>
                  <a:srgbClr val="FF7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</a:t>
            </a:r>
            <a:pPr indent="0" marL="0">
              <a:buNone/>
            </a:pPr>
            <a:r>
              <a:rPr lang="en-US" sz="14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condition</a:t>
            </a:r>
            <a:pPr indent="0" marL="0">
              <a:buNone/>
            </a:pPr>
            <a:r>
              <a:rPr lang="en-US" sz="1400" b="1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74320" y="2743200"/>
            <a:ext cx="8595360" cy="438912"/>
          </a:xfrm>
          <a:prstGeom prst="rect">
            <a:avLst/>
          </a:prstGeom>
          <a:solidFill>
            <a:srgbClr val="2A0A4A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2761488"/>
            <a:ext cx="8229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i="1" dirty="0">
                <a:solidFill>
                  <a:srgbClr val="7B2FBE"/>
                </a:solidFill>
              </a:rPr>
              <a:t>⚡  Key difference from list: Set stores only UNIQUE values — duplicates are automatically removed!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82880" y="3273552"/>
            <a:ext cx="4251960" cy="8686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2" name="Shape 10"/>
          <p:cNvSpPr/>
          <p:nvPr/>
        </p:nvSpPr>
        <p:spPr>
          <a:xfrm>
            <a:off x="182880" y="3273552"/>
            <a:ext cx="64008" cy="868680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33192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2FBE"/>
                </a:solidFill>
              </a:rPr>
              <a:t>① Squares of 0 to 4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0040" y="35478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sq_set = {n**2 for n in range(5)}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print(sq_set)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926080" y="3319272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{0, 1, 4, 9, 16}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663440" y="3273552"/>
            <a:ext cx="4251960" cy="8686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7" name="Shape 15"/>
          <p:cNvSpPr/>
          <p:nvPr/>
        </p:nvSpPr>
        <p:spPr>
          <a:xfrm>
            <a:off x="4663440" y="3273552"/>
            <a:ext cx="64008" cy="868680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18" name="Text 16"/>
          <p:cNvSpPr/>
          <p:nvPr/>
        </p:nvSpPr>
        <p:spPr>
          <a:xfrm>
            <a:off x="4800600" y="331927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2FBE"/>
                </a:solidFill>
              </a:rPr>
              <a:t>② Remove duplicate letters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0600" y="354787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text = 'mississippi'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 = {ch for ch in text}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print(uniq)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406640" y="3319272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{'m', 'i', 's', 'p'}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2880" y="4206240"/>
            <a:ext cx="4251960" cy="8686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2880" y="4206240"/>
            <a:ext cx="64008" cy="868680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" y="42519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2FBE"/>
                </a:solidFill>
              </a:rPr>
              <a:t>③ Unique lengths of words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20040" y="44805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words=['cat','dog','ox','fish']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uniq_len={len(w) for w in words}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print(uniq_len)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926080" y="425196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{2, 3, 4}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4206240"/>
            <a:ext cx="4251960" cy="86868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27" name="Shape 25"/>
          <p:cNvSpPr/>
          <p:nvPr/>
        </p:nvSpPr>
        <p:spPr>
          <a:xfrm>
            <a:off x="4663440" y="4206240"/>
            <a:ext cx="64008" cy="868680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28" name="Text 26"/>
          <p:cNvSpPr/>
          <p:nvPr/>
        </p:nvSpPr>
        <p:spPr>
          <a:xfrm>
            <a:off x="4800600" y="42519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2FBE"/>
                </a:solidFill>
              </a:rPr>
              <a:t>④ Even number set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800600" y="448056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evens={x for x in range(1,15)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if x%2==0}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print(evens)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7406640" y="425196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{2, 4, 6, 8, 10, 12, 14}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F0E17"/>
                </a:solidFill>
              </a:rPr>
              <a:t>Dictionary Comprehension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8595360" cy="822960"/>
          </a:xfrm>
          <a:prstGeom prst="rect">
            <a:avLst/>
          </a:prstGeom>
          <a:solidFill>
            <a:srgbClr val="0F3460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868680"/>
            <a:ext cx="8229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8F4FD"/>
                </a:solidFill>
              </a:rPr>
              <a:t>Dictionary comprehension creates a new dictionary by iterating over a sequence — producing key-value pairs using a key expression and value expression, with an optional condition to filter entries.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74320" y="1764792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D6A0"/>
                </a:solidFill>
              </a:rPr>
              <a:t>Syntax: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2075688"/>
            <a:ext cx="8595360" cy="658368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2103120"/>
            <a:ext cx="832104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</a:t>
            </a:r>
            <a:pPr indent="0" marL="0">
              <a:buNone/>
            </a:pPr>
            <a:r>
              <a:rPr lang="en-US" sz="1400" b="1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key_expression</a:t>
            </a:r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: </a:t>
            </a:r>
            <a:pPr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value_expression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FF7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for 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item </a:t>
            </a:r>
            <a:pPr indent="0" marL="0">
              <a:buNone/>
            </a:pPr>
            <a:r>
              <a:rPr lang="en-US" sz="1400" b="1" dirty="0">
                <a:solidFill>
                  <a:srgbClr val="FF7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 </a:t>
            </a:r>
            <a:pPr indent="0" marL="0">
              <a:buNone/>
            </a:pPr>
            <a:r>
              <a:rPr lang="en-US" sz="14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sequence/iterable </a:t>
            </a:r>
            <a:pPr indent="0" marL="0">
              <a:buNone/>
            </a:pPr>
            <a:r>
              <a:rPr lang="en-US" sz="1400" b="1" dirty="0">
                <a:solidFill>
                  <a:srgbClr val="FF7B9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 </a:t>
            </a:r>
            <a:pPr indent="0" marL="0">
              <a:buNone/>
            </a:pPr>
            <a:r>
              <a:rPr lang="en-US" sz="1400" dirty="0">
                <a:solidFill>
                  <a:srgbClr val="FFA65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condition</a:t>
            </a:r>
            <a:pPr indent="0" marL="0">
              <a:buNone/>
            </a:pPr>
            <a:r>
              <a:rPr lang="en-US" sz="1400" b="1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}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82880" y="2880360"/>
            <a:ext cx="4251960" cy="1024128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0" name="Shape 8"/>
          <p:cNvSpPr/>
          <p:nvPr/>
        </p:nvSpPr>
        <p:spPr>
          <a:xfrm>
            <a:off x="182880" y="2880360"/>
            <a:ext cx="64008" cy="1024128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294436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</a:rPr>
              <a:t>① Number → Its Square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3227832"/>
            <a:ext cx="4069080" cy="384048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3" name="Text 11"/>
          <p:cNvSpPr/>
          <p:nvPr/>
        </p:nvSpPr>
        <p:spPr>
          <a:xfrm>
            <a:off x="320040" y="3236976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sq_dict = {n: n**2 for n in range(5)}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print(sq_dict)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0040" y="363931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{0:0, 1:1, 2:4, 3:9, 4:16}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63440" y="2880360"/>
            <a:ext cx="4251960" cy="1024128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6" name="Shape 14"/>
          <p:cNvSpPr/>
          <p:nvPr/>
        </p:nvSpPr>
        <p:spPr>
          <a:xfrm>
            <a:off x="4663440" y="2880360"/>
            <a:ext cx="64008" cy="1024128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17" name="Text 15"/>
          <p:cNvSpPr/>
          <p:nvPr/>
        </p:nvSpPr>
        <p:spPr>
          <a:xfrm>
            <a:off x="4800600" y="294436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</a:rPr>
              <a:t>② Word → Its Length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3227832"/>
            <a:ext cx="4069080" cy="384048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9" name="Text 17"/>
          <p:cNvSpPr/>
          <p:nvPr/>
        </p:nvSpPr>
        <p:spPr>
          <a:xfrm>
            <a:off x="4800600" y="3236976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animals=['cat','dog','elephant']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len_dict={w: len(w) for w in animals}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print(len_dict)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00600" y="3639312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{'cat':3, 'dog':3, 'elephant':8}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182880" y="3995928"/>
            <a:ext cx="4251960" cy="1024128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22" name="Shape 20"/>
          <p:cNvSpPr/>
          <p:nvPr/>
        </p:nvSpPr>
        <p:spPr>
          <a:xfrm>
            <a:off x="182880" y="3995928"/>
            <a:ext cx="64008" cy="1024128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3" name="Text 21"/>
          <p:cNvSpPr/>
          <p:nvPr/>
        </p:nvSpPr>
        <p:spPr>
          <a:xfrm>
            <a:off x="320040" y="405993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</a:rPr>
              <a:t>③ Student → Grade (pass only)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74320" y="4343400"/>
            <a:ext cx="4069080" cy="384048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25" name="Text 23"/>
          <p:cNvSpPr/>
          <p:nvPr/>
        </p:nvSpPr>
        <p:spPr>
          <a:xfrm>
            <a:off x="320040" y="4352544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scores={'Alice':82,'Bob':45,'Carol':91}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passed={k:v for k,v in scores.items()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if v&gt;=50}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print(passed)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0040" y="475488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{'Alice':82, 'Carol':91}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663440" y="3995928"/>
            <a:ext cx="4251960" cy="1024128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28" name="Shape 26"/>
          <p:cNvSpPr/>
          <p:nvPr/>
        </p:nvSpPr>
        <p:spPr>
          <a:xfrm>
            <a:off x="4663440" y="3995928"/>
            <a:ext cx="64008" cy="1024128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9" name="Text 27"/>
          <p:cNvSpPr/>
          <p:nvPr/>
        </p:nvSpPr>
        <p:spPr>
          <a:xfrm>
            <a:off x="4800600" y="405993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D6A0"/>
                </a:solidFill>
              </a:rPr>
              <a:t>④ Invert a dictionary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754880" y="4343400"/>
            <a:ext cx="4069080" cy="384048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1" name="Text 29"/>
          <p:cNvSpPr/>
          <p:nvPr/>
        </p:nvSpPr>
        <p:spPr>
          <a:xfrm>
            <a:off x="4800600" y="4352544"/>
            <a:ext cx="3977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original = {'a':1, 'b':2, 'c':3}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inverted = {v:k for k,v in original.items()}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58A6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print(inverted)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800600" y="4754880"/>
            <a:ext cx="4023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→ {1:'a', 2:'b', 3:'c'}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182880" y="5120640"/>
            <a:ext cx="8778240" cy="27432"/>
          </a:xfrm>
          <a:prstGeom prst="rect">
            <a:avLst/>
          </a:prstGeom>
          <a:solidFill>
            <a:srgbClr val="8892A4"/>
          </a:solidFill>
          <a:ln/>
        </p:spPr>
      </p:sp>
      <p:sp>
        <p:nvSpPr>
          <p:cNvPr id="34" name="Text 32"/>
          <p:cNvSpPr/>
          <p:nvPr/>
        </p:nvSpPr>
        <p:spPr>
          <a:xfrm>
            <a:off x="274320" y="514807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8892A4"/>
                </a:solidFill>
              </a:rPr>
              <a:t>Explain row 4: Swaps keys and values — very useful for reverse-lookup tables.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0E17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Comprehension Types — Side by Side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822960"/>
            <a:ext cx="8686800" cy="1298448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5" name="Shape 3"/>
          <p:cNvSpPr/>
          <p:nvPr/>
        </p:nvSpPr>
        <p:spPr>
          <a:xfrm>
            <a:off x="228600" y="822960"/>
            <a:ext cx="1051560" cy="1298448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6" name="Text 4"/>
          <p:cNvSpPr/>
          <p:nvPr/>
        </p:nvSpPr>
        <p:spPr>
          <a:xfrm>
            <a:off x="228600" y="96012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List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28600" y="141732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 ]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417320" y="89611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</a:rPr>
              <a:t>Syntax: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417320" y="107899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[expr for x in seq if cond]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417320" y="137160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</a:rPr>
              <a:t>Returns: Ordered list, allows duplicates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417320" y="160020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A4"/>
                </a:solidFill>
              </a:rPr>
              <a:t>Use for: Transforming data, generating sequences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23560" y="896112"/>
            <a:ext cx="3200400" cy="11430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0" y="9601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[n**2 for n in range(5)]  → [0,1,4,9,16]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28600" y="2240280"/>
            <a:ext cx="8686800" cy="1298448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5" name="Shape 13"/>
          <p:cNvSpPr/>
          <p:nvPr/>
        </p:nvSpPr>
        <p:spPr>
          <a:xfrm>
            <a:off x="228600" y="2240280"/>
            <a:ext cx="1051560" cy="1298448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16" name="Text 14"/>
          <p:cNvSpPr/>
          <p:nvPr/>
        </p:nvSpPr>
        <p:spPr>
          <a:xfrm>
            <a:off x="228600" y="237744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Set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228600" y="283464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}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417320" y="231343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</a:rPr>
              <a:t>Syntax: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417320" y="249631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{expr for x in seq if cond}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1417320" y="278892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</a:rPr>
              <a:t>Returns: Unordered set, NO duplicates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417320" y="301752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A4"/>
                </a:solidFill>
              </a:rPr>
              <a:t>Use for: Removing duplicates, unique values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623560" y="2313432"/>
            <a:ext cx="3200400" cy="11430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0" y="237744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{n**2 for n in range(5)}  → {0,1,4,9,16}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28600" y="3657600"/>
            <a:ext cx="8686800" cy="1298448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25" name="Shape 23"/>
          <p:cNvSpPr/>
          <p:nvPr/>
        </p:nvSpPr>
        <p:spPr>
          <a:xfrm>
            <a:off x="228600" y="3657600"/>
            <a:ext cx="1051560" cy="1298448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6" name="Text 24"/>
          <p:cNvSpPr/>
          <p:nvPr/>
        </p:nvSpPr>
        <p:spPr>
          <a:xfrm>
            <a:off x="228600" y="3794760"/>
            <a:ext cx="1051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Dict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228600" y="4251960"/>
            <a:ext cx="1051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: }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417320" y="373075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892A4"/>
                </a:solidFill>
              </a:rPr>
              <a:t>Syntax: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417320" y="3913632"/>
            <a:ext cx="4114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{k:v for x in seq if cond}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1417320" y="4206240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F4FD"/>
                </a:solidFill>
              </a:rPr>
              <a:t>Returns: Key-value pairs, unique keys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417320" y="4434840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892A4"/>
                </a:solidFill>
              </a:rPr>
              <a:t>Use for: Building lookup tables, mapping data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623560" y="3730752"/>
            <a:ext cx="3200400" cy="114300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33" name="Text 31"/>
          <p:cNvSpPr/>
          <p:nvPr/>
        </p:nvSpPr>
        <p:spPr>
          <a:xfrm>
            <a:off x="5669280" y="379476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{n:n**2 for n in range(5)}  → {0:0,1:1...}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Summary — Key Takeaways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804672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00B4D8"/>
                </a:solidFill>
              </a:rPr>
              <a:t>Comprehensions = Less code. More clarity. Pure Python.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8595360" cy="54864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6" name="Shape 4"/>
          <p:cNvSpPr/>
          <p:nvPr/>
        </p:nvSpPr>
        <p:spPr>
          <a:xfrm>
            <a:off x="274320" y="1234440"/>
            <a:ext cx="1280160" cy="5486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7" name="Shape 5"/>
          <p:cNvSpPr/>
          <p:nvPr/>
        </p:nvSpPr>
        <p:spPr>
          <a:xfrm>
            <a:off x="274320" y="1234440"/>
            <a:ext cx="64008" cy="5486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2344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691640" y="123444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</a:rPr>
              <a:t>Comprehensions are one-line shortcuts to build lists, sets, and dictionaries from sequences.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1874520"/>
            <a:ext cx="8595360" cy="54864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1" name="Shape 9"/>
          <p:cNvSpPr/>
          <p:nvPr/>
        </p:nvSpPr>
        <p:spPr>
          <a:xfrm>
            <a:off x="274320" y="1874520"/>
            <a:ext cx="1280160" cy="5486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2" name="Shape 10"/>
          <p:cNvSpPr/>
          <p:nvPr/>
        </p:nvSpPr>
        <p:spPr>
          <a:xfrm>
            <a:off x="274320" y="1874520"/>
            <a:ext cx="64008" cy="5486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365760" y="187452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0B4D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  [ ]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691640" y="187452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</a:rPr>
              <a:t>Ordered, allows duplicates. Syntax: [expr for x in seq if cond]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74320" y="2514600"/>
            <a:ext cx="8595360" cy="54864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16" name="Shape 14"/>
          <p:cNvSpPr/>
          <p:nvPr/>
        </p:nvSpPr>
        <p:spPr>
          <a:xfrm>
            <a:off x="274320" y="2514600"/>
            <a:ext cx="1280160" cy="5486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17" name="Shape 15"/>
          <p:cNvSpPr/>
          <p:nvPr/>
        </p:nvSpPr>
        <p:spPr>
          <a:xfrm>
            <a:off x="274320" y="2514600"/>
            <a:ext cx="64008" cy="548640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18" name="Text 16"/>
          <p:cNvSpPr/>
          <p:nvPr/>
        </p:nvSpPr>
        <p:spPr>
          <a:xfrm>
            <a:off x="365760" y="251460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7B2FB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  { }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691640" y="251460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</a:rPr>
              <a:t>Unordered, unique only. Syntax: {expr for x in seq if cond}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274320" y="3154680"/>
            <a:ext cx="8595360" cy="54864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21" name="Shape 19"/>
          <p:cNvSpPr/>
          <p:nvPr/>
        </p:nvSpPr>
        <p:spPr>
          <a:xfrm>
            <a:off x="274320" y="3154680"/>
            <a:ext cx="1280160" cy="5486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2" name="Shape 20"/>
          <p:cNvSpPr/>
          <p:nvPr/>
        </p:nvSpPr>
        <p:spPr>
          <a:xfrm>
            <a:off x="274320" y="3154680"/>
            <a:ext cx="64008" cy="54864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23" name="Text 21"/>
          <p:cNvSpPr/>
          <p:nvPr/>
        </p:nvSpPr>
        <p:spPr>
          <a:xfrm>
            <a:off x="365760" y="315468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6D6A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Dict  { : }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1691640" y="315468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</a:rPr>
              <a:t>Key-value pairs. Syntax: {key: val for x in seq if cond}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74320" y="3794760"/>
            <a:ext cx="8595360" cy="54864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26" name="Shape 24"/>
          <p:cNvSpPr/>
          <p:nvPr/>
        </p:nvSpPr>
        <p:spPr>
          <a:xfrm>
            <a:off x="274320" y="3794760"/>
            <a:ext cx="1280160" cy="5486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27" name="Shape 25"/>
          <p:cNvSpPr/>
          <p:nvPr/>
        </p:nvSpPr>
        <p:spPr>
          <a:xfrm>
            <a:off x="274320" y="3794760"/>
            <a:ext cx="64008" cy="548640"/>
          </a:xfrm>
          <a:prstGeom prst="rect">
            <a:avLst/>
          </a:prstGeom>
          <a:solidFill>
            <a:srgbClr val="FF9F1C"/>
          </a:solidFill>
          <a:ln/>
        </p:spPr>
      </p:sp>
      <p:sp>
        <p:nvSpPr>
          <p:cNvPr id="28" name="Text 26"/>
          <p:cNvSpPr/>
          <p:nvPr/>
        </p:nvSpPr>
        <p:spPr>
          <a:xfrm>
            <a:off x="365760" y="379476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9F1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Tuple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691640" y="379476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</a:rPr>
              <a:t>Tuples are immutable — you cannot use comprehension to build them.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74320" y="4434840"/>
            <a:ext cx="8595360" cy="548640"/>
          </a:xfrm>
          <a:prstGeom prst="rect">
            <a:avLst/>
          </a:prstGeom>
          <a:solidFill>
            <a:srgbClr val="16213E"/>
          </a:solidFill>
          <a:ln/>
        </p:spPr>
      </p:sp>
      <p:sp>
        <p:nvSpPr>
          <p:cNvPr id="31" name="Shape 29"/>
          <p:cNvSpPr/>
          <p:nvPr/>
        </p:nvSpPr>
        <p:spPr>
          <a:xfrm>
            <a:off x="274320" y="4434840"/>
            <a:ext cx="1280160" cy="54864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32" name="Shape 30"/>
          <p:cNvSpPr/>
          <p:nvPr/>
        </p:nvSpPr>
        <p:spPr>
          <a:xfrm>
            <a:off x="274320" y="4434840"/>
            <a:ext cx="64008" cy="548640"/>
          </a:xfrm>
          <a:prstGeom prst="rect">
            <a:avLst/>
          </a:prstGeom>
          <a:solidFill>
            <a:srgbClr val="E94560"/>
          </a:solidFill>
          <a:ln/>
        </p:spPr>
      </p:sp>
      <p:sp>
        <p:nvSpPr>
          <p:cNvPr id="33" name="Text 31"/>
          <p:cNvSpPr/>
          <p:nvPr/>
        </p:nvSpPr>
        <p:spPr>
          <a:xfrm>
            <a:off x="365760" y="4434840"/>
            <a:ext cx="1097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945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Condition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1691640" y="4434840"/>
            <a:ext cx="7040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8F4FD"/>
                </a:solidFill>
              </a:rPr>
              <a:t>The if condition is OPTIONAL. Omit it to include all elements.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365760" y="4919472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8892A4"/>
                </a:solidFill>
              </a:rPr>
              <a:t>Chapter 12 — Python Comprehensions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Python Comprehensions</dc:title>
  <dc:subject>PptxGenJS Presentation</dc:subject>
  <dc:creator>PptxGenJS</dc:creator>
  <cp:lastModifiedBy>PptxGenJS</cp:lastModifiedBy>
  <cp:revision>1</cp:revision>
  <dcterms:created xsi:type="dcterms:W3CDTF">2026-02-18T04:21:36Z</dcterms:created>
  <dcterms:modified xsi:type="dcterms:W3CDTF">2026-02-18T04:21:36Z</dcterms:modified>
</cp:coreProperties>
</file>