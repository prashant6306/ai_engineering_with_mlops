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93338CE-8E44-4C59-B025-1ADA5A9E0585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7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A6135D3-6F02-4F11-8AFD-0668E5D0A1A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CF66D4C-BDD1-46C3-94CF-79FDF85F3EC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44C8F52-7273-4E45-818C-A5DE839A30B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8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431980A-73FC-4311-9B91-BCF13983156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8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AFAEA09-9298-418F-A21D-4921CECCB56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8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3DC544A-281B-4E02-8EBE-95429CBC2C1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9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4977906-7CD4-4F71-A664-7C5AB2D0640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9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27FC82F-567C-4897-B0BE-BBEF93752FF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9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9942C02-1559-41CF-814C-D5657153855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ACDF7B8-AD92-4953-8C7C-CD813F4830F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0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E440AF2-C401-4CB8-9336-CBA95C7EB76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0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0CC6CC7-A384-48A2-B800-2FAA4AEE2AF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0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722C69-1AB5-4520-AD75-4D8D12CF7FC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EA60D48-3830-4078-BE30-17496A7DA33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EE33126-31E5-4BE8-B221-07681A9ECC5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1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D100DDF-4FBD-493D-87FE-3FAC10A53F8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62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62394AB-30A0-4CD9-B225-22F7EBC9E6E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4114800"/>
            <a:ext cx="9143640" cy="10285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457200" y="1097280"/>
            <a:ext cx="109440" cy="27885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777240" y="1097280"/>
            <a:ext cx="7772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OOP in Python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777240" y="1874520"/>
            <a:ext cx="7772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b5de5"/>
                </a:solidFill>
                <a:latin typeface="Calibri"/>
                <a:ea typeface="Calibri"/>
              </a:rPr>
              <a:t>Part 4 — Magic Methods &amp; Fraction Class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777240" y="2724840"/>
            <a:ext cx="7314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90e0ef"/>
                </a:solidFill>
                <a:latin typeface="Calibri"/>
                <a:ea typeface="Calibri"/>
              </a:rPr>
              <a:t>Week 3 · Session 1  |  File 3 of 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457200" y="420624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Topics: Magic Methods • Fraction Class Build • Big Picture • Operator Overloading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6949440" y="228600"/>
            <a:ext cx="2559960" cy="2559960"/>
          </a:xfrm>
          <a:prstGeom prst="ellipse">
            <a:avLst/>
          </a:prstGeom>
          <a:solidFill>
            <a:srgbClr val="9b5de5">
              <a:alpha val="10000"/>
            </a:srgbClr>
          </a:solidFill>
          <a:ln w="12700">
            <a:solidFill>
              <a:srgbClr val="9b5de5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Shape 7"/>
          <p:cNvSpPr/>
          <p:nvPr/>
        </p:nvSpPr>
        <p:spPr>
          <a:xfrm>
            <a:off x="7589520" y="1325880"/>
            <a:ext cx="1371240" cy="1371240"/>
          </a:xfrm>
          <a:prstGeom prst="ellipse">
            <a:avLst/>
          </a:prstGeom>
          <a:solidFill>
            <a:srgbClr val="00b4d8">
              <a:alpha val="13000"/>
            </a:srgbClr>
          </a:solidFill>
          <a:ln w="12700">
            <a:solidFill>
              <a:srgbClr val="00b4d8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Session Roadmap — Part 4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What this file covers, in transcript order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6" name="Shape 4"/>
          <p:cNvSpPr/>
          <p:nvPr/>
        </p:nvSpPr>
        <p:spPr>
          <a:xfrm>
            <a:off x="365760" y="1170360"/>
            <a:ext cx="8412120" cy="5666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7" name="Shape 5"/>
          <p:cNvSpPr/>
          <p:nvPr/>
        </p:nvSpPr>
        <p:spPr>
          <a:xfrm>
            <a:off x="365760" y="1170360"/>
            <a:ext cx="475200" cy="56664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6"/>
          <p:cNvSpPr/>
          <p:nvPr/>
        </p:nvSpPr>
        <p:spPr>
          <a:xfrm>
            <a:off x="365760" y="1170360"/>
            <a:ext cx="475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951120" y="122544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Magic Methods — What &amp; Why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951120" y="1499760"/>
            <a:ext cx="7589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Double underscore pattern · 500+ available · Auto-triggered · Dunder methods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1" name="Shape 9"/>
          <p:cNvSpPr/>
          <p:nvPr/>
        </p:nvSpPr>
        <p:spPr>
          <a:xfrm>
            <a:off x="365760" y="1828800"/>
            <a:ext cx="8412120" cy="5666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2" name="Shape 10"/>
          <p:cNvSpPr/>
          <p:nvPr/>
        </p:nvSpPr>
        <p:spPr>
          <a:xfrm>
            <a:off x="365760" y="1828800"/>
            <a:ext cx="475200" cy="56664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11"/>
          <p:cNvSpPr/>
          <p:nvPr/>
        </p:nvSpPr>
        <p:spPr>
          <a:xfrm>
            <a:off x="365760" y="1828800"/>
            <a:ext cx="475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951120" y="188352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The Problem: No Fraction Type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5" name="Text 13"/>
          <p:cNvSpPr/>
          <p:nvPr/>
        </p:nvSpPr>
        <p:spPr>
          <a:xfrm>
            <a:off x="951120" y="2157840"/>
            <a:ext cx="7589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Python has no fraction type · 3/4 * 1/2 = 0.375, not 3/8 · We must build it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6" name="Shape 14"/>
          <p:cNvSpPr/>
          <p:nvPr/>
        </p:nvSpPr>
        <p:spPr>
          <a:xfrm>
            <a:off x="365760" y="2487240"/>
            <a:ext cx="8412120" cy="5666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7" name="Shape 15"/>
          <p:cNvSpPr/>
          <p:nvPr/>
        </p:nvSpPr>
        <p:spPr>
          <a:xfrm>
            <a:off x="365760" y="2487240"/>
            <a:ext cx="475200" cy="56664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16"/>
          <p:cNvSpPr/>
          <p:nvPr/>
        </p:nvSpPr>
        <p:spPr>
          <a:xfrm>
            <a:off x="365760" y="2487240"/>
            <a:ext cx="475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9" name="Text 17"/>
          <p:cNvSpPr/>
          <p:nvPr/>
        </p:nvSpPr>
        <p:spPr>
          <a:xfrm>
            <a:off x="951120" y="254196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Constructor Types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0" name="Text 18"/>
          <p:cNvSpPr/>
          <p:nvPr/>
        </p:nvSpPr>
        <p:spPr>
          <a:xfrm>
            <a:off x="951120" y="2816280"/>
            <a:ext cx="7589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Non-Parameterized (ATM) vs Parameterized (Fraction) with error proof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1" name="Shape 19"/>
          <p:cNvSpPr/>
          <p:nvPr/>
        </p:nvSpPr>
        <p:spPr>
          <a:xfrm>
            <a:off x="365760" y="3145680"/>
            <a:ext cx="8412120" cy="5666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2" name="Shape 20"/>
          <p:cNvSpPr/>
          <p:nvPr/>
        </p:nvSpPr>
        <p:spPr>
          <a:xfrm>
            <a:off x="365760" y="3145680"/>
            <a:ext cx="475200" cy="56664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21"/>
          <p:cNvSpPr/>
          <p:nvPr/>
        </p:nvSpPr>
        <p:spPr>
          <a:xfrm>
            <a:off x="365760" y="3145680"/>
            <a:ext cx="475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4" name="Text 22"/>
          <p:cNvSpPr/>
          <p:nvPr/>
        </p:nvSpPr>
        <p:spPr>
          <a:xfrm>
            <a:off x="951120" y="320040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Building Fraction — Step by Step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5" name="Text 23"/>
          <p:cNvSpPr/>
          <p:nvPr/>
        </p:nvSpPr>
        <p:spPr>
          <a:xfrm>
            <a:off x="951120" y="3474720"/>
            <a:ext cx="7589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__str__, __add__, __sub__, __mul__, __truediv__ + convert_to_decimal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6" name="Shape 24"/>
          <p:cNvSpPr/>
          <p:nvPr/>
        </p:nvSpPr>
        <p:spPr>
          <a:xfrm>
            <a:off x="365760" y="3803760"/>
            <a:ext cx="8412120" cy="5666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7" name="Shape 25"/>
          <p:cNvSpPr/>
          <p:nvPr/>
        </p:nvSpPr>
        <p:spPr>
          <a:xfrm>
            <a:off x="365760" y="3803760"/>
            <a:ext cx="475200" cy="56664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26"/>
          <p:cNvSpPr/>
          <p:nvPr/>
        </p:nvSpPr>
        <p:spPr>
          <a:xfrm>
            <a:off x="365760" y="3803760"/>
            <a:ext cx="475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9" name="Text 27"/>
          <p:cNvSpPr/>
          <p:nvPr/>
        </p:nvSpPr>
        <p:spPr>
          <a:xfrm>
            <a:off x="951120" y="385884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Complete Fraction Class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0" name="Text 28"/>
          <p:cNvSpPr/>
          <p:nvPr/>
        </p:nvSpPr>
        <p:spPr>
          <a:xfrm>
            <a:off x="951120" y="4133160"/>
            <a:ext cx="7589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All 7 methods assembled, all test outputs verified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1" name="Shape 29"/>
          <p:cNvSpPr/>
          <p:nvPr/>
        </p:nvSpPr>
        <p:spPr>
          <a:xfrm>
            <a:off x="365760" y="4462200"/>
            <a:ext cx="8412120" cy="5666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2" name="Shape 30"/>
          <p:cNvSpPr/>
          <p:nvPr/>
        </p:nvSpPr>
        <p:spPr>
          <a:xfrm>
            <a:off x="365760" y="4462200"/>
            <a:ext cx="475200" cy="56664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31"/>
          <p:cNvSpPr/>
          <p:nvPr/>
        </p:nvSpPr>
        <p:spPr>
          <a:xfrm>
            <a:off x="365760" y="4462200"/>
            <a:ext cx="475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06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4" name="Text 32"/>
          <p:cNvSpPr/>
          <p:nvPr/>
        </p:nvSpPr>
        <p:spPr>
          <a:xfrm>
            <a:off x="951120" y="451728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The Big Picture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5" name="Text 33"/>
          <p:cNvSpPr/>
          <p:nvPr/>
        </p:nvSpPr>
        <p:spPr>
          <a:xfrm>
            <a:off x="951120" y="4791600"/>
            <a:ext cx="7589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Libraries are just classes · NumPy, Pandas, Matplotlib · You can build them too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Magic Methods — What Are They?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11 — Special methods with unique auto-trigger superpowers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0" name="Shape 4"/>
          <p:cNvSpPr/>
          <p:nvPr/>
        </p:nvSpPr>
        <p:spPr>
          <a:xfrm>
            <a:off x="320040" y="1143000"/>
            <a:ext cx="8503560" cy="9140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1" name="Shape 5"/>
          <p:cNvSpPr/>
          <p:nvPr/>
        </p:nvSpPr>
        <p:spPr>
          <a:xfrm>
            <a:off x="320040" y="1143000"/>
            <a:ext cx="8503560" cy="727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6"/>
          <p:cNvSpPr/>
          <p:nvPr/>
        </p:nvSpPr>
        <p:spPr>
          <a:xfrm>
            <a:off x="457200" y="1261800"/>
            <a:ext cx="16912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9b5de5"/>
                </a:solidFill>
                <a:latin typeface="Calibri"/>
                <a:ea typeface="Calibri"/>
              </a:rPr>
              <a:t>⚡ </a:t>
            </a:r>
            <a:r>
              <a:rPr b="1" lang="en-US" sz="1300" spc="-1" strike="noStrike">
                <a:solidFill>
                  <a:srgbClr val="9b5de5"/>
                </a:solidFill>
                <a:latin typeface="Calibri"/>
                <a:ea typeface="Calibri"/>
              </a:rPr>
              <a:t>Definition: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3" name="Text 7"/>
          <p:cNvSpPr/>
          <p:nvPr/>
        </p:nvSpPr>
        <p:spPr>
          <a:xfrm>
            <a:off x="2148840" y="1261800"/>
            <a:ext cx="6491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Magic Methods are special methods that are AUTOMATICALLY triggered in specific situations — you never call them directly; Python calls them for you.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457200" y="190188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Also known as 'Dunder Methods' — Double UNDERscore before AND after the name. Both names are valid in interviews.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95" name="Shape 9"/>
          <p:cNvSpPr/>
          <p:nvPr/>
        </p:nvSpPr>
        <p:spPr>
          <a:xfrm>
            <a:off x="320040" y="2267640"/>
            <a:ext cx="4096080" cy="2742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6" name="Text 10"/>
          <p:cNvSpPr/>
          <p:nvPr/>
        </p:nvSpPr>
        <p:spPr>
          <a:xfrm>
            <a:off x="457200" y="237744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de5"/>
                </a:solidFill>
                <a:latin typeface="Calibri"/>
                <a:ea typeface="Calibri"/>
              </a:rPr>
              <a:t>How to Identify a Magic Method: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7" name="Shape 11"/>
          <p:cNvSpPr/>
          <p:nvPr/>
        </p:nvSpPr>
        <p:spPr>
          <a:xfrm>
            <a:off x="365760" y="2706480"/>
            <a:ext cx="4004640" cy="217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Shape 12"/>
          <p:cNvSpPr/>
          <p:nvPr/>
        </p:nvSpPr>
        <p:spPr>
          <a:xfrm>
            <a:off x="365760" y="2706480"/>
            <a:ext cx="566640" cy="200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13"/>
          <p:cNvSpPr/>
          <p:nvPr/>
        </p:nvSpPr>
        <p:spPr>
          <a:xfrm>
            <a:off x="365760" y="270648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457200" y="2962800"/>
            <a:ext cx="382176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b5de5"/>
                </a:solidFill>
                <a:latin typeface="Consolas"/>
                <a:ea typeface="Consolas"/>
              </a:rPr>
              <a:t>__name__   # double underscore BOTH sides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da9c4"/>
                </a:solidFill>
                <a:latin typeface="Consolas"/>
                <a:ea typeface="Consolas"/>
              </a:rPr>
              <a:t># Examples: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b5de5"/>
                </a:solidFill>
                <a:latin typeface="Consolas"/>
                <a:ea typeface="Consolas"/>
              </a:rPr>
              <a:t>__init__   # constructor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b5de5"/>
                </a:solidFill>
                <a:latin typeface="Consolas"/>
                <a:ea typeface="Consolas"/>
              </a:rPr>
              <a:t>__str__    # print representation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b5de5"/>
                </a:solidFill>
                <a:latin typeface="Consolas"/>
                <a:ea typeface="Consolas"/>
              </a:rPr>
              <a:t>__add__    # + operator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b5de5"/>
                </a:solidFill>
                <a:latin typeface="Consolas"/>
                <a:ea typeface="Consolas"/>
              </a:rPr>
              <a:t>__mul__    # * operator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1" name="Shape 15"/>
          <p:cNvSpPr/>
          <p:nvPr/>
        </p:nvSpPr>
        <p:spPr>
          <a:xfrm>
            <a:off x="4727520" y="2267640"/>
            <a:ext cx="4096080" cy="2742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2" name="Text 16"/>
          <p:cNvSpPr/>
          <p:nvPr/>
        </p:nvSpPr>
        <p:spPr>
          <a:xfrm>
            <a:off x="4864680" y="237744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Key Facts: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3" name="Text 17"/>
          <p:cNvSpPr/>
          <p:nvPr/>
        </p:nvSpPr>
        <p:spPr>
          <a:xfrm>
            <a:off x="4864680" y="2706480"/>
            <a:ext cx="3748680" cy="21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Python has 500+ magic methods total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Each has a unique auto-trigger condition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You've already used one: __init__ IS a magic method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Its superpower: runs on object creation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Called 'Dunder' = Double UNDERscore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Operator Overloading is implemented using them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4" name="Shape 18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5" name="Shape 19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20"/>
          <p:cNvSpPr/>
          <p:nvPr/>
        </p:nvSpPr>
        <p:spPr>
          <a:xfrm>
            <a:off x="50292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Interview Tip: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'Magic method' and 'Dunder method' mean the same thing — use either term confidently. Interviewers may ask about both.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6 Magic Methods Covered in This Session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11.2 — What each one does and when Python triggers it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1" name="Shape 4"/>
          <p:cNvSpPr/>
          <p:nvPr/>
        </p:nvSpPr>
        <p:spPr>
          <a:xfrm>
            <a:off x="320040" y="1143000"/>
            <a:ext cx="8503560" cy="383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5"/>
          <p:cNvSpPr/>
          <p:nvPr/>
        </p:nvSpPr>
        <p:spPr>
          <a:xfrm>
            <a:off x="457200" y="114300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de5"/>
                </a:solidFill>
                <a:latin typeface="Calibri"/>
                <a:ea typeface="Calibri"/>
              </a:rPr>
              <a:t>Magic Method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2468880" y="114300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de5"/>
                </a:solidFill>
                <a:latin typeface="Calibri"/>
                <a:ea typeface="Calibri"/>
              </a:rPr>
              <a:t>Triggered When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5212080" y="1143000"/>
            <a:ext cx="3474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de5"/>
                </a:solidFill>
                <a:latin typeface="Calibri"/>
                <a:ea typeface="Calibri"/>
              </a:rPr>
              <a:t>Superpower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5" name="Shape 8"/>
          <p:cNvSpPr/>
          <p:nvPr/>
        </p:nvSpPr>
        <p:spPr>
          <a:xfrm>
            <a:off x="320040" y="1572840"/>
            <a:ext cx="8503560" cy="5115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6" name="Shape 9"/>
          <p:cNvSpPr/>
          <p:nvPr/>
        </p:nvSpPr>
        <p:spPr>
          <a:xfrm>
            <a:off x="320040" y="1572840"/>
            <a:ext cx="72720" cy="51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10"/>
          <p:cNvSpPr/>
          <p:nvPr/>
        </p:nvSpPr>
        <p:spPr>
          <a:xfrm>
            <a:off x="457200" y="1572840"/>
            <a:ext cx="19656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onsolas"/>
                <a:ea typeface="Consolas"/>
              </a:rPr>
              <a:t>__init__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8" name="Text 11"/>
          <p:cNvSpPr/>
          <p:nvPr/>
        </p:nvSpPr>
        <p:spPr>
          <a:xfrm>
            <a:off x="2468880" y="1572840"/>
            <a:ext cx="2697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Object is created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9" name="Text 12"/>
          <p:cNvSpPr/>
          <p:nvPr/>
        </p:nvSpPr>
        <p:spPr>
          <a:xfrm>
            <a:off x="5212080" y="1572840"/>
            <a:ext cx="34743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da9c4"/>
                </a:solidFill>
                <a:latin typeface="Calibri"/>
                <a:ea typeface="Calibri"/>
              </a:rPr>
              <a:t>Auto-initialises the object (Constructor)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0" name="Shape 13"/>
          <p:cNvSpPr/>
          <p:nvPr/>
        </p:nvSpPr>
        <p:spPr>
          <a:xfrm>
            <a:off x="320040" y="2139840"/>
            <a:ext cx="8503560" cy="5115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1" name="Shape 14"/>
          <p:cNvSpPr/>
          <p:nvPr/>
        </p:nvSpPr>
        <p:spPr>
          <a:xfrm>
            <a:off x="320040" y="2139840"/>
            <a:ext cx="72720" cy="5115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15"/>
          <p:cNvSpPr/>
          <p:nvPr/>
        </p:nvSpPr>
        <p:spPr>
          <a:xfrm>
            <a:off x="457200" y="2139840"/>
            <a:ext cx="19656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onsolas"/>
                <a:ea typeface="Consolas"/>
              </a:rPr>
              <a:t>__str__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3" name="Text 16"/>
          <p:cNvSpPr/>
          <p:nvPr/>
        </p:nvSpPr>
        <p:spPr>
          <a:xfrm>
            <a:off x="2468880" y="2139840"/>
            <a:ext cx="2697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print(object) is called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4" name="Text 17"/>
          <p:cNvSpPr/>
          <p:nvPr/>
        </p:nvSpPr>
        <p:spPr>
          <a:xfrm>
            <a:off x="5212080" y="2139840"/>
            <a:ext cx="34743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da9c4"/>
                </a:solidFill>
                <a:latin typeface="Calibri"/>
                <a:ea typeface="Calibri"/>
              </a:rPr>
              <a:t>Defines how the object looks when printed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5" name="Shape 18"/>
          <p:cNvSpPr/>
          <p:nvPr/>
        </p:nvSpPr>
        <p:spPr>
          <a:xfrm>
            <a:off x="320040" y="2706480"/>
            <a:ext cx="8503560" cy="5115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6" name="Shape 19"/>
          <p:cNvSpPr/>
          <p:nvPr/>
        </p:nvSpPr>
        <p:spPr>
          <a:xfrm>
            <a:off x="320040" y="2706480"/>
            <a:ext cx="72720" cy="5115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20"/>
          <p:cNvSpPr/>
          <p:nvPr/>
        </p:nvSpPr>
        <p:spPr>
          <a:xfrm>
            <a:off x="457200" y="2706480"/>
            <a:ext cx="19656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de5"/>
                </a:solidFill>
                <a:latin typeface="Consolas"/>
                <a:ea typeface="Consolas"/>
              </a:rPr>
              <a:t>__add__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8" name="Text 21"/>
          <p:cNvSpPr/>
          <p:nvPr/>
        </p:nvSpPr>
        <p:spPr>
          <a:xfrm>
            <a:off x="2468880" y="2706480"/>
            <a:ext cx="2697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obj1 + obj2 is used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9" name="Text 22"/>
          <p:cNvSpPr/>
          <p:nvPr/>
        </p:nvSpPr>
        <p:spPr>
          <a:xfrm>
            <a:off x="5212080" y="2706480"/>
            <a:ext cx="34743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da9c4"/>
                </a:solidFill>
                <a:latin typeface="Calibri"/>
                <a:ea typeface="Calibri"/>
              </a:rPr>
              <a:t>Defines behavior of the + operator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0" name="Shape 23"/>
          <p:cNvSpPr/>
          <p:nvPr/>
        </p:nvSpPr>
        <p:spPr>
          <a:xfrm>
            <a:off x="320040" y="3273480"/>
            <a:ext cx="8503560" cy="5115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1" name="Shape 24"/>
          <p:cNvSpPr/>
          <p:nvPr/>
        </p:nvSpPr>
        <p:spPr>
          <a:xfrm>
            <a:off x="320040" y="3273480"/>
            <a:ext cx="72720" cy="5115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25"/>
          <p:cNvSpPr/>
          <p:nvPr/>
        </p:nvSpPr>
        <p:spPr>
          <a:xfrm>
            <a:off x="457200" y="3273480"/>
            <a:ext cx="19656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onsolas"/>
                <a:ea typeface="Consolas"/>
              </a:rPr>
              <a:t>__sub__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3" name="Text 26"/>
          <p:cNvSpPr/>
          <p:nvPr/>
        </p:nvSpPr>
        <p:spPr>
          <a:xfrm>
            <a:off x="2468880" y="3273480"/>
            <a:ext cx="2697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obj1 - obj2 is used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4" name="Text 27"/>
          <p:cNvSpPr/>
          <p:nvPr/>
        </p:nvSpPr>
        <p:spPr>
          <a:xfrm>
            <a:off x="5212080" y="3273480"/>
            <a:ext cx="34743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da9c4"/>
                </a:solidFill>
                <a:latin typeface="Calibri"/>
                <a:ea typeface="Calibri"/>
              </a:rPr>
              <a:t>Defines behavior of the − operator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5" name="Shape 28"/>
          <p:cNvSpPr/>
          <p:nvPr/>
        </p:nvSpPr>
        <p:spPr>
          <a:xfrm>
            <a:off x="320040" y="3840480"/>
            <a:ext cx="8503560" cy="5115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6" name="Shape 29"/>
          <p:cNvSpPr/>
          <p:nvPr/>
        </p:nvSpPr>
        <p:spPr>
          <a:xfrm>
            <a:off x="320040" y="3840480"/>
            <a:ext cx="72720" cy="5115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30"/>
          <p:cNvSpPr/>
          <p:nvPr/>
        </p:nvSpPr>
        <p:spPr>
          <a:xfrm>
            <a:off x="457200" y="3840480"/>
            <a:ext cx="19656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Consolas"/>
                <a:ea typeface="Consolas"/>
              </a:rPr>
              <a:t>__mul__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8" name="Text 31"/>
          <p:cNvSpPr/>
          <p:nvPr/>
        </p:nvSpPr>
        <p:spPr>
          <a:xfrm>
            <a:off x="2468880" y="3840480"/>
            <a:ext cx="2697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obj1 * obj2 is used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9" name="Text 32"/>
          <p:cNvSpPr/>
          <p:nvPr/>
        </p:nvSpPr>
        <p:spPr>
          <a:xfrm>
            <a:off x="5212080" y="3840480"/>
            <a:ext cx="34743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da9c4"/>
                </a:solidFill>
                <a:latin typeface="Calibri"/>
                <a:ea typeface="Calibri"/>
              </a:rPr>
              <a:t>Defines behavior of the × operator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0" name="Shape 33"/>
          <p:cNvSpPr/>
          <p:nvPr/>
        </p:nvSpPr>
        <p:spPr>
          <a:xfrm>
            <a:off x="320040" y="4407480"/>
            <a:ext cx="8503560" cy="5115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1" name="Shape 34"/>
          <p:cNvSpPr/>
          <p:nvPr/>
        </p:nvSpPr>
        <p:spPr>
          <a:xfrm>
            <a:off x="320040" y="4407480"/>
            <a:ext cx="72720" cy="51156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35"/>
          <p:cNvSpPr/>
          <p:nvPr/>
        </p:nvSpPr>
        <p:spPr>
          <a:xfrm>
            <a:off x="457200" y="4407480"/>
            <a:ext cx="19656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0e0ef"/>
                </a:solidFill>
                <a:latin typeface="Consolas"/>
                <a:ea typeface="Consolas"/>
              </a:rPr>
              <a:t>__truediv__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3" name="Text 36"/>
          <p:cNvSpPr/>
          <p:nvPr/>
        </p:nvSpPr>
        <p:spPr>
          <a:xfrm>
            <a:off x="2468880" y="4407480"/>
            <a:ext cx="2697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obj1 / obj2 is used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4" name="Text 37"/>
          <p:cNvSpPr/>
          <p:nvPr/>
        </p:nvSpPr>
        <p:spPr>
          <a:xfrm>
            <a:off x="5212080" y="4407480"/>
            <a:ext cx="34743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da9c4"/>
                </a:solidFill>
                <a:latin typeface="Calibri"/>
                <a:ea typeface="Calibri"/>
              </a:rPr>
              <a:t>Defines behavior of the ÷ operator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5" name="Shape 38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6" name="Shape 39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40"/>
          <p:cNvSpPr/>
          <p:nvPr/>
        </p:nvSpPr>
        <p:spPr>
          <a:xfrm>
            <a:off x="360000" y="5143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Operator Overloading: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Student Sunil correctly noted that using magic methods to redefine operators is called 'Operator Overloading' — a form of Polymorphism (Day 2 topic).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Why Do Some Operations Give Errors?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51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11.3 — No magic method = operation not supported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2" name="Shape 4"/>
          <p:cNvSpPr/>
          <p:nvPr/>
        </p:nvSpPr>
        <p:spPr>
          <a:xfrm>
            <a:off x="320040" y="1143000"/>
            <a:ext cx="8503560" cy="15998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Text 5"/>
          <p:cNvSpPr/>
          <p:nvPr/>
        </p:nvSpPr>
        <p:spPr>
          <a:xfrm>
            <a:off x="457200" y="123444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Calibri"/>
                <a:ea typeface="Calibri"/>
              </a:rPr>
              <a:t>Proof: Set + Set gives an error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4" name="Shape 6"/>
          <p:cNvSpPr/>
          <p:nvPr/>
        </p:nvSpPr>
        <p:spPr>
          <a:xfrm>
            <a:off x="365760" y="1536120"/>
            <a:ext cx="8412120" cy="1115280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Shape 7"/>
          <p:cNvSpPr/>
          <p:nvPr/>
        </p:nvSpPr>
        <p:spPr>
          <a:xfrm>
            <a:off x="365760" y="1536120"/>
            <a:ext cx="566640" cy="2008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8"/>
          <p:cNvSpPr/>
          <p:nvPr/>
        </p:nvSpPr>
        <p:spPr>
          <a:xfrm>
            <a:off x="365760" y="153612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57" name="Text 9"/>
          <p:cNvSpPr/>
          <p:nvPr/>
        </p:nvSpPr>
        <p:spPr>
          <a:xfrm>
            <a:off x="457200" y="1792080"/>
            <a:ext cx="822924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0f4f8"/>
                </a:solidFill>
                <a:latin typeface="Consolas"/>
                <a:ea typeface="Consolas"/>
              </a:rPr>
              <a:t>basket1 = {1, 2, 3}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0f4f8"/>
                </a:solidFill>
                <a:latin typeface="Consolas"/>
                <a:ea typeface="Consolas"/>
              </a:rPr>
              <a:t>basket2 = {3, 4, 5}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0f4f8"/>
                </a:solidFill>
                <a:latin typeface="Consolas"/>
                <a:ea typeface="Consolas"/>
              </a:rPr>
              <a:t>basket1 + basket2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8da9c4"/>
                </a:solidFill>
                <a:latin typeface="Consolas"/>
                <a:ea typeface="Consolas"/>
              </a:rPr>
              <a:t># ERROR: unsupported operand type(s) for +: 'set' and 'set'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8da9c4"/>
                </a:solidFill>
                <a:latin typeface="Consolas"/>
                <a:ea typeface="Consolas"/>
              </a:rPr>
              <a:t># Reason: whoever built the 'set' class never wrote __add__ inside it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58" name="Shape 10"/>
          <p:cNvSpPr/>
          <p:nvPr/>
        </p:nvSpPr>
        <p:spPr>
          <a:xfrm>
            <a:off x="320040" y="2853000"/>
            <a:ext cx="2029680" cy="10512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9" name="Shape 11"/>
          <p:cNvSpPr/>
          <p:nvPr/>
        </p:nvSpPr>
        <p:spPr>
          <a:xfrm>
            <a:off x="320040" y="2853000"/>
            <a:ext cx="202968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Shape 12"/>
          <p:cNvSpPr/>
          <p:nvPr/>
        </p:nvSpPr>
        <p:spPr>
          <a:xfrm>
            <a:off x="548640" y="2962800"/>
            <a:ext cx="347040" cy="347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13"/>
          <p:cNvSpPr/>
          <p:nvPr/>
        </p:nvSpPr>
        <p:spPr>
          <a:xfrm>
            <a:off x="548640" y="2962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2" name="Text 14"/>
          <p:cNvSpPr/>
          <p:nvPr/>
        </p:nvSpPr>
        <p:spPr>
          <a:xfrm>
            <a:off x="969120" y="2907720"/>
            <a:ext cx="126144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You write:  basket1 + basket2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3" name="Text 15"/>
          <p:cNvSpPr/>
          <p:nvPr/>
        </p:nvSpPr>
        <p:spPr>
          <a:xfrm>
            <a:off x="2350080" y="3246120"/>
            <a:ext cx="14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8da9c4"/>
                </a:solidFill>
                <a:latin typeface="Calibri"/>
                <a:ea typeface="Calibri"/>
              </a:rPr>
              <a:t>→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4" name="Shape 16"/>
          <p:cNvSpPr/>
          <p:nvPr/>
        </p:nvSpPr>
        <p:spPr>
          <a:xfrm>
            <a:off x="2514600" y="2853000"/>
            <a:ext cx="2029680" cy="10512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5" name="Shape 17"/>
          <p:cNvSpPr/>
          <p:nvPr/>
        </p:nvSpPr>
        <p:spPr>
          <a:xfrm>
            <a:off x="2514600" y="2853000"/>
            <a:ext cx="202968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Shape 18"/>
          <p:cNvSpPr/>
          <p:nvPr/>
        </p:nvSpPr>
        <p:spPr>
          <a:xfrm>
            <a:off x="2743200" y="2962800"/>
            <a:ext cx="347040" cy="347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19"/>
          <p:cNvSpPr/>
          <p:nvPr/>
        </p:nvSpPr>
        <p:spPr>
          <a:xfrm>
            <a:off x="2743200" y="2962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8" name="Text 20"/>
          <p:cNvSpPr/>
          <p:nvPr/>
        </p:nvSpPr>
        <p:spPr>
          <a:xfrm>
            <a:off x="3163680" y="2907720"/>
            <a:ext cx="126144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alibri"/>
                <a:ea typeface="Calibri"/>
              </a:rPr>
              <a:t>Python looks for __add__ inside the set class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9" name="Text 21"/>
          <p:cNvSpPr/>
          <p:nvPr/>
        </p:nvSpPr>
        <p:spPr>
          <a:xfrm>
            <a:off x="4544640" y="3246120"/>
            <a:ext cx="14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8da9c4"/>
                </a:solidFill>
                <a:latin typeface="Calibri"/>
                <a:ea typeface="Calibri"/>
              </a:rPr>
              <a:t>→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0" name="Shape 22"/>
          <p:cNvSpPr/>
          <p:nvPr/>
        </p:nvSpPr>
        <p:spPr>
          <a:xfrm>
            <a:off x="4709160" y="2853000"/>
            <a:ext cx="2029680" cy="10512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1" name="Shape 23"/>
          <p:cNvSpPr/>
          <p:nvPr/>
        </p:nvSpPr>
        <p:spPr>
          <a:xfrm>
            <a:off x="4709160" y="2853000"/>
            <a:ext cx="2029680" cy="5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Shape 24"/>
          <p:cNvSpPr/>
          <p:nvPr/>
        </p:nvSpPr>
        <p:spPr>
          <a:xfrm>
            <a:off x="4937760" y="2962800"/>
            <a:ext cx="347040" cy="3470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25"/>
          <p:cNvSpPr/>
          <p:nvPr/>
        </p:nvSpPr>
        <p:spPr>
          <a:xfrm>
            <a:off x="4937760" y="2962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4" name="Text 26"/>
          <p:cNvSpPr/>
          <p:nvPr/>
        </p:nvSpPr>
        <p:spPr>
          <a:xfrm>
            <a:off x="5358240" y="2907720"/>
            <a:ext cx="126144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6b6b"/>
                </a:solidFill>
                <a:latin typeface="Calibri"/>
                <a:ea typeface="Calibri"/>
              </a:rPr>
              <a:t>__add__ not found — it was never written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5" name="Text 27"/>
          <p:cNvSpPr/>
          <p:nvPr/>
        </p:nvSpPr>
        <p:spPr>
          <a:xfrm>
            <a:off x="6739200" y="3246120"/>
            <a:ext cx="14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8da9c4"/>
                </a:solidFill>
                <a:latin typeface="Calibri"/>
                <a:ea typeface="Calibri"/>
              </a:rPr>
              <a:t>→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6" name="Shape 28"/>
          <p:cNvSpPr/>
          <p:nvPr/>
        </p:nvSpPr>
        <p:spPr>
          <a:xfrm>
            <a:off x="6903720" y="2853000"/>
            <a:ext cx="2029680" cy="10512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7" name="Shape 29"/>
          <p:cNvSpPr/>
          <p:nvPr/>
        </p:nvSpPr>
        <p:spPr>
          <a:xfrm>
            <a:off x="6903720" y="2853000"/>
            <a:ext cx="2029680" cy="5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Shape 30"/>
          <p:cNvSpPr/>
          <p:nvPr/>
        </p:nvSpPr>
        <p:spPr>
          <a:xfrm>
            <a:off x="7132320" y="2962800"/>
            <a:ext cx="347040" cy="3470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31"/>
          <p:cNvSpPr/>
          <p:nvPr/>
        </p:nvSpPr>
        <p:spPr>
          <a:xfrm>
            <a:off x="7132320" y="2962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0" name="Text 32"/>
          <p:cNvSpPr/>
          <p:nvPr/>
        </p:nvSpPr>
        <p:spPr>
          <a:xfrm>
            <a:off x="7552800" y="2907720"/>
            <a:ext cx="126144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6b6b"/>
                </a:solidFill>
                <a:latin typeface="Calibri"/>
                <a:ea typeface="Calibri"/>
              </a:rPr>
              <a:t>Python throws: unsupported operand type error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1" name="Shape 33"/>
          <p:cNvSpPr/>
          <p:nvPr/>
        </p:nvSpPr>
        <p:spPr>
          <a:xfrm>
            <a:off x="320040" y="4005000"/>
            <a:ext cx="8503560" cy="685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2" name="Shape 34"/>
          <p:cNvSpPr/>
          <p:nvPr/>
        </p:nvSpPr>
        <p:spPr>
          <a:xfrm>
            <a:off x="320040" y="4005000"/>
            <a:ext cx="8503560" cy="63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35"/>
          <p:cNvSpPr/>
          <p:nvPr/>
        </p:nvSpPr>
        <p:spPr>
          <a:xfrm>
            <a:off x="457200" y="409644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The Fix: Add __add__ to the class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4" name="Shape 36"/>
          <p:cNvSpPr/>
          <p:nvPr/>
        </p:nvSpPr>
        <p:spPr>
          <a:xfrm>
            <a:off x="365760" y="4370760"/>
            <a:ext cx="8412120" cy="255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Shape 37"/>
          <p:cNvSpPr/>
          <p:nvPr/>
        </p:nvSpPr>
        <p:spPr>
          <a:xfrm>
            <a:off x="365760" y="4370760"/>
            <a:ext cx="566640" cy="2008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38"/>
          <p:cNvSpPr/>
          <p:nvPr/>
        </p:nvSpPr>
        <p:spPr>
          <a:xfrm>
            <a:off x="365760" y="437076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87" name="Text 39"/>
          <p:cNvSpPr/>
          <p:nvPr/>
        </p:nvSpPr>
        <p:spPr>
          <a:xfrm>
            <a:off x="457200" y="4581360"/>
            <a:ext cx="8229240" cy="4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da9c4"/>
                </a:solidFill>
                <a:latin typeface="Consolas"/>
                <a:ea typeface="Consolas"/>
              </a:rPr>
              <a:t># Before __add__:  fr1 + fr2  →  ERROR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da9c4"/>
                </a:solidFill>
                <a:latin typeface="Consolas"/>
                <a:ea typeface="Consolas"/>
              </a:rPr>
              <a:t># After __add__:   fr1 + fr2  →  25/22  ✔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8" name="Shape 40"/>
          <p:cNvSpPr/>
          <p:nvPr/>
        </p:nvSpPr>
        <p:spPr>
          <a:xfrm>
            <a:off x="316440" y="522000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Rule: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No __add__ method in a class = the + operator is not supported for objects of that class. The same applies to −, ×, ÷ and every other operator.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89" name="Shape 41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42"/>
          <p:cNvSpPr/>
          <p:nvPr/>
        </p:nvSpPr>
        <p:spPr>
          <a:xfrm>
            <a:off x="50292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Rule: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No __add__ method in a class = the + operator is not supported for objects of that class. The same applies to −, ×, ÷ and every other operator.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The Problem — Python Has No Fraction Type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94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12.1 — The motivation for building our own data type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5" name="Shape 4"/>
          <p:cNvSpPr/>
          <p:nvPr/>
        </p:nvSpPr>
        <p:spPr>
          <a:xfrm>
            <a:off x="320040" y="1143000"/>
            <a:ext cx="8503560" cy="14810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6" name="Text 5"/>
          <p:cNvSpPr/>
          <p:nvPr/>
        </p:nvSpPr>
        <p:spPr>
          <a:xfrm>
            <a:off x="457200" y="123444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Calibri"/>
                <a:ea typeface="Calibri"/>
              </a:rPr>
              <a:t>What Python gives us (without our class):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7" name="Shape 6"/>
          <p:cNvSpPr/>
          <p:nvPr/>
        </p:nvSpPr>
        <p:spPr>
          <a:xfrm>
            <a:off x="365760" y="1536120"/>
            <a:ext cx="8412120" cy="1005480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Shape 7"/>
          <p:cNvSpPr/>
          <p:nvPr/>
        </p:nvSpPr>
        <p:spPr>
          <a:xfrm>
            <a:off x="365760" y="1536120"/>
            <a:ext cx="566640" cy="2008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8"/>
          <p:cNvSpPr/>
          <p:nvPr/>
        </p:nvSpPr>
        <p:spPr>
          <a:xfrm>
            <a:off x="365760" y="153612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00" name="Text 9"/>
          <p:cNvSpPr/>
          <p:nvPr/>
        </p:nvSpPr>
        <p:spPr>
          <a:xfrm>
            <a:off x="457200" y="1792080"/>
            <a:ext cx="82292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0f4f8"/>
                </a:solidFill>
                <a:latin typeface="Consolas"/>
                <a:ea typeface="Consolas"/>
              </a:rPr>
              <a:t>answer = 3/4 * 1/2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fb703"/>
                </a:solidFill>
                <a:latin typeface="Consolas"/>
                <a:ea typeface="Consolas"/>
              </a:rPr>
              <a:t>print(answer)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da9c4"/>
                </a:solidFill>
                <a:latin typeface="Consolas"/>
                <a:ea typeface="Consolas"/>
              </a:rPr>
              <a:t># Output: 0.375   ← decimal! Not 3/8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da9c4"/>
                </a:solidFill>
                <a:latin typeface="Consolas"/>
                <a:ea typeface="Consolas"/>
              </a:rPr>
              <a:t># We want 3/8 — Python cannot do this without our class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1" name="Shape 10"/>
          <p:cNvSpPr/>
          <p:nvPr/>
        </p:nvSpPr>
        <p:spPr>
          <a:xfrm>
            <a:off x="320040" y="2724840"/>
            <a:ext cx="8503560" cy="8683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2" name="Shape 11"/>
          <p:cNvSpPr/>
          <p:nvPr/>
        </p:nvSpPr>
        <p:spPr>
          <a:xfrm>
            <a:off x="320040" y="2724840"/>
            <a:ext cx="8503560" cy="72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12"/>
          <p:cNvSpPr/>
          <p:nvPr/>
        </p:nvSpPr>
        <p:spPr>
          <a:xfrm>
            <a:off x="457200" y="2834640"/>
            <a:ext cx="914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d6a0"/>
                </a:solidFill>
                <a:latin typeface="Calibri"/>
                <a:ea typeface="Calibri"/>
              </a:rPr>
              <a:t>Goal: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4" name="Text 13"/>
          <p:cNvSpPr/>
          <p:nvPr/>
        </p:nvSpPr>
        <p:spPr>
          <a:xfrm>
            <a:off x="1371600" y="2834640"/>
            <a:ext cx="7269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Build a Fraction class — our own custom data type — that can: display as 3/4, add, subtract, multiply, divide fractions, and convert to decimal.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5" name="Shape 14"/>
          <p:cNvSpPr/>
          <p:nvPr/>
        </p:nvSpPr>
        <p:spPr>
          <a:xfrm>
            <a:off x="320040" y="3703320"/>
            <a:ext cx="4096080" cy="12981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6" name="Text 15"/>
          <p:cNvSpPr/>
          <p:nvPr/>
        </p:nvSpPr>
        <p:spPr>
          <a:xfrm>
            <a:off x="457200" y="379476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Attributes needed: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7" name="Text 16"/>
          <p:cNvSpPr/>
          <p:nvPr/>
        </p:nvSpPr>
        <p:spPr>
          <a:xfrm>
            <a:off x="457200" y="4096440"/>
            <a:ext cx="3748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numerator  — top number of the fraction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denominator  — bottom number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8" name="Shape 17"/>
          <p:cNvSpPr/>
          <p:nvPr/>
        </p:nvSpPr>
        <p:spPr>
          <a:xfrm>
            <a:off x="4727520" y="3703320"/>
            <a:ext cx="4096080" cy="12981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9" name="Text 18"/>
          <p:cNvSpPr/>
          <p:nvPr/>
        </p:nvSpPr>
        <p:spPr>
          <a:xfrm>
            <a:off x="4864680" y="379476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b703"/>
                </a:solidFill>
                <a:latin typeface="Calibri"/>
                <a:ea typeface="Calibri"/>
              </a:rPr>
              <a:t>Methods needed: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0" name="Text 19"/>
          <p:cNvSpPr/>
          <p:nvPr/>
        </p:nvSpPr>
        <p:spPr>
          <a:xfrm>
            <a:off x="4864680" y="4096440"/>
            <a:ext cx="3748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__init__  · __str__  · __add__  · __sub__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__mul__  · __truediv__  · convert_to_decimal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1" name="Shape 20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2" name="Shape 21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22"/>
          <p:cNvSpPr/>
          <p:nvPr/>
        </p:nvSpPr>
        <p:spPr>
          <a:xfrm>
            <a:off x="50292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This demonstrates: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The MAIN POWER of OOP — creating your own data types. After today you will have added a brand-new type to Python itself.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Two Types of Constructors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17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12.3 — Non-Parameterized vs Parameterized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8" name="Shape 4"/>
          <p:cNvSpPr/>
          <p:nvPr/>
        </p:nvSpPr>
        <p:spPr>
          <a:xfrm>
            <a:off x="320040" y="1143000"/>
            <a:ext cx="4114440" cy="365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9" name="Shape 5"/>
          <p:cNvSpPr/>
          <p:nvPr/>
        </p:nvSpPr>
        <p:spPr>
          <a:xfrm>
            <a:off x="320040" y="1143000"/>
            <a:ext cx="4114440" cy="383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6"/>
          <p:cNvSpPr/>
          <p:nvPr/>
        </p:nvSpPr>
        <p:spPr>
          <a:xfrm>
            <a:off x="457200" y="114300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Type 1 — Non-Parameterized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1" name="Text 7"/>
          <p:cNvSpPr/>
          <p:nvPr/>
        </p:nvSpPr>
        <p:spPr>
          <a:xfrm>
            <a:off x="457200" y="1581840"/>
            <a:ext cx="3840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Takes NO extra arguments.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The ATM class used this type.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2" name="Shape 8"/>
          <p:cNvSpPr/>
          <p:nvPr/>
        </p:nvSpPr>
        <p:spPr>
          <a:xfrm>
            <a:off x="365760" y="2103120"/>
            <a:ext cx="4004640" cy="2578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Shape 9"/>
          <p:cNvSpPr/>
          <p:nvPr/>
        </p:nvSpPr>
        <p:spPr>
          <a:xfrm>
            <a:off x="365760" y="2103120"/>
            <a:ext cx="566640" cy="200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10"/>
          <p:cNvSpPr/>
          <p:nvPr/>
        </p:nvSpPr>
        <p:spPr>
          <a:xfrm>
            <a:off x="365760" y="210312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25" name="Text 11"/>
          <p:cNvSpPr/>
          <p:nvPr/>
        </p:nvSpPr>
        <p:spPr>
          <a:xfrm>
            <a:off x="457200" y="2359080"/>
            <a:ext cx="3821760" cy="227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class BankATM: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only 'self' — nothing else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self.secret_code = ''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self.account_bal = 0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No arguments needed: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machine = BankATM()   # ✔ works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6" name="Shape 12"/>
          <p:cNvSpPr/>
          <p:nvPr/>
        </p:nvSpPr>
        <p:spPr>
          <a:xfrm>
            <a:off x="4709160" y="1143000"/>
            <a:ext cx="4114440" cy="365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7" name="Shape 13"/>
          <p:cNvSpPr/>
          <p:nvPr/>
        </p:nvSpPr>
        <p:spPr>
          <a:xfrm>
            <a:off x="4709160" y="1143000"/>
            <a:ext cx="4114440" cy="3837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14"/>
          <p:cNvSpPr/>
          <p:nvPr/>
        </p:nvSpPr>
        <p:spPr>
          <a:xfrm>
            <a:off x="4846320" y="114300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Type 2 — Parameterized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9" name="Text 15"/>
          <p:cNvSpPr/>
          <p:nvPr/>
        </p:nvSpPr>
        <p:spPr>
          <a:xfrm>
            <a:off x="4846320" y="1581840"/>
            <a:ext cx="3840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REQUIRES arguments at creation.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The Fraction class uses this type.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0" name="Shape 16"/>
          <p:cNvSpPr/>
          <p:nvPr/>
        </p:nvSpPr>
        <p:spPr>
          <a:xfrm>
            <a:off x="4754880" y="2103120"/>
            <a:ext cx="4004640" cy="2578320"/>
          </a:xfrm>
          <a:prstGeom prst="rect">
            <a:avLst/>
          </a:prstGeom>
          <a:solidFill>
            <a:srgbClr val="0a1628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Shape 17"/>
          <p:cNvSpPr/>
          <p:nvPr/>
        </p:nvSpPr>
        <p:spPr>
          <a:xfrm>
            <a:off x="4754880" y="2103120"/>
            <a:ext cx="566640" cy="2008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18"/>
          <p:cNvSpPr/>
          <p:nvPr/>
        </p:nvSpPr>
        <p:spPr>
          <a:xfrm>
            <a:off x="4754880" y="210312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33" name="Text 19"/>
          <p:cNvSpPr/>
          <p:nvPr/>
        </p:nvSpPr>
        <p:spPr>
          <a:xfrm>
            <a:off x="4846320" y="2359080"/>
            <a:ext cx="3821760" cy="227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class Fraction: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__init__(self, x, y):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needs two extra params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self.numerator = x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 = y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8da9c4"/>
                </a:solidFill>
                <a:latin typeface="Consolas"/>
                <a:ea typeface="Consolas"/>
              </a:rPr>
              <a:t># Must provide arguments: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fr = Fraction(3, 4)   # ✔ works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6d6a0"/>
                </a:solidFill>
                <a:latin typeface="Consolas"/>
                <a:ea typeface="Consolas"/>
              </a:rPr>
              <a:t>fr = Fraction()       # ✘ ERROR!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4" name="Shape 20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5" name="Shape 21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22"/>
          <p:cNvSpPr/>
          <p:nvPr/>
        </p:nvSpPr>
        <p:spPr>
          <a:xfrm>
            <a:off x="50292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Error message when args missing: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__init__() missing 2 required positional arguments: 'x' and 'y' — Python enforces this strictly.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Fraction Class — Steps 1 &amp; 2: Constructor + __str__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40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12.3 — Building the foundation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1" name="Shape 4"/>
          <p:cNvSpPr/>
          <p:nvPr/>
        </p:nvSpPr>
        <p:spPr>
          <a:xfrm>
            <a:off x="320040" y="1143000"/>
            <a:ext cx="4114440" cy="365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2" name="Text 5"/>
          <p:cNvSpPr/>
          <p:nvPr/>
        </p:nvSpPr>
        <p:spPr>
          <a:xfrm>
            <a:off x="457200" y="12618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Step 1 — Parameterized Constructor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3" name="Text 6"/>
          <p:cNvSpPr/>
          <p:nvPr/>
        </p:nvSpPr>
        <p:spPr>
          <a:xfrm>
            <a:off x="457200" y="157284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Stores numerator and denominator on creation.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4" name="Shape 7"/>
          <p:cNvSpPr/>
          <p:nvPr/>
        </p:nvSpPr>
        <p:spPr>
          <a:xfrm>
            <a:off x="365760" y="1883520"/>
            <a:ext cx="4004640" cy="1828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Shape 8"/>
          <p:cNvSpPr/>
          <p:nvPr/>
        </p:nvSpPr>
        <p:spPr>
          <a:xfrm>
            <a:off x="365760" y="1883520"/>
            <a:ext cx="566640" cy="200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9"/>
          <p:cNvSpPr/>
          <p:nvPr/>
        </p:nvSpPr>
        <p:spPr>
          <a:xfrm>
            <a:off x="365760" y="188352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47" name="Text 10"/>
          <p:cNvSpPr/>
          <p:nvPr/>
        </p:nvSpPr>
        <p:spPr>
          <a:xfrm>
            <a:off x="457200" y="2139840"/>
            <a:ext cx="3821760" cy="15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class Fraction: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__init__(self, x, y):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90e0ef"/>
                </a:solidFill>
                <a:latin typeface="Consolas"/>
                <a:ea typeface="Consolas"/>
              </a:rPr>
              <a:t>self.numerator = x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 = 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fr1 = Fraction(1, 2)   # 1/2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0f4f8"/>
                </a:solidFill>
                <a:latin typeface="Consolas"/>
                <a:ea typeface="Consolas"/>
              </a:rPr>
              <a:t>fr2 = Fraction(7, 11)  # 7/11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8" name="Text 11"/>
          <p:cNvSpPr/>
          <p:nvPr/>
        </p:nvSpPr>
        <p:spPr>
          <a:xfrm>
            <a:off x="457200" y="3749040"/>
            <a:ext cx="374868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x maps to self.numerator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y maps to self.denominator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Each fraction object stores its own pair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9" name="Shape 12"/>
          <p:cNvSpPr/>
          <p:nvPr/>
        </p:nvSpPr>
        <p:spPr>
          <a:xfrm>
            <a:off x="4709160" y="1143000"/>
            <a:ext cx="4114440" cy="365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0" name="Text 13"/>
          <p:cNvSpPr/>
          <p:nvPr/>
        </p:nvSpPr>
        <p:spPr>
          <a:xfrm>
            <a:off x="4846320" y="12618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de5"/>
                </a:solidFill>
                <a:latin typeface="Calibri"/>
                <a:ea typeface="Calibri"/>
              </a:rPr>
              <a:t>Step 2 — __str__ Magic Method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1" name="Text 14"/>
          <p:cNvSpPr/>
          <p:nvPr/>
        </p:nvSpPr>
        <p:spPr>
          <a:xfrm>
            <a:off x="4846320" y="157284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Without __str__, print() shows a useless memory address.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2" name="Shape 15"/>
          <p:cNvSpPr/>
          <p:nvPr/>
        </p:nvSpPr>
        <p:spPr>
          <a:xfrm>
            <a:off x="4846320" y="1883520"/>
            <a:ext cx="3821760" cy="86832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3" name="Shape 16"/>
          <p:cNvSpPr/>
          <p:nvPr/>
        </p:nvSpPr>
        <p:spPr>
          <a:xfrm>
            <a:off x="4846320" y="1883520"/>
            <a:ext cx="3821760" cy="63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17"/>
          <p:cNvSpPr/>
          <p:nvPr/>
        </p:nvSpPr>
        <p:spPr>
          <a:xfrm>
            <a:off x="4983480" y="1947600"/>
            <a:ext cx="3565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6b6b"/>
                </a:solidFill>
                <a:latin typeface="Calibri"/>
                <a:ea typeface="Calibri"/>
              </a:rPr>
              <a:t>Without __str__: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5" name="Text 18"/>
          <p:cNvSpPr/>
          <p:nvPr/>
        </p:nvSpPr>
        <p:spPr>
          <a:xfrm>
            <a:off x="4983480" y="2212920"/>
            <a:ext cx="35658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onsolas"/>
                <a:ea typeface="Consolas"/>
              </a:rPr>
              <a:t>print(fr1)  →  &lt;__main__.Fraction object at 0x7f8b...&gt;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56" name="Shape 19"/>
          <p:cNvSpPr/>
          <p:nvPr/>
        </p:nvSpPr>
        <p:spPr>
          <a:xfrm>
            <a:off x="4754880" y="2788920"/>
            <a:ext cx="4004640" cy="190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Shape 20"/>
          <p:cNvSpPr/>
          <p:nvPr/>
        </p:nvSpPr>
        <p:spPr>
          <a:xfrm>
            <a:off x="4754880" y="2788920"/>
            <a:ext cx="566640" cy="200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Text 21"/>
          <p:cNvSpPr/>
          <p:nvPr/>
        </p:nvSpPr>
        <p:spPr>
          <a:xfrm>
            <a:off x="4754880" y="278892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59" name="Text 22"/>
          <p:cNvSpPr/>
          <p:nvPr/>
        </p:nvSpPr>
        <p:spPr>
          <a:xfrm>
            <a:off x="4846320" y="3044880"/>
            <a:ext cx="382176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00b4d8"/>
                </a:solidFill>
                <a:latin typeface="Consolas"/>
                <a:ea typeface="Consolas"/>
              </a:rPr>
              <a:t>def __str__(self):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f0f4f8"/>
                </a:solidFill>
                <a:latin typeface="Consolas"/>
                <a:ea typeface="Consolas"/>
              </a:rPr>
              <a:t>return '{}/{}'.format(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self.numerator,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b703"/>
                </a:solidFill>
                <a:latin typeface="Consolas"/>
                <a:ea typeface="Consolas"/>
              </a:rPr>
              <a:t>print(fr1)  # Output: 1/2  ✔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b703"/>
                </a:solidFill>
                <a:latin typeface="Consolas"/>
                <a:ea typeface="Consolas"/>
              </a:rPr>
              <a:t>print(fr2)  # Output: 7/11 ✔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0" name="Shape 23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1" name="Shape 24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25"/>
          <p:cNvSpPr/>
          <p:nvPr/>
        </p:nvSpPr>
        <p:spPr>
          <a:xfrm>
            <a:off x="50292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Proof from lecture: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Instructor added print('I am inside __str__') — when print(fr1) was called, that message appeared, proving Python auto-triggered __str__.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Step 3 — __add__ Magic Method (Addition)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66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12.3 — Teaching Python how to add two fractions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7" name="Shape 4"/>
          <p:cNvSpPr/>
          <p:nvPr/>
        </p:nvSpPr>
        <p:spPr>
          <a:xfrm>
            <a:off x="320040" y="1143000"/>
            <a:ext cx="8503560" cy="12798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8" name="Shape 5"/>
          <p:cNvSpPr/>
          <p:nvPr/>
        </p:nvSpPr>
        <p:spPr>
          <a:xfrm>
            <a:off x="320040" y="1143000"/>
            <a:ext cx="8503560" cy="727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6"/>
          <p:cNvSpPr/>
          <p:nvPr/>
        </p:nvSpPr>
        <p:spPr>
          <a:xfrm>
            <a:off x="457200" y="1261800"/>
            <a:ext cx="1371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9b5de5"/>
                </a:solidFill>
                <a:latin typeface="Calibri"/>
                <a:ea typeface="Calibri"/>
              </a:rPr>
              <a:t>The Maths: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0" name="Text 7"/>
          <p:cNvSpPr/>
          <p:nvPr/>
        </p:nvSpPr>
        <p:spPr>
          <a:xfrm>
            <a:off x="1828800" y="1261800"/>
            <a:ext cx="6949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(a/b) + (c/d)  =  (a×d + c×b) / (b×d)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71" name="Text 8"/>
          <p:cNvSpPr/>
          <p:nvPr/>
        </p:nvSpPr>
        <p:spPr>
          <a:xfrm>
            <a:off x="457200" y="166428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0e0ef"/>
                </a:solidFill>
                <a:latin typeface="Calibri"/>
                <a:ea typeface="Calibri"/>
              </a:rPr>
              <a:t>Example:  1/2 + 7/11  →  New numerator = 1×11 + 7×2 = 25     New denominator = 2×11 = 22     Result = 25/22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72" name="Shape 9"/>
          <p:cNvSpPr/>
          <p:nvPr/>
        </p:nvSpPr>
        <p:spPr>
          <a:xfrm>
            <a:off x="320040" y="2541960"/>
            <a:ext cx="5074560" cy="2486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3" name="Text 10"/>
          <p:cNvSpPr/>
          <p:nvPr/>
        </p:nvSpPr>
        <p:spPr>
          <a:xfrm>
            <a:off x="457200" y="2651760"/>
            <a:ext cx="4663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de5"/>
                </a:solidFill>
                <a:latin typeface="Calibri"/>
                <a:ea typeface="Calibri"/>
              </a:rPr>
              <a:t>Implementation: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4" name="Shape 11"/>
          <p:cNvSpPr/>
          <p:nvPr/>
        </p:nvSpPr>
        <p:spPr>
          <a:xfrm>
            <a:off x="365760" y="2944440"/>
            <a:ext cx="4955760" cy="1938240"/>
          </a:xfrm>
          <a:prstGeom prst="rect">
            <a:avLst/>
          </a:prstGeom>
          <a:solidFill>
            <a:srgbClr val="0a1628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Shape 12"/>
          <p:cNvSpPr/>
          <p:nvPr/>
        </p:nvSpPr>
        <p:spPr>
          <a:xfrm>
            <a:off x="365760" y="2944440"/>
            <a:ext cx="566640" cy="200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 13"/>
          <p:cNvSpPr/>
          <p:nvPr/>
        </p:nvSpPr>
        <p:spPr>
          <a:xfrm>
            <a:off x="365760" y="294444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77" name="Text 14"/>
          <p:cNvSpPr/>
          <p:nvPr/>
        </p:nvSpPr>
        <p:spPr>
          <a:xfrm>
            <a:off x="457200" y="3200400"/>
            <a:ext cx="4772880" cy="163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def __add__(self, other):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8da9c4"/>
                </a:solidFill>
                <a:latin typeface="Consolas"/>
                <a:ea typeface="Consolas"/>
              </a:rPr>
              <a:t># self=left(fr1)  other=right(fr2)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new_num = (self.numerator *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other.denominator +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other.numerator *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90e0ef"/>
                </a:solidFill>
                <a:latin typeface="Consolas"/>
                <a:ea typeface="Consolas"/>
              </a:rPr>
              <a:t>new_den = (self.denominator *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other.denominator)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f0f4f8"/>
                </a:solidFill>
                <a:latin typeface="Consolas"/>
                <a:ea typeface="Consolas"/>
              </a:rPr>
              <a:t>return Fraction(new_num, new_den)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b703"/>
                </a:solidFill>
                <a:latin typeface="Consolas"/>
                <a:ea typeface="Consolas"/>
              </a:rPr>
              <a:t>print(fr1 + fr2)  # Output: 25/22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8" name="Shape 15"/>
          <p:cNvSpPr/>
          <p:nvPr/>
        </p:nvSpPr>
        <p:spPr>
          <a:xfrm>
            <a:off x="5577840" y="2541960"/>
            <a:ext cx="3245760" cy="24868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9" name="Text 16"/>
          <p:cNvSpPr/>
          <p:nvPr/>
        </p:nvSpPr>
        <p:spPr>
          <a:xfrm>
            <a:off x="5715000" y="265176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Key Points: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0" name="Text 17"/>
          <p:cNvSpPr/>
          <p:nvPr/>
        </p:nvSpPr>
        <p:spPr>
          <a:xfrm>
            <a:off x="5715000" y="2980800"/>
            <a:ext cx="29714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Takes two params: self (left) and other (right)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'other' follows same self convention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Could technically name them anything — but 'self' and 'other' is the universal convention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Returns a NEW Fraction object</a:t>
            </a:r>
            <a:endParaRPr b="0" lang="en-IN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0f4f8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0f4f8"/>
                </a:solidFill>
                <a:latin typeface="Calibri"/>
                <a:ea typeface="Calibri"/>
              </a:rPr>
              <a:t>When fr1 + fr2 is written, Python auto-calls __add__(fr1, fr2)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1" name="Shape 18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2" name="Shape 19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Text 20"/>
          <p:cNvSpPr/>
          <p:nvPr/>
        </p:nvSpPr>
        <p:spPr>
          <a:xfrm>
            <a:off x="50292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Instructor joke: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You could name them 'salman' and 'shahrukh' and it would still work — but don't. Always use 'self' and 'other'.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Steps 4, 5, 6 — __sub__, __mul__, __truediv__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87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12.3 — The remaining arithmetic operations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8" name="Shape 4"/>
          <p:cNvSpPr/>
          <p:nvPr/>
        </p:nvSpPr>
        <p:spPr>
          <a:xfrm>
            <a:off x="320040" y="1143000"/>
            <a:ext cx="2742840" cy="39132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9" name="Shape 5"/>
          <p:cNvSpPr/>
          <p:nvPr/>
        </p:nvSpPr>
        <p:spPr>
          <a:xfrm>
            <a:off x="320040" y="1143000"/>
            <a:ext cx="2742840" cy="3470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Text 6"/>
          <p:cNvSpPr/>
          <p:nvPr/>
        </p:nvSpPr>
        <p:spPr>
          <a:xfrm>
            <a:off x="429840" y="1143000"/>
            <a:ext cx="251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Step 4 — __sub__ (−)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91" name="Shape 7"/>
          <p:cNvSpPr/>
          <p:nvPr/>
        </p:nvSpPr>
        <p:spPr>
          <a:xfrm>
            <a:off x="411480" y="1536120"/>
            <a:ext cx="2559960" cy="383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2" name="Text 8"/>
          <p:cNvSpPr/>
          <p:nvPr/>
        </p:nvSpPr>
        <p:spPr>
          <a:xfrm>
            <a:off x="411480" y="153612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b703"/>
                </a:solidFill>
                <a:latin typeface="Calibri"/>
                <a:ea typeface="Calibri"/>
              </a:rPr>
              <a:t>(a/b) − (c/d) = (a×d − c×b) / (b×d)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93" name="Shape 9"/>
          <p:cNvSpPr/>
          <p:nvPr/>
        </p:nvSpPr>
        <p:spPr>
          <a:xfrm>
            <a:off x="393120" y="1956960"/>
            <a:ext cx="2605680" cy="2578320"/>
          </a:xfrm>
          <a:prstGeom prst="rect">
            <a:avLst/>
          </a:prstGeom>
          <a:solidFill>
            <a:srgbClr val="0a1628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Shape 10"/>
          <p:cNvSpPr/>
          <p:nvPr/>
        </p:nvSpPr>
        <p:spPr>
          <a:xfrm>
            <a:off x="393120" y="1956960"/>
            <a:ext cx="566640" cy="2008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Text 11"/>
          <p:cNvSpPr/>
          <p:nvPr/>
        </p:nvSpPr>
        <p:spPr>
          <a:xfrm>
            <a:off x="393120" y="195696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96" name="Text 12"/>
          <p:cNvSpPr/>
          <p:nvPr/>
        </p:nvSpPr>
        <p:spPr>
          <a:xfrm>
            <a:off x="484560" y="2212920"/>
            <a:ext cx="2422800" cy="227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00b4d8"/>
                </a:solidFill>
                <a:latin typeface="Consolas"/>
                <a:ea typeface="Consolas"/>
              </a:rPr>
              <a:t>def __sub__(self, other):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new_num = 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self.numerator *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other.denominator -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other.numerator *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new_den = 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 *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other.denominator)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return Fraction(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new_num, new_den)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b703"/>
                </a:solidFill>
                <a:latin typeface="Consolas"/>
                <a:ea typeface="Consolas"/>
              </a:rPr>
              <a:t>print(fr1 - fr2)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da9c4"/>
                </a:solidFill>
                <a:latin typeface="Consolas"/>
                <a:ea typeface="Consolas"/>
              </a:rPr>
              <a:t># Output: -3/22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97" name="Shape 13"/>
          <p:cNvSpPr/>
          <p:nvPr/>
        </p:nvSpPr>
        <p:spPr>
          <a:xfrm>
            <a:off x="411480" y="4572000"/>
            <a:ext cx="2559960" cy="383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8" name="Text 14"/>
          <p:cNvSpPr/>
          <p:nvPr/>
        </p:nvSpPr>
        <p:spPr>
          <a:xfrm>
            <a:off x="411480" y="457200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ffb703"/>
                </a:solidFill>
                <a:latin typeface="Calibri"/>
                <a:ea typeface="Calibri"/>
              </a:rPr>
              <a:t>Same as __add__ but − in numerator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99" name="Shape 15"/>
          <p:cNvSpPr/>
          <p:nvPr/>
        </p:nvSpPr>
        <p:spPr>
          <a:xfrm>
            <a:off x="3218760" y="1143000"/>
            <a:ext cx="2742840" cy="39132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0" name="Shape 16"/>
          <p:cNvSpPr/>
          <p:nvPr/>
        </p:nvSpPr>
        <p:spPr>
          <a:xfrm>
            <a:off x="3218760" y="1143000"/>
            <a:ext cx="2742840" cy="347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Text 17"/>
          <p:cNvSpPr/>
          <p:nvPr/>
        </p:nvSpPr>
        <p:spPr>
          <a:xfrm>
            <a:off x="3328560" y="1143000"/>
            <a:ext cx="251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Step 5 — __mul__ (×)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02" name="Shape 18"/>
          <p:cNvSpPr/>
          <p:nvPr/>
        </p:nvSpPr>
        <p:spPr>
          <a:xfrm>
            <a:off x="3310200" y="1536120"/>
            <a:ext cx="2559960" cy="383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3" name="Text 19"/>
          <p:cNvSpPr/>
          <p:nvPr/>
        </p:nvSpPr>
        <p:spPr>
          <a:xfrm>
            <a:off x="3310200" y="153612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06d6a0"/>
                </a:solidFill>
                <a:latin typeface="Calibri"/>
                <a:ea typeface="Calibri"/>
              </a:rPr>
              <a:t>(a/b) × (c/d) = (a×c) / (b×d)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04" name="Shape 20"/>
          <p:cNvSpPr/>
          <p:nvPr/>
        </p:nvSpPr>
        <p:spPr>
          <a:xfrm>
            <a:off x="3291840" y="1956960"/>
            <a:ext cx="2605680" cy="2578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Shape 21"/>
          <p:cNvSpPr/>
          <p:nvPr/>
        </p:nvSpPr>
        <p:spPr>
          <a:xfrm>
            <a:off x="3291840" y="1956960"/>
            <a:ext cx="566640" cy="2008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Text 22"/>
          <p:cNvSpPr/>
          <p:nvPr/>
        </p:nvSpPr>
        <p:spPr>
          <a:xfrm>
            <a:off x="3291840" y="195696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07" name="Text 23"/>
          <p:cNvSpPr/>
          <p:nvPr/>
        </p:nvSpPr>
        <p:spPr>
          <a:xfrm>
            <a:off x="3383280" y="2212920"/>
            <a:ext cx="2422800" cy="227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00b4d8"/>
                </a:solidFill>
                <a:latin typeface="Consolas"/>
                <a:ea typeface="Consolas"/>
              </a:rPr>
              <a:t>def __mul__(self, other):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new_num = 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self.numerator *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other.numerator)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new_den = 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 *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other.denominator)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return Fraction(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new_num, new_den)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b703"/>
                </a:solidFill>
                <a:latin typeface="Consolas"/>
                <a:ea typeface="Consolas"/>
              </a:rPr>
              <a:t>print(fr1 * fr2)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da9c4"/>
                </a:solidFill>
                <a:latin typeface="Consolas"/>
                <a:ea typeface="Consolas"/>
              </a:rPr>
              <a:t># Output: 7/22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08" name="Shape 24"/>
          <p:cNvSpPr/>
          <p:nvPr/>
        </p:nvSpPr>
        <p:spPr>
          <a:xfrm>
            <a:off x="3310200" y="4572000"/>
            <a:ext cx="2559960" cy="383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9" name="Text 25"/>
          <p:cNvSpPr/>
          <p:nvPr/>
        </p:nvSpPr>
        <p:spPr>
          <a:xfrm>
            <a:off x="3310200" y="457200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06d6a0"/>
                </a:solidFill>
                <a:latin typeface="Calibri"/>
                <a:ea typeface="Calibri"/>
              </a:rPr>
              <a:t>Numerators × together, denoms × together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10" name="Shape 26"/>
          <p:cNvSpPr/>
          <p:nvPr/>
        </p:nvSpPr>
        <p:spPr>
          <a:xfrm>
            <a:off x="6108120" y="1143000"/>
            <a:ext cx="2742840" cy="39132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1" name="Shape 27"/>
          <p:cNvSpPr/>
          <p:nvPr/>
        </p:nvSpPr>
        <p:spPr>
          <a:xfrm>
            <a:off x="6108120" y="1143000"/>
            <a:ext cx="2742840" cy="34704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Text 28"/>
          <p:cNvSpPr/>
          <p:nvPr/>
        </p:nvSpPr>
        <p:spPr>
          <a:xfrm>
            <a:off x="6217920" y="1143000"/>
            <a:ext cx="251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Step 6 — __truediv__ (÷)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13" name="Shape 29"/>
          <p:cNvSpPr/>
          <p:nvPr/>
        </p:nvSpPr>
        <p:spPr>
          <a:xfrm>
            <a:off x="6199560" y="1536120"/>
            <a:ext cx="2559960" cy="383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4" name="Text 30"/>
          <p:cNvSpPr/>
          <p:nvPr/>
        </p:nvSpPr>
        <p:spPr>
          <a:xfrm>
            <a:off x="6199560" y="153612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alibri"/>
                <a:ea typeface="Calibri"/>
              </a:rPr>
              <a:t>(a/b) ÷ (c/d) = (a×d) / (b×c) — flip!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15" name="Shape 31"/>
          <p:cNvSpPr/>
          <p:nvPr/>
        </p:nvSpPr>
        <p:spPr>
          <a:xfrm>
            <a:off x="6181200" y="1956960"/>
            <a:ext cx="2605680" cy="2578320"/>
          </a:xfrm>
          <a:prstGeom prst="rect">
            <a:avLst/>
          </a:prstGeom>
          <a:solidFill>
            <a:srgbClr val="0a1628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Shape 32"/>
          <p:cNvSpPr/>
          <p:nvPr/>
        </p:nvSpPr>
        <p:spPr>
          <a:xfrm>
            <a:off x="6181200" y="1956960"/>
            <a:ext cx="566640" cy="20088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Text 33"/>
          <p:cNvSpPr/>
          <p:nvPr/>
        </p:nvSpPr>
        <p:spPr>
          <a:xfrm>
            <a:off x="6181200" y="195696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18" name="Text 34"/>
          <p:cNvSpPr/>
          <p:nvPr/>
        </p:nvSpPr>
        <p:spPr>
          <a:xfrm>
            <a:off x="6272640" y="2212920"/>
            <a:ext cx="2422800" cy="227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00b4d8"/>
                </a:solidFill>
                <a:latin typeface="Consolas"/>
                <a:ea typeface="Consolas"/>
              </a:rPr>
              <a:t>def __truediv__(self, other):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da9c4"/>
                </a:solidFill>
                <a:latin typeface="Consolas"/>
                <a:ea typeface="Consolas"/>
              </a:rPr>
              <a:t>        </a:t>
            </a:r>
            <a:r>
              <a:rPr b="0" lang="en-US" sz="850" spc="-1" strike="noStrike">
                <a:solidFill>
                  <a:srgbClr val="8da9c4"/>
                </a:solidFill>
                <a:latin typeface="Consolas"/>
                <a:ea typeface="Consolas"/>
              </a:rPr>
              <a:t># flip 2nd fraction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new_num = 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self.numerator *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other.denominator)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new_den = 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 *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other.numerator)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return Fraction(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            </a:t>
            </a:r>
            <a:r>
              <a:rPr b="0" lang="en-US" sz="850" spc="-1" strike="noStrike">
                <a:solidFill>
                  <a:srgbClr val="f0f4f8"/>
                </a:solidFill>
                <a:latin typeface="Consolas"/>
                <a:ea typeface="Consolas"/>
              </a:rPr>
              <a:t>new_num, new_den)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b703"/>
                </a:solidFill>
                <a:latin typeface="Consolas"/>
                <a:ea typeface="Consolas"/>
              </a:rPr>
              <a:t>print(fr1 / fr2)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da9c4"/>
                </a:solidFill>
                <a:latin typeface="Consolas"/>
                <a:ea typeface="Consolas"/>
              </a:rPr>
              <a:t># Output: 11/14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19" name="Shape 35"/>
          <p:cNvSpPr/>
          <p:nvPr/>
        </p:nvSpPr>
        <p:spPr>
          <a:xfrm>
            <a:off x="6199560" y="4572000"/>
            <a:ext cx="2559960" cy="3837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0" name="Text 36"/>
          <p:cNvSpPr/>
          <p:nvPr/>
        </p:nvSpPr>
        <p:spPr>
          <a:xfrm>
            <a:off x="6199560" y="457200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0e0ef"/>
                </a:solidFill>
                <a:latin typeface="Calibri"/>
                <a:ea typeface="Calibri"/>
              </a:rPr>
              <a:t>Flip 2nd fraction then multiply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Step 7 — convert_to_decimal( ) + Observations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24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12.3 &amp; 12.5 — The only regular method + important design notes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5" name="Shape 4"/>
          <p:cNvSpPr/>
          <p:nvPr/>
        </p:nvSpPr>
        <p:spPr>
          <a:xfrm>
            <a:off x="320040" y="1143000"/>
            <a:ext cx="4114440" cy="21942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6" name="Text 5"/>
          <p:cNvSpPr/>
          <p:nvPr/>
        </p:nvSpPr>
        <p:spPr>
          <a:xfrm>
            <a:off x="457200" y="12618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Step 7 — convert_to_decimal( 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7" name="Text 6"/>
          <p:cNvSpPr/>
          <p:nvPr/>
        </p:nvSpPr>
        <p:spPr>
          <a:xfrm>
            <a:off x="457200" y="157284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da9c4"/>
                </a:solidFill>
                <a:latin typeface="Calibri"/>
                <a:ea typeface="Calibri"/>
              </a:rPr>
              <a:t>This is a REGULAR method — not magic. You must call it explicitly.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8" name="Shape 7"/>
          <p:cNvSpPr/>
          <p:nvPr/>
        </p:nvSpPr>
        <p:spPr>
          <a:xfrm>
            <a:off x="365760" y="1956960"/>
            <a:ext cx="4004640" cy="1261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Shape 8"/>
          <p:cNvSpPr/>
          <p:nvPr/>
        </p:nvSpPr>
        <p:spPr>
          <a:xfrm>
            <a:off x="365760" y="1956960"/>
            <a:ext cx="566640" cy="200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Text 9"/>
          <p:cNvSpPr/>
          <p:nvPr/>
        </p:nvSpPr>
        <p:spPr>
          <a:xfrm>
            <a:off x="365760" y="195696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31" name="Text 10"/>
          <p:cNvSpPr/>
          <p:nvPr/>
        </p:nvSpPr>
        <p:spPr>
          <a:xfrm>
            <a:off x="457200" y="2212920"/>
            <a:ext cx="3821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0b4d8"/>
                </a:solidFill>
                <a:latin typeface="Consolas"/>
                <a:ea typeface="Consolas"/>
              </a:rPr>
              <a:t>def convert_to_decimal(self):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0e0ef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90e0ef"/>
                </a:solidFill>
                <a:latin typeface="Consolas"/>
                <a:ea typeface="Consolas"/>
              </a:rPr>
              <a:t>return (self.numerator /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    </a:t>
            </a:r>
            <a:r>
              <a:rPr b="0" lang="en-US" sz="110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b703"/>
                </a:solidFill>
                <a:latin typeface="Consolas"/>
                <a:ea typeface="Consolas"/>
              </a:rPr>
              <a:t>print(fr1.convert_to_decimal())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da9c4"/>
                </a:solidFill>
                <a:latin typeface="Consolas"/>
                <a:ea typeface="Consolas"/>
              </a:rPr>
              <a:t># Output: 0.5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2" name="Shape 11"/>
          <p:cNvSpPr/>
          <p:nvPr/>
        </p:nvSpPr>
        <p:spPr>
          <a:xfrm>
            <a:off x="4709160" y="1143000"/>
            <a:ext cx="4114440" cy="21942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3" name="Text 12"/>
          <p:cNvSpPr/>
          <p:nvPr/>
        </p:nvSpPr>
        <p:spPr>
          <a:xfrm>
            <a:off x="4846320" y="12618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Magic vs Regular Methods: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4" name="Shape 13"/>
          <p:cNvSpPr/>
          <p:nvPr/>
        </p:nvSpPr>
        <p:spPr>
          <a:xfrm>
            <a:off x="4846320" y="1627560"/>
            <a:ext cx="3821760" cy="804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5" name="Shape 14"/>
          <p:cNvSpPr/>
          <p:nvPr/>
        </p:nvSpPr>
        <p:spPr>
          <a:xfrm>
            <a:off x="4846320" y="1627560"/>
            <a:ext cx="72720" cy="80424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Text 15"/>
          <p:cNvSpPr/>
          <p:nvPr/>
        </p:nvSpPr>
        <p:spPr>
          <a:xfrm>
            <a:off x="5010840" y="1627560"/>
            <a:ext cx="1508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9b5de5"/>
                </a:solidFill>
                <a:latin typeface="Calibri"/>
                <a:ea typeface="Calibri"/>
              </a:rPr>
              <a:t>Magic Methods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7" name="Text 16"/>
          <p:cNvSpPr/>
          <p:nvPr/>
        </p:nvSpPr>
        <p:spPr>
          <a:xfrm>
            <a:off x="5010840" y="197496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Auto-triggered by Python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38" name="Text 17"/>
          <p:cNvSpPr/>
          <p:nvPr/>
        </p:nvSpPr>
        <p:spPr>
          <a:xfrm>
            <a:off x="5010840" y="223128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0e0ef"/>
                </a:solidFill>
                <a:latin typeface="Consolas"/>
                <a:ea typeface="Consolas"/>
              </a:rPr>
              <a:t>You use them by writing fr1 + fr2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39" name="Shape 18"/>
          <p:cNvSpPr/>
          <p:nvPr/>
        </p:nvSpPr>
        <p:spPr>
          <a:xfrm>
            <a:off x="4846320" y="2541960"/>
            <a:ext cx="3821760" cy="804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0" name="Shape 19"/>
          <p:cNvSpPr/>
          <p:nvPr/>
        </p:nvSpPr>
        <p:spPr>
          <a:xfrm>
            <a:off x="4846320" y="2541960"/>
            <a:ext cx="72720" cy="804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1" name="Text 20"/>
          <p:cNvSpPr/>
          <p:nvPr/>
        </p:nvSpPr>
        <p:spPr>
          <a:xfrm>
            <a:off x="5010840" y="2541960"/>
            <a:ext cx="1508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Regular Methods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2" name="Text 21"/>
          <p:cNvSpPr/>
          <p:nvPr/>
        </p:nvSpPr>
        <p:spPr>
          <a:xfrm>
            <a:off x="5010840" y="288936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You call them explicitly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43" name="Text 22"/>
          <p:cNvSpPr/>
          <p:nvPr/>
        </p:nvSpPr>
        <p:spPr>
          <a:xfrm>
            <a:off x="5010840" y="314568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0e0ef"/>
                </a:solidFill>
                <a:latin typeface="Consolas"/>
                <a:ea typeface="Consolas"/>
              </a:rPr>
              <a:t>You write fr1.convert_to_decimal()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44" name="Shape 23"/>
          <p:cNvSpPr/>
          <p:nvPr/>
        </p:nvSpPr>
        <p:spPr>
          <a:xfrm>
            <a:off x="320040" y="3429000"/>
            <a:ext cx="8503560" cy="15357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5" name="Shape 24"/>
          <p:cNvSpPr/>
          <p:nvPr/>
        </p:nvSpPr>
        <p:spPr>
          <a:xfrm>
            <a:off x="320040" y="3429000"/>
            <a:ext cx="8503560" cy="3470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Text 25"/>
          <p:cNvSpPr/>
          <p:nvPr/>
        </p:nvSpPr>
        <p:spPr>
          <a:xfrm>
            <a:off x="457200" y="342900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de5"/>
                </a:solidFill>
                <a:latin typeface="Calibri"/>
                <a:ea typeface="Calibri"/>
              </a:rPr>
              <a:t>Important Observations from the Lecture: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7" name="Text 26"/>
          <p:cNvSpPr/>
          <p:nvPr/>
        </p:nvSpPr>
        <p:spPr>
          <a:xfrm>
            <a:off x="457200" y="382212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b703"/>
                </a:solidFill>
                <a:latin typeface="Calibri"/>
                <a:ea typeface="Calibri"/>
              </a:rPr>
              <a:t>No simplification implemented: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48" name="Text 27"/>
          <p:cNvSpPr/>
          <p:nvPr/>
        </p:nvSpPr>
        <p:spPr>
          <a:xfrm>
            <a:off x="457200" y="4096440"/>
            <a:ext cx="26056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1/2 + 7/11 = 25/22 (not simplified). The programmer must add that logic. Python won't do it automatically.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49" name="Text 28"/>
          <p:cNvSpPr/>
          <p:nvPr/>
        </p:nvSpPr>
        <p:spPr>
          <a:xfrm>
            <a:off x="3291840" y="382212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b4d8"/>
                </a:solidFill>
                <a:latin typeface="Calibri"/>
                <a:ea typeface="Calibri"/>
              </a:rPr>
              <a:t>A class can mix both types: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50" name="Text 29"/>
          <p:cNvSpPr/>
          <p:nvPr/>
        </p:nvSpPr>
        <p:spPr>
          <a:xfrm>
            <a:off x="3291840" y="4096440"/>
            <a:ext cx="26056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Our Fraction class has magic methods (__str__, __add__…) AND a regular method (convert_to_decimal). Both coexist fine.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51" name="Text 30"/>
          <p:cNvSpPr/>
          <p:nvPr/>
        </p:nvSpPr>
        <p:spPr>
          <a:xfrm>
            <a:off x="6126480" y="382212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6d6a0"/>
                </a:solidFill>
                <a:latin typeface="Calibri"/>
                <a:ea typeface="Calibri"/>
              </a:rPr>
              <a:t>Extensibility: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52" name="Text 31"/>
          <p:cNvSpPr/>
          <p:nvPr/>
        </p:nvSpPr>
        <p:spPr>
          <a:xfrm>
            <a:off x="6126480" y="4096440"/>
            <a:ext cx="26056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Want simplification? Add simplify(). Want modulo? Add __mod__. 500+ magic methods exist — the class can grow indefinitely.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53" name="Shape 32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4" name="Shape 33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Text 34"/>
          <p:cNvSpPr/>
          <p:nvPr/>
        </p:nvSpPr>
        <p:spPr>
          <a:xfrm>
            <a:off x="50292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Reminder: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convert_to_decimal uses a regular def — you MUST type fr1.convert_to_decimal() to use it. It will never trigger on its own.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Complete Fraction Class — Full Code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59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12.4 — All 7 methods assembled, all outputs verified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60" name="Shape 4"/>
          <p:cNvSpPr/>
          <p:nvPr/>
        </p:nvSpPr>
        <p:spPr>
          <a:xfrm>
            <a:off x="320040" y="1143000"/>
            <a:ext cx="4205880" cy="39315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1" name="Shape 5"/>
          <p:cNvSpPr/>
          <p:nvPr/>
        </p:nvSpPr>
        <p:spPr>
          <a:xfrm>
            <a:off x="365760" y="1188720"/>
            <a:ext cx="4114440" cy="3858480"/>
          </a:xfrm>
          <a:prstGeom prst="rect">
            <a:avLst/>
          </a:prstGeom>
          <a:solidFill>
            <a:srgbClr val="0a1628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2" name="Shape 6"/>
          <p:cNvSpPr/>
          <p:nvPr/>
        </p:nvSpPr>
        <p:spPr>
          <a:xfrm>
            <a:off x="365760" y="1188720"/>
            <a:ext cx="566640" cy="200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3" name="Text 7"/>
          <p:cNvSpPr/>
          <p:nvPr/>
        </p:nvSpPr>
        <p:spPr>
          <a:xfrm>
            <a:off x="365760" y="118872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64" name="Text 8"/>
          <p:cNvSpPr/>
          <p:nvPr/>
        </p:nvSpPr>
        <p:spPr>
          <a:xfrm>
            <a:off x="457200" y="1426320"/>
            <a:ext cx="3931560" cy="358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class Fraction: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def __init__(self, x, y):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self.numerator = x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 = y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def __str__(self):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return '{}/{}'.format(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self.numerator,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def __add__(self, other):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n = (self.numerator *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 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other.denominator +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 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other.numerator *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 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d = (self.denominator *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 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other.denominator)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return Fraction(n, d)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def __sub__(self, other):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n = (self.numerator *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 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other.denominator -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 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other.numerator *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 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d = self.denominator * other.denominator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return Fraction(n, d)</a:t>
            </a:r>
            <a:endParaRPr b="0" lang="en-IN" sz="880" spc="-1" strike="noStrike">
              <a:latin typeface="Arial"/>
            </a:endParaRPr>
          </a:p>
        </p:txBody>
      </p:sp>
      <p:sp>
        <p:nvSpPr>
          <p:cNvPr id="365" name="Shape 9"/>
          <p:cNvSpPr/>
          <p:nvPr/>
        </p:nvSpPr>
        <p:spPr>
          <a:xfrm>
            <a:off x="4709160" y="1143000"/>
            <a:ext cx="4114440" cy="39315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6" name="Shape 10"/>
          <p:cNvSpPr/>
          <p:nvPr/>
        </p:nvSpPr>
        <p:spPr>
          <a:xfrm>
            <a:off x="4754880" y="1188720"/>
            <a:ext cx="4114440" cy="3858480"/>
          </a:xfrm>
          <a:prstGeom prst="rect">
            <a:avLst/>
          </a:prstGeom>
          <a:solidFill>
            <a:srgbClr val="0a1628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Shape 11"/>
          <p:cNvSpPr/>
          <p:nvPr/>
        </p:nvSpPr>
        <p:spPr>
          <a:xfrm>
            <a:off x="4754880" y="1188720"/>
            <a:ext cx="566640" cy="200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Text 12"/>
          <p:cNvSpPr/>
          <p:nvPr/>
        </p:nvSpPr>
        <p:spPr>
          <a:xfrm>
            <a:off x="4754880" y="118872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69" name="Text 13"/>
          <p:cNvSpPr/>
          <p:nvPr/>
        </p:nvSpPr>
        <p:spPr>
          <a:xfrm>
            <a:off x="4846320" y="1426320"/>
            <a:ext cx="3931560" cy="358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def __mul__(self, other):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n = (self.numerator *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 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other.numerator)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d = (self.denominator *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 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other.denominator)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return Fraction(n, d)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def __truediv__(self, other):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n = (self.numerator *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 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other.denominator)  # flip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d = (self.denominator *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 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other.numerator)    # flip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return Fraction(n, d)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  </a:t>
            </a:r>
            <a:r>
              <a:rPr b="0" lang="en-US" sz="880" spc="-1" strike="noStrike">
                <a:solidFill>
                  <a:srgbClr val="00b4d8"/>
                </a:solidFill>
                <a:latin typeface="Consolas"/>
                <a:ea typeface="Consolas"/>
              </a:rPr>
              <a:t>def convert_to_decimal(self):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return (self.numerator /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            </a:t>
            </a:r>
            <a:r>
              <a:rPr b="0" lang="en-US" sz="880" spc="-1" strike="noStrike">
                <a:solidFill>
                  <a:srgbClr val="90e0ef"/>
                </a:solidFill>
                <a:latin typeface="Consolas"/>
                <a:ea typeface="Consolas"/>
              </a:rPr>
              <a:t>self.denominator)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8da9c4"/>
                </a:solidFill>
                <a:latin typeface="Consolas"/>
                <a:ea typeface="Consolas"/>
              </a:rPr>
              <a:t># ── Test ──────────────────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fr1 = Fraction(1, 2)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0f4f8"/>
                </a:solidFill>
                <a:latin typeface="Consolas"/>
                <a:ea typeface="Consolas"/>
              </a:rPr>
              <a:t>fr2 = Fraction(7, 11)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fb703"/>
                </a:solidFill>
                <a:latin typeface="Consolas"/>
                <a:ea typeface="Consolas"/>
              </a:rPr>
              <a:t>print(fr1)                 # 1/2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fb703"/>
                </a:solidFill>
                <a:latin typeface="Consolas"/>
                <a:ea typeface="Consolas"/>
              </a:rPr>
              <a:t>print(fr1 + fr2)           # 25/22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fb703"/>
                </a:solidFill>
                <a:latin typeface="Consolas"/>
                <a:ea typeface="Consolas"/>
              </a:rPr>
              <a:t>print(fr1 - fr2)           # -3/22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fb703"/>
                </a:solidFill>
                <a:latin typeface="Consolas"/>
                <a:ea typeface="Consolas"/>
              </a:rPr>
              <a:t>print(fr1 * fr2)           # 7/22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fb703"/>
                </a:solidFill>
                <a:latin typeface="Consolas"/>
                <a:ea typeface="Consolas"/>
              </a:rPr>
              <a:t>print(fr1 / fr2)           # 11/14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80" spc="-1" strike="noStrike">
                <a:solidFill>
                  <a:srgbClr val="ffb703"/>
                </a:solidFill>
                <a:latin typeface="Consolas"/>
                <a:ea typeface="Consolas"/>
              </a:rPr>
              <a:t>print(fr1.convert_to_decimal()) # 0.5</a:t>
            </a:r>
            <a:endParaRPr b="0" lang="en-IN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1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2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All Outputs Verified — Test Results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73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12.4 — Running the complete class produces expected outputs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74" name="Shape 4"/>
          <p:cNvSpPr/>
          <p:nvPr/>
        </p:nvSpPr>
        <p:spPr>
          <a:xfrm>
            <a:off x="320040" y="1143000"/>
            <a:ext cx="8503560" cy="36540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5" name="Text 5"/>
          <p:cNvSpPr/>
          <p:nvPr/>
        </p:nvSpPr>
        <p:spPr>
          <a:xfrm>
            <a:off x="457200" y="114300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9b5de5"/>
                </a:solidFill>
                <a:latin typeface="Calibri"/>
                <a:ea typeface="Calibri"/>
              </a:rPr>
              <a:t>Operation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76" name="Text 6"/>
          <p:cNvSpPr/>
          <p:nvPr/>
        </p:nvSpPr>
        <p:spPr>
          <a:xfrm>
            <a:off x="3749040" y="1143000"/>
            <a:ext cx="109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9b5de5"/>
                </a:solidFill>
                <a:latin typeface="Calibri"/>
                <a:ea typeface="Calibri"/>
              </a:rPr>
              <a:t>Output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77" name="Text 7"/>
          <p:cNvSpPr/>
          <p:nvPr/>
        </p:nvSpPr>
        <p:spPr>
          <a:xfrm>
            <a:off x="4846320" y="114300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9b5de5"/>
                </a:solidFill>
                <a:latin typeface="Calibri"/>
                <a:ea typeface="Calibri"/>
              </a:rPr>
              <a:t>What Happened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78" name="Shape 8"/>
          <p:cNvSpPr/>
          <p:nvPr/>
        </p:nvSpPr>
        <p:spPr>
          <a:xfrm>
            <a:off x="320040" y="1554480"/>
            <a:ext cx="8503560" cy="429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9" name="Shape 9"/>
          <p:cNvSpPr/>
          <p:nvPr/>
        </p:nvSpPr>
        <p:spPr>
          <a:xfrm>
            <a:off x="320040" y="1554480"/>
            <a:ext cx="72720" cy="456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Text 10"/>
          <p:cNvSpPr/>
          <p:nvPr/>
        </p:nvSpPr>
        <p:spPr>
          <a:xfrm>
            <a:off x="457200" y="1554480"/>
            <a:ext cx="3245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print(fr1)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81" name="Text 11"/>
          <p:cNvSpPr/>
          <p:nvPr/>
        </p:nvSpPr>
        <p:spPr>
          <a:xfrm>
            <a:off x="3749040" y="1554480"/>
            <a:ext cx="105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onsolas"/>
                <a:ea typeface="Consolas"/>
              </a:rPr>
              <a:t>1/2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82" name="Text 12"/>
          <p:cNvSpPr/>
          <p:nvPr/>
        </p:nvSpPr>
        <p:spPr>
          <a:xfrm>
            <a:off x="4846320" y="1554480"/>
            <a:ext cx="3885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__str__ called — displays numerator/denominator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3" name="Shape 13"/>
          <p:cNvSpPr/>
          <p:nvPr/>
        </p:nvSpPr>
        <p:spPr>
          <a:xfrm>
            <a:off x="320040" y="2030040"/>
            <a:ext cx="8503560" cy="429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4" name="Shape 14"/>
          <p:cNvSpPr/>
          <p:nvPr/>
        </p:nvSpPr>
        <p:spPr>
          <a:xfrm>
            <a:off x="320040" y="2030040"/>
            <a:ext cx="72720" cy="456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Text 15"/>
          <p:cNvSpPr/>
          <p:nvPr/>
        </p:nvSpPr>
        <p:spPr>
          <a:xfrm>
            <a:off x="457200" y="2030040"/>
            <a:ext cx="3245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print(fr2)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86" name="Text 16"/>
          <p:cNvSpPr/>
          <p:nvPr/>
        </p:nvSpPr>
        <p:spPr>
          <a:xfrm>
            <a:off x="3749040" y="2030040"/>
            <a:ext cx="105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onsolas"/>
                <a:ea typeface="Consolas"/>
              </a:rPr>
              <a:t>7/11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87" name="Text 17"/>
          <p:cNvSpPr/>
          <p:nvPr/>
        </p:nvSpPr>
        <p:spPr>
          <a:xfrm>
            <a:off x="4846320" y="2030040"/>
            <a:ext cx="3885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__str__ called for second object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8" name="Shape 18"/>
          <p:cNvSpPr/>
          <p:nvPr/>
        </p:nvSpPr>
        <p:spPr>
          <a:xfrm>
            <a:off x="320040" y="2505600"/>
            <a:ext cx="8503560" cy="429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9" name="Shape 19"/>
          <p:cNvSpPr/>
          <p:nvPr/>
        </p:nvSpPr>
        <p:spPr>
          <a:xfrm>
            <a:off x="320040" y="2505600"/>
            <a:ext cx="72720" cy="45684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Text 20"/>
          <p:cNvSpPr/>
          <p:nvPr/>
        </p:nvSpPr>
        <p:spPr>
          <a:xfrm>
            <a:off x="457200" y="2505600"/>
            <a:ext cx="3245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print(fr1 + fr2)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91" name="Text 21"/>
          <p:cNvSpPr/>
          <p:nvPr/>
        </p:nvSpPr>
        <p:spPr>
          <a:xfrm>
            <a:off x="3749040" y="2505600"/>
            <a:ext cx="105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de5"/>
                </a:solidFill>
                <a:latin typeface="Consolas"/>
                <a:ea typeface="Consolas"/>
              </a:rPr>
              <a:t>25/22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92" name="Text 22"/>
          <p:cNvSpPr/>
          <p:nvPr/>
        </p:nvSpPr>
        <p:spPr>
          <a:xfrm>
            <a:off x="4846320" y="2505600"/>
            <a:ext cx="3885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__add__: (1×11 + 7×2)/(2×11) = 25/22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3" name="Shape 23"/>
          <p:cNvSpPr/>
          <p:nvPr/>
        </p:nvSpPr>
        <p:spPr>
          <a:xfrm>
            <a:off x="320040" y="2980800"/>
            <a:ext cx="8503560" cy="429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4" name="Shape 24"/>
          <p:cNvSpPr/>
          <p:nvPr/>
        </p:nvSpPr>
        <p:spPr>
          <a:xfrm>
            <a:off x="320040" y="2980800"/>
            <a:ext cx="72720" cy="4568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Text 25"/>
          <p:cNvSpPr/>
          <p:nvPr/>
        </p:nvSpPr>
        <p:spPr>
          <a:xfrm>
            <a:off x="457200" y="2980800"/>
            <a:ext cx="3245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print(fr1 - fr2)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96" name="Text 26"/>
          <p:cNvSpPr/>
          <p:nvPr/>
        </p:nvSpPr>
        <p:spPr>
          <a:xfrm>
            <a:off x="3749040" y="2980800"/>
            <a:ext cx="105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onsolas"/>
                <a:ea typeface="Consolas"/>
              </a:rPr>
              <a:t>−</a:t>
            </a:r>
            <a:r>
              <a:rPr b="1" lang="en-US" sz="1200" spc="-1" strike="noStrike">
                <a:solidFill>
                  <a:srgbClr val="ffb703"/>
                </a:solidFill>
                <a:latin typeface="Consolas"/>
                <a:ea typeface="Consolas"/>
              </a:rPr>
              <a:t>3/22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97" name="Text 27"/>
          <p:cNvSpPr/>
          <p:nvPr/>
        </p:nvSpPr>
        <p:spPr>
          <a:xfrm>
            <a:off x="4846320" y="2980800"/>
            <a:ext cx="3885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__sub__: (1×11 − 7×2)/(2×11) = −3/22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98" name="Shape 28"/>
          <p:cNvSpPr/>
          <p:nvPr/>
        </p:nvSpPr>
        <p:spPr>
          <a:xfrm>
            <a:off x="320040" y="3456360"/>
            <a:ext cx="8503560" cy="429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9" name="Shape 29"/>
          <p:cNvSpPr/>
          <p:nvPr/>
        </p:nvSpPr>
        <p:spPr>
          <a:xfrm>
            <a:off x="320040" y="3456360"/>
            <a:ext cx="72720" cy="4568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Text 30"/>
          <p:cNvSpPr/>
          <p:nvPr/>
        </p:nvSpPr>
        <p:spPr>
          <a:xfrm>
            <a:off x="457200" y="3456360"/>
            <a:ext cx="3245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print(fr1 * fr2)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01" name="Text 31"/>
          <p:cNvSpPr/>
          <p:nvPr/>
        </p:nvSpPr>
        <p:spPr>
          <a:xfrm>
            <a:off x="3749040" y="3456360"/>
            <a:ext cx="105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onsolas"/>
                <a:ea typeface="Consolas"/>
              </a:rPr>
              <a:t>7/22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02" name="Text 32"/>
          <p:cNvSpPr/>
          <p:nvPr/>
        </p:nvSpPr>
        <p:spPr>
          <a:xfrm>
            <a:off x="4846320" y="3456360"/>
            <a:ext cx="3885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__mul__: (1×7)/(2×11) = 7/22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03" name="Shape 33"/>
          <p:cNvSpPr/>
          <p:nvPr/>
        </p:nvSpPr>
        <p:spPr>
          <a:xfrm>
            <a:off x="320040" y="3931920"/>
            <a:ext cx="8503560" cy="429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4" name="Shape 34"/>
          <p:cNvSpPr/>
          <p:nvPr/>
        </p:nvSpPr>
        <p:spPr>
          <a:xfrm>
            <a:off x="320040" y="3931920"/>
            <a:ext cx="72720" cy="45684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Text 35"/>
          <p:cNvSpPr/>
          <p:nvPr/>
        </p:nvSpPr>
        <p:spPr>
          <a:xfrm>
            <a:off x="457200" y="3931920"/>
            <a:ext cx="3245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print(fr1 / fr2)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06" name="Text 36"/>
          <p:cNvSpPr/>
          <p:nvPr/>
        </p:nvSpPr>
        <p:spPr>
          <a:xfrm>
            <a:off x="3749040" y="3931920"/>
            <a:ext cx="105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0e0ef"/>
                </a:solidFill>
                <a:latin typeface="Consolas"/>
                <a:ea typeface="Consolas"/>
              </a:rPr>
              <a:t>11/14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07" name="Text 37"/>
          <p:cNvSpPr/>
          <p:nvPr/>
        </p:nvSpPr>
        <p:spPr>
          <a:xfrm>
            <a:off x="4846320" y="3931920"/>
            <a:ext cx="3885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__truediv__: (1×11)/(2×7) = 11/14 (flipped)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08" name="Shape 38"/>
          <p:cNvSpPr/>
          <p:nvPr/>
        </p:nvSpPr>
        <p:spPr>
          <a:xfrm>
            <a:off x="320040" y="4407480"/>
            <a:ext cx="8503560" cy="429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9" name="Shape 39"/>
          <p:cNvSpPr/>
          <p:nvPr/>
        </p:nvSpPr>
        <p:spPr>
          <a:xfrm>
            <a:off x="320040" y="4407480"/>
            <a:ext cx="72720" cy="456840"/>
          </a:xfrm>
          <a:prstGeom prst="rect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Text 40"/>
          <p:cNvSpPr/>
          <p:nvPr/>
        </p:nvSpPr>
        <p:spPr>
          <a:xfrm>
            <a:off x="457200" y="4407480"/>
            <a:ext cx="3245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0e0ef"/>
                </a:solidFill>
                <a:latin typeface="Consolas"/>
                <a:ea typeface="Consolas"/>
              </a:rPr>
              <a:t>print(fr1.convert_to_decimal())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11" name="Text 41"/>
          <p:cNvSpPr/>
          <p:nvPr/>
        </p:nvSpPr>
        <p:spPr>
          <a:xfrm>
            <a:off x="3749040" y="4407480"/>
            <a:ext cx="105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8da9c4"/>
                </a:solidFill>
                <a:latin typeface="Consolas"/>
                <a:ea typeface="Consolas"/>
              </a:rPr>
              <a:t>0.5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12" name="Text 42"/>
          <p:cNvSpPr/>
          <p:nvPr/>
        </p:nvSpPr>
        <p:spPr>
          <a:xfrm>
            <a:off x="4846320" y="4407480"/>
            <a:ext cx="3885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da9c4"/>
                </a:solidFill>
                <a:latin typeface="Calibri"/>
                <a:ea typeface="Calibri"/>
              </a:rPr>
              <a:t>Regular method: 1÷2 = 0.5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13" name="Shape 43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4" name="Shape 44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Text 45"/>
          <p:cNvSpPr/>
          <p:nvPr/>
        </p:nvSpPr>
        <p:spPr>
          <a:xfrm>
            <a:off x="50292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Note: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Simplification not implemented — 25/22 stays as-is. Adding a simplify() method using GCD would be a natural extension of this class.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7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Multiple Objects — self is Always Dynamic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19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12.6 — Each object has its own memory, self shifts accordingly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20" name="Shape 4"/>
          <p:cNvSpPr/>
          <p:nvPr/>
        </p:nvSpPr>
        <p:spPr>
          <a:xfrm>
            <a:off x="320040" y="1143000"/>
            <a:ext cx="8503560" cy="15357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1" name="Text 5"/>
          <p:cNvSpPr/>
          <p:nvPr/>
        </p:nvSpPr>
        <p:spPr>
          <a:xfrm>
            <a:off x="457200" y="123444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Proof with two ATM objects: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22" name="Shape 6"/>
          <p:cNvSpPr/>
          <p:nvPr/>
        </p:nvSpPr>
        <p:spPr>
          <a:xfrm>
            <a:off x="365760" y="1517760"/>
            <a:ext cx="8412120" cy="1078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3" name="Shape 7"/>
          <p:cNvSpPr/>
          <p:nvPr/>
        </p:nvSpPr>
        <p:spPr>
          <a:xfrm>
            <a:off x="365760" y="1517760"/>
            <a:ext cx="566640" cy="200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4" name="Text 8"/>
          <p:cNvSpPr/>
          <p:nvPr/>
        </p:nvSpPr>
        <p:spPr>
          <a:xfrm>
            <a:off x="365760" y="1517760"/>
            <a:ext cx="56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Consolas"/>
                <a:ea typeface="Consolas"/>
              </a:rPr>
              <a:t>py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25" name="Text 9"/>
          <p:cNvSpPr/>
          <p:nvPr/>
        </p:nvSpPr>
        <p:spPr>
          <a:xfrm>
            <a:off x="457200" y="177408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0f4f8"/>
                </a:solidFill>
                <a:latin typeface="Consolas"/>
                <a:ea typeface="Consolas"/>
              </a:rPr>
              <a:t>kiosk1 = BankATM()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fb703"/>
                </a:solidFill>
                <a:latin typeface="Consolas"/>
                <a:ea typeface="Consolas"/>
              </a:rPr>
              <a:t>print(id(kiosk1))  # e.g. 140234567890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0f4f8"/>
                </a:solidFill>
                <a:latin typeface="Consolas"/>
                <a:ea typeface="Consolas"/>
              </a:rPr>
              <a:t>kiosk2 = BankATM()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fb703"/>
                </a:solidFill>
                <a:latin typeface="Consolas"/>
                <a:ea typeface="Consolas"/>
              </a:rPr>
              <a:t>print(id(kiosk2))  # e.g. 140234567920  ← DIFFERENT address!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8da9c4"/>
                </a:solidFill>
                <a:latin typeface="Consolas"/>
                <a:ea typeface="Consolas"/>
              </a:rPr>
              <a:t># Each object gets its own separate memory space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426" name="Shape 10"/>
          <p:cNvSpPr/>
          <p:nvPr/>
        </p:nvSpPr>
        <p:spPr>
          <a:xfrm>
            <a:off x="320040" y="2788920"/>
            <a:ext cx="2742840" cy="1992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7" name="Shape 11"/>
          <p:cNvSpPr/>
          <p:nvPr/>
        </p:nvSpPr>
        <p:spPr>
          <a:xfrm>
            <a:off x="320040" y="2788920"/>
            <a:ext cx="2742840" cy="347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8" name="Text 12"/>
          <p:cNvSpPr/>
          <p:nvPr/>
        </p:nvSpPr>
        <p:spPr>
          <a:xfrm>
            <a:off x="457200" y="278892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When kiosk1 is created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429" name="Text 13"/>
          <p:cNvSpPr/>
          <p:nvPr/>
        </p:nvSpPr>
        <p:spPr>
          <a:xfrm>
            <a:off x="457200" y="3200400"/>
            <a:ext cx="248688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self inside __init__ points to kiosk1's memory address. kiosk1.secret_code and kiosk1.account_bal are stored in kiosk1's space.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30" name="Shape 14"/>
          <p:cNvSpPr/>
          <p:nvPr/>
        </p:nvSpPr>
        <p:spPr>
          <a:xfrm>
            <a:off x="3227760" y="2788920"/>
            <a:ext cx="2742840" cy="1992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1" name="Shape 15"/>
          <p:cNvSpPr/>
          <p:nvPr/>
        </p:nvSpPr>
        <p:spPr>
          <a:xfrm>
            <a:off x="3227760" y="2788920"/>
            <a:ext cx="2742840" cy="347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2" name="Text 16"/>
          <p:cNvSpPr/>
          <p:nvPr/>
        </p:nvSpPr>
        <p:spPr>
          <a:xfrm>
            <a:off x="3364920" y="278892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When kiosk2 is created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433" name="Text 17"/>
          <p:cNvSpPr/>
          <p:nvPr/>
        </p:nvSpPr>
        <p:spPr>
          <a:xfrm>
            <a:off x="3364920" y="3200400"/>
            <a:ext cx="248688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self SHIFTS to point to kiosk2's memory address. kiosk2 gets its own fresh copy of secret_code and account_bal.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34" name="Shape 18"/>
          <p:cNvSpPr/>
          <p:nvPr/>
        </p:nvSpPr>
        <p:spPr>
          <a:xfrm>
            <a:off x="6135480" y="2788920"/>
            <a:ext cx="2742840" cy="19929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5" name="Shape 19"/>
          <p:cNvSpPr/>
          <p:nvPr/>
        </p:nvSpPr>
        <p:spPr>
          <a:xfrm>
            <a:off x="6135480" y="2788920"/>
            <a:ext cx="2742840" cy="3470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6" name="Text 20"/>
          <p:cNvSpPr/>
          <p:nvPr/>
        </p:nvSpPr>
        <p:spPr>
          <a:xfrm>
            <a:off x="6272640" y="2788920"/>
            <a:ext cx="2468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They are fully independent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437" name="Text 21"/>
          <p:cNvSpPr/>
          <p:nvPr/>
        </p:nvSpPr>
        <p:spPr>
          <a:xfrm>
            <a:off x="6272640" y="3200400"/>
            <a:ext cx="248688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0f4f8"/>
                </a:solidFill>
                <a:latin typeface="Calibri"/>
                <a:ea typeface="Calibri"/>
              </a:rPr>
              <a:t>Changing kiosk1.secret_code has zero effect on kiosk2. self dynamically refers to whichever object is currently in use.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438" name="Shape 22"/>
          <p:cNvSpPr/>
          <p:nvPr/>
        </p:nvSpPr>
        <p:spPr>
          <a:xfrm>
            <a:off x="320040" y="4864680"/>
            <a:ext cx="8503560" cy="228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9" name="Text 23"/>
          <p:cNvSpPr/>
          <p:nvPr/>
        </p:nvSpPr>
        <p:spPr>
          <a:xfrm>
            <a:off x="457200" y="486468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Same applies to Fraction: fr1 and fr2 each have their own numerator/denominator — self always points to the one currently being operated on.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The Big Picture — You Just Built a Data Type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43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13 — What the Fraction class reveals about all of Python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44" name="Shape 4"/>
          <p:cNvSpPr/>
          <p:nvPr/>
        </p:nvSpPr>
        <p:spPr>
          <a:xfrm>
            <a:off x="320040" y="1143000"/>
            <a:ext cx="8503560" cy="840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5" name="Shape 5"/>
          <p:cNvSpPr/>
          <p:nvPr/>
        </p:nvSpPr>
        <p:spPr>
          <a:xfrm>
            <a:off x="320040" y="1143000"/>
            <a:ext cx="8503560" cy="72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6" name="Text 6"/>
          <p:cNvSpPr/>
          <p:nvPr/>
        </p:nvSpPr>
        <p:spPr>
          <a:xfrm>
            <a:off x="457200" y="126180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f0f4f8"/>
                </a:solidFill>
                <a:latin typeface="Calibri"/>
                <a:ea typeface="Calibri"/>
              </a:rPr>
              <a:t>"When I first learned how to create my own data types using OOP, I felt so powerful! It was an amazing feeling — I can add new data types to Python itself."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47" name="Shape 7"/>
          <p:cNvSpPr/>
          <p:nvPr/>
        </p:nvSpPr>
        <p:spPr>
          <a:xfrm>
            <a:off x="320040" y="2084760"/>
            <a:ext cx="8503560" cy="8042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8" name="Shape 8"/>
          <p:cNvSpPr/>
          <p:nvPr/>
        </p:nvSpPr>
        <p:spPr>
          <a:xfrm>
            <a:off x="320040" y="2084760"/>
            <a:ext cx="8503560" cy="347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Text 9"/>
          <p:cNvSpPr/>
          <p:nvPr/>
        </p:nvSpPr>
        <p:spPr>
          <a:xfrm>
            <a:off x="457200" y="208476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What You Just Did: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50" name="Text 10"/>
          <p:cNvSpPr/>
          <p:nvPr/>
        </p:nvSpPr>
        <p:spPr>
          <a:xfrm>
            <a:off x="3017520" y="2084760"/>
            <a:ext cx="5668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Created a brand-new data type called 'Fraction' that Python didn't have before — supporting 4 arithmetic ops, beautiful display, and decimal conversion.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51" name="Text 11"/>
          <p:cNvSpPr/>
          <p:nvPr/>
        </p:nvSpPr>
        <p:spPr>
          <a:xfrm>
            <a:off x="457200" y="2450520"/>
            <a:ext cx="8229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da9c4"/>
                </a:solidFill>
                <a:latin typeface="Calibri"/>
                <a:ea typeface="Calibri"/>
              </a:rPr>
              <a:t>This is the MAIN POWER of OOP demonstrated in practice.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52" name="Shape 12"/>
          <p:cNvSpPr/>
          <p:nvPr/>
        </p:nvSpPr>
        <p:spPr>
          <a:xfrm>
            <a:off x="320040" y="2999160"/>
            <a:ext cx="8503560" cy="17370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53" name="Shape 13"/>
          <p:cNvSpPr/>
          <p:nvPr/>
        </p:nvSpPr>
        <p:spPr>
          <a:xfrm>
            <a:off x="320040" y="2999160"/>
            <a:ext cx="8503560" cy="3470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4" name="Text 14"/>
          <p:cNvSpPr/>
          <p:nvPr/>
        </p:nvSpPr>
        <p:spPr>
          <a:xfrm>
            <a:off x="457200" y="299916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Calibri"/>
              </a:rPr>
              <a:t>ALL Python Libraries Are Just Classes — Made by Developers Like You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55" name="Shape 15"/>
          <p:cNvSpPr/>
          <p:nvPr/>
        </p:nvSpPr>
        <p:spPr>
          <a:xfrm>
            <a:off x="438840" y="3401640"/>
            <a:ext cx="2029680" cy="12614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56" name="Shape 16"/>
          <p:cNvSpPr/>
          <p:nvPr/>
        </p:nvSpPr>
        <p:spPr>
          <a:xfrm>
            <a:off x="438840" y="3401640"/>
            <a:ext cx="2029680" cy="63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7" name="Text 17"/>
          <p:cNvSpPr/>
          <p:nvPr/>
        </p:nvSpPr>
        <p:spPr>
          <a:xfrm>
            <a:off x="530280" y="3493080"/>
            <a:ext cx="1846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NumPy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58" name="Text 18"/>
          <p:cNvSpPr/>
          <p:nvPr/>
        </p:nvSpPr>
        <p:spPr>
          <a:xfrm>
            <a:off x="530280" y="3858840"/>
            <a:ext cx="1846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Built using OOP — just like your Fraction class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59" name="Shape 19"/>
          <p:cNvSpPr/>
          <p:nvPr/>
        </p:nvSpPr>
        <p:spPr>
          <a:xfrm>
            <a:off x="2615040" y="3401640"/>
            <a:ext cx="2029680" cy="12614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0" name="Shape 20"/>
          <p:cNvSpPr/>
          <p:nvPr/>
        </p:nvSpPr>
        <p:spPr>
          <a:xfrm>
            <a:off x="2615040" y="3401640"/>
            <a:ext cx="2029680" cy="63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1" name="Text 21"/>
          <p:cNvSpPr/>
          <p:nvPr/>
        </p:nvSpPr>
        <p:spPr>
          <a:xfrm>
            <a:off x="2706480" y="3493080"/>
            <a:ext cx="1846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Pandas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62" name="Text 22"/>
          <p:cNvSpPr/>
          <p:nvPr/>
        </p:nvSpPr>
        <p:spPr>
          <a:xfrm>
            <a:off x="2706480" y="3858840"/>
            <a:ext cx="1846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Built using OOP — just like your Fraction class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63" name="Shape 23"/>
          <p:cNvSpPr/>
          <p:nvPr/>
        </p:nvSpPr>
        <p:spPr>
          <a:xfrm>
            <a:off x="4791600" y="3401640"/>
            <a:ext cx="2029680" cy="12614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4" name="Shape 24"/>
          <p:cNvSpPr/>
          <p:nvPr/>
        </p:nvSpPr>
        <p:spPr>
          <a:xfrm>
            <a:off x="4791600" y="3401640"/>
            <a:ext cx="2029680" cy="63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5" name="Text 25"/>
          <p:cNvSpPr/>
          <p:nvPr/>
        </p:nvSpPr>
        <p:spPr>
          <a:xfrm>
            <a:off x="4883040" y="3493080"/>
            <a:ext cx="1846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Matplotlib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66" name="Text 26"/>
          <p:cNvSpPr/>
          <p:nvPr/>
        </p:nvSpPr>
        <p:spPr>
          <a:xfrm>
            <a:off x="4883040" y="3858840"/>
            <a:ext cx="1846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Built using OOP — just like your Fraction class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67" name="Shape 27"/>
          <p:cNvSpPr/>
          <p:nvPr/>
        </p:nvSpPr>
        <p:spPr>
          <a:xfrm>
            <a:off x="6967800" y="3401640"/>
            <a:ext cx="2029680" cy="12614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8" name="Shape 28"/>
          <p:cNvSpPr/>
          <p:nvPr/>
        </p:nvSpPr>
        <p:spPr>
          <a:xfrm>
            <a:off x="6967800" y="3401640"/>
            <a:ext cx="2029680" cy="637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9" name="Text 29"/>
          <p:cNvSpPr/>
          <p:nvPr/>
        </p:nvSpPr>
        <p:spPr>
          <a:xfrm>
            <a:off x="7059240" y="3493080"/>
            <a:ext cx="1846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de5"/>
                </a:solidFill>
                <a:latin typeface="Calibri"/>
                <a:ea typeface="Calibri"/>
              </a:rPr>
              <a:t>Every library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70" name="Text 30"/>
          <p:cNvSpPr/>
          <p:nvPr/>
        </p:nvSpPr>
        <p:spPr>
          <a:xfrm>
            <a:off x="7059240" y="3858840"/>
            <a:ext cx="1846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Collections of classes written by programmers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71" name="Shape 31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72" name="Shape 32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3" name="Text 33"/>
          <p:cNvSpPr/>
          <p:nvPr/>
        </p:nvSpPr>
        <p:spPr>
          <a:xfrm>
            <a:off x="50292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Python version updates: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Each new version (3.10, 3.11, 3.12…) = new classes contributed by the community. You could contribute your own class to Python itself.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5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6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What You Can Build — The Sky Is the Limit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77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Section 13.2 — How open-source libraries are born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78" name="Shape 4"/>
          <p:cNvSpPr/>
          <p:nvPr/>
        </p:nvSpPr>
        <p:spPr>
          <a:xfrm>
            <a:off x="320040" y="1143000"/>
            <a:ext cx="8503560" cy="8042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79" name="Shape 5"/>
          <p:cNvSpPr/>
          <p:nvPr/>
        </p:nvSpPr>
        <p:spPr>
          <a:xfrm>
            <a:off x="320040" y="1143000"/>
            <a:ext cx="8503560" cy="72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0" name="Text 6"/>
          <p:cNvSpPr/>
          <p:nvPr/>
        </p:nvSpPr>
        <p:spPr>
          <a:xfrm>
            <a:off x="457200" y="1261800"/>
            <a:ext cx="8229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Every Python library started as someone's class. Now you know how to build them.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81" name="Shape 7"/>
          <p:cNvSpPr/>
          <p:nvPr/>
        </p:nvSpPr>
        <p:spPr>
          <a:xfrm>
            <a:off x="320040" y="2057400"/>
            <a:ext cx="2742840" cy="1261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82" name="Shape 8"/>
          <p:cNvSpPr/>
          <p:nvPr/>
        </p:nvSpPr>
        <p:spPr>
          <a:xfrm>
            <a:off x="320040" y="2057400"/>
            <a:ext cx="2742840" cy="63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3" name="Shape 9"/>
          <p:cNvSpPr/>
          <p:nvPr/>
        </p:nvSpPr>
        <p:spPr>
          <a:xfrm>
            <a:off x="2423160" y="2148840"/>
            <a:ext cx="566640" cy="2556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84" name="Text 10"/>
          <p:cNvSpPr/>
          <p:nvPr/>
        </p:nvSpPr>
        <p:spPr>
          <a:xfrm>
            <a:off x="2423160" y="2148840"/>
            <a:ext cx="566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0d1b2a"/>
                </a:solidFill>
                <a:latin typeface="Calibri"/>
                <a:ea typeface="Calibri"/>
              </a:rPr>
              <a:t>✓ </a:t>
            </a:r>
            <a:r>
              <a:rPr b="1" lang="en-US" sz="850" spc="-1" strike="noStrike">
                <a:solidFill>
                  <a:srgbClr val="0d1b2a"/>
                </a:solidFill>
                <a:latin typeface="Calibri"/>
                <a:ea typeface="Calibri"/>
              </a:rPr>
              <a:t>Done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485" name="Text 11"/>
          <p:cNvSpPr/>
          <p:nvPr/>
        </p:nvSpPr>
        <p:spPr>
          <a:xfrm>
            <a:off x="457200" y="218556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d6a0"/>
                </a:solidFill>
                <a:latin typeface="Calibri"/>
                <a:ea typeface="Calibri"/>
              </a:rPr>
              <a:t>Fraction Class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86" name="Text 12"/>
          <p:cNvSpPr/>
          <p:nvPr/>
        </p:nvSpPr>
        <p:spPr>
          <a:xfrm>
            <a:off x="457200" y="2532960"/>
            <a:ext cx="248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Custom arithmetic type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87" name="Text 13"/>
          <p:cNvSpPr/>
          <p:nvPr/>
        </p:nvSpPr>
        <p:spPr>
          <a:xfrm>
            <a:off x="457200" y="2880360"/>
            <a:ext cx="248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Today — you just built it!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88" name="Shape 14"/>
          <p:cNvSpPr/>
          <p:nvPr/>
        </p:nvSpPr>
        <p:spPr>
          <a:xfrm>
            <a:off x="3264480" y="2057400"/>
            <a:ext cx="2742840" cy="1261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89" name="Shape 15"/>
          <p:cNvSpPr/>
          <p:nvPr/>
        </p:nvSpPr>
        <p:spPr>
          <a:xfrm>
            <a:off x="3264480" y="2057400"/>
            <a:ext cx="2742840" cy="63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0" name="Text 16"/>
          <p:cNvSpPr/>
          <p:nvPr/>
        </p:nvSpPr>
        <p:spPr>
          <a:xfrm>
            <a:off x="3401640" y="218556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Coordinate Geometry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91" name="Text 17"/>
          <p:cNvSpPr/>
          <p:nvPr/>
        </p:nvSpPr>
        <p:spPr>
          <a:xfrm>
            <a:off x="3401640" y="2532960"/>
            <a:ext cx="248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Point, Line, Distance, Slope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92" name="Text 18"/>
          <p:cNvSpPr/>
          <p:nvPr/>
        </p:nvSpPr>
        <p:spPr>
          <a:xfrm>
            <a:off x="3401640" y="2880360"/>
            <a:ext cx="248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Next session (Tuesday)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93" name="Shape 19"/>
          <p:cNvSpPr/>
          <p:nvPr/>
        </p:nvSpPr>
        <p:spPr>
          <a:xfrm>
            <a:off x="6208920" y="3447360"/>
            <a:ext cx="2742840" cy="1261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4" name="Shape 20"/>
          <p:cNvSpPr/>
          <p:nvPr/>
        </p:nvSpPr>
        <p:spPr>
          <a:xfrm>
            <a:off x="6208920" y="3447360"/>
            <a:ext cx="2742840" cy="637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5" name="Text 21"/>
          <p:cNvSpPr/>
          <p:nvPr/>
        </p:nvSpPr>
        <p:spPr>
          <a:xfrm>
            <a:off x="6346080" y="357516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de5"/>
                </a:solidFill>
                <a:latin typeface="Calibri"/>
                <a:ea typeface="Calibri"/>
              </a:rPr>
              <a:t>Linear Algebra Class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96" name="Text 22"/>
          <p:cNvSpPr/>
          <p:nvPr/>
        </p:nvSpPr>
        <p:spPr>
          <a:xfrm>
            <a:off x="6346080" y="3922920"/>
            <a:ext cx="248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Matrices, vectors, dot products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97" name="Text 23"/>
          <p:cNvSpPr/>
          <p:nvPr/>
        </p:nvSpPr>
        <p:spPr>
          <a:xfrm>
            <a:off x="6346080" y="4270320"/>
            <a:ext cx="248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Like NumPy — fully buildable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98" name="Shape 24"/>
          <p:cNvSpPr/>
          <p:nvPr/>
        </p:nvSpPr>
        <p:spPr>
          <a:xfrm>
            <a:off x="320040" y="3447360"/>
            <a:ext cx="2742840" cy="1261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9" name="Shape 25"/>
          <p:cNvSpPr/>
          <p:nvPr/>
        </p:nvSpPr>
        <p:spPr>
          <a:xfrm>
            <a:off x="320040" y="3447360"/>
            <a:ext cx="2742840" cy="63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0" name="Text 26"/>
          <p:cNvSpPr/>
          <p:nvPr/>
        </p:nvSpPr>
        <p:spPr>
          <a:xfrm>
            <a:off x="457200" y="357516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b703"/>
                </a:solidFill>
                <a:latin typeface="Calibri"/>
                <a:ea typeface="Calibri"/>
              </a:rPr>
              <a:t>Encapsulation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01" name="Text 27"/>
          <p:cNvSpPr/>
          <p:nvPr/>
        </p:nvSpPr>
        <p:spPr>
          <a:xfrm>
            <a:off x="457200" y="3922920"/>
            <a:ext cx="248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Private data, getters/setters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02" name="Text 28"/>
          <p:cNvSpPr/>
          <p:nvPr/>
        </p:nvSpPr>
        <p:spPr>
          <a:xfrm>
            <a:off x="457200" y="4270320"/>
            <a:ext cx="248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Day 2 — Tuesday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03" name="Shape 29"/>
          <p:cNvSpPr/>
          <p:nvPr/>
        </p:nvSpPr>
        <p:spPr>
          <a:xfrm>
            <a:off x="3264480" y="4837320"/>
            <a:ext cx="2742840" cy="1261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04" name="Shape 30"/>
          <p:cNvSpPr/>
          <p:nvPr/>
        </p:nvSpPr>
        <p:spPr>
          <a:xfrm>
            <a:off x="3264480" y="4837320"/>
            <a:ext cx="2742840" cy="63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5" name="Text 31"/>
          <p:cNvSpPr/>
          <p:nvPr/>
        </p:nvSpPr>
        <p:spPr>
          <a:xfrm>
            <a:off x="3401640" y="496512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Calibri"/>
                <a:ea typeface="Calibri"/>
              </a:rPr>
              <a:t>Inheritance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06" name="Text 32"/>
          <p:cNvSpPr/>
          <p:nvPr/>
        </p:nvSpPr>
        <p:spPr>
          <a:xfrm>
            <a:off x="3401640" y="5312520"/>
            <a:ext cx="248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Reuse code between related classes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07" name="Text 33"/>
          <p:cNvSpPr/>
          <p:nvPr/>
        </p:nvSpPr>
        <p:spPr>
          <a:xfrm>
            <a:off x="3401640" y="5660280"/>
            <a:ext cx="248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Day 3 — Wednesday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08" name="Shape 34"/>
          <p:cNvSpPr/>
          <p:nvPr/>
        </p:nvSpPr>
        <p:spPr>
          <a:xfrm>
            <a:off x="6208920" y="4837320"/>
            <a:ext cx="2742840" cy="12614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09" name="Shape 35"/>
          <p:cNvSpPr/>
          <p:nvPr/>
        </p:nvSpPr>
        <p:spPr>
          <a:xfrm>
            <a:off x="6208920" y="4837320"/>
            <a:ext cx="2742840" cy="6372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0" name="Text 36"/>
          <p:cNvSpPr/>
          <p:nvPr/>
        </p:nvSpPr>
        <p:spPr>
          <a:xfrm>
            <a:off x="6346080" y="496512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0e0ef"/>
                </a:solidFill>
                <a:latin typeface="Calibri"/>
                <a:ea typeface="Calibri"/>
              </a:rPr>
              <a:t>OOP Project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11" name="Text 37"/>
          <p:cNvSpPr/>
          <p:nvPr/>
        </p:nvSpPr>
        <p:spPr>
          <a:xfrm>
            <a:off x="6346080" y="5312520"/>
            <a:ext cx="248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0f4f8"/>
                </a:solidFill>
                <a:latin typeface="Calibri"/>
                <a:ea typeface="Calibri"/>
              </a:rPr>
              <a:t>Full application using all principles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12" name="Text 38"/>
          <p:cNvSpPr/>
          <p:nvPr/>
        </p:nvSpPr>
        <p:spPr>
          <a:xfrm>
            <a:off x="6346080" y="5660280"/>
            <a:ext cx="2486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Day 4 — practical project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13" name="Shape 39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4" name="Shape 40"/>
          <p:cNvSpPr/>
          <p:nvPr/>
        </p:nvSpPr>
        <p:spPr>
          <a:xfrm>
            <a:off x="320040" y="4773240"/>
            <a:ext cx="91080" cy="2739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5" name="Text 41"/>
          <p:cNvSpPr/>
          <p:nvPr/>
        </p:nvSpPr>
        <p:spPr>
          <a:xfrm>
            <a:off x="50292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b703"/>
                </a:solidFill>
                <a:latin typeface="Calibri"/>
                <a:ea typeface="Calibri"/>
              </a:rPr>
              <a:t>Open Source: </a:t>
            </a:r>
            <a:r>
              <a:rPr b="0" i="1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Coordinate Geometry, Linear Algebra, Statistical Analysis — all of these start exactly the way Fraction did: a class with attributes and methods.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7" name="Shape 1"/>
          <p:cNvSpPr/>
          <p:nvPr/>
        </p:nvSpPr>
        <p:spPr>
          <a:xfrm>
            <a:off x="0" y="0"/>
            <a:ext cx="109440" cy="10054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8" name="Text 2"/>
          <p:cNvSpPr/>
          <p:nvPr/>
        </p:nvSpPr>
        <p:spPr>
          <a:xfrm>
            <a:off x="255960" y="128160"/>
            <a:ext cx="850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Week 3 Session 1 — Complete Master Summary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19" name="Text 3"/>
          <p:cNvSpPr/>
          <p:nvPr/>
        </p:nvSpPr>
        <p:spPr>
          <a:xfrm>
            <a:off x="255960" y="658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Everything across all 4 parts at a glance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20" name="Shape 4"/>
          <p:cNvSpPr/>
          <p:nvPr/>
        </p:nvSpPr>
        <p:spPr>
          <a:xfrm>
            <a:off x="320040" y="1170360"/>
            <a:ext cx="4205880" cy="8956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21" name="Shape 5"/>
          <p:cNvSpPr/>
          <p:nvPr/>
        </p:nvSpPr>
        <p:spPr>
          <a:xfrm>
            <a:off x="320040" y="1170360"/>
            <a:ext cx="72720" cy="895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2" name="Shape 6"/>
          <p:cNvSpPr/>
          <p:nvPr/>
        </p:nvSpPr>
        <p:spPr>
          <a:xfrm>
            <a:off x="484560" y="1225440"/>
            <a:ext cx="365400" cy="3654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3" name="Text 7"/>
          <p:cNvSpPr/>
          <p:nvPr/>
        </p:nvSpPr>
        <p:spPr>
          <a:xfrm>
            <a:off x="484560" y="12254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①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24" name="Text 8"/>
          <p:cNvSpPr/>
          <p:nvPr/>
        </p:nvSpPr>
        <p:spPr>
          <a:xfrm>
            <a:off x="941760" y="122544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Why OOP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25" name="Text 9"/>
          <p:cNvSpPr/>
          <p:nvPr/>
        </p:nvSpPr>
        <p:spPr>
          <a:xfrm>
            <a:off x="941760" y="1591200"/>
            <a:ext cx="3474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nFly story: 10K procedural lines rebuilt in 1.5 months with half the code using OOP.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26" name="Shape 10"/>
          <p:cNvSpPr/>
          <p:nvPr/>
        </p:nvSpPr>
        <p:spPr>
          <a:xfrm>
            <a:off x="4800600" y="1170360"/>
            <a:ext cx="4205880" cy="8956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27" name="Shape 11"/>
          <p:cNvSpPr/>
          <p:nvPr/>
        </p:nvSpPr>
        <p:spPr>
          <a:xfrm>
            <a:off x="4800600" y="1170360"/>
            <a:ext cx="72720" cy="895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8" name="Shape 12"/>
          <p:cNvSpPr/>
          <p:nvPr/>
        </p:nvSpPr>
        <p:spPr>
          <a:xfrm>
            <a:off x="4965120" y="1225440"/>
            <a:ext cx="365400" cy="3654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9" name="Text 13"/>
          <p:cNvSpPr/>
          <p:nvPr/>
        </p:nvSpPr>
        <p:spPr>
          <a:xfrm>
            <a:off x="4965120" y="12254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②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30" name="Text 14"/>
          <p:cNvSpPr/>
          <p:nvPr/>
        </p:nvSpPr>
        <p:spPr>
          <a:xfrm>
            <a:off x="5422320" y="122544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OOP's Core Power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31" name="Text 15"/>
          <p:cNvSpPr/>
          <p:nvPr/>
        </p:nvSpPr>
        <p:spPr>
          <a:xfrm>
            <a:off x="5422320" y="1591200"/>
            <a:ext cx="3474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Create your own custom data types. Move from generic built-ins to app-specific types.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32" name="Shape 16"/>
          <p:cNvSpPr/>
          <p:nvPr/>
        </p:nvSpPr>
        <p:spPr>
          <a:xfrm>
            <a:off x="320040" y="2139840"/>
            <a:ext cx="4205880" cy="8956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3" name="Shape 17"/>
          <p:cNvSpPr/>
          <p:nvPr/>
        </p:nvSpPr>
        <p:spPr>
          <a:xfrm>
            <a:off x="320040" y="2139840"/>
            <a:ext cx="72720" cy="8956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4" name="Shape 18"/>
          <p:cNvSpPr/>
          <p:nvPr/>
        </p:nvSpPr>
        <p:spPr>
          <a:xfrm>
            <a:off x="484560" y="2194560"/>
            <a:ext cx="365400" cy="365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5" name="Text 19"/>
          <p:cNvSpPr/>
          <p:nvPr/>
        </p:nvSpPr>
        <p:spPr>
          <a:xfrm>
            <a:off x="484560" y="21945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③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36" name="Text 20"/>
          <p:cNvSpPr/>
          <p:nvPr/>
        </p:nvSpPr>
        <p:spPr>
          <a:xfrm>
            <a:off x="941760" y="219456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Class &amp; Object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37" name="Text 21"/>
          <p:cNvSpPr/>
          <p:nvPr/>
        </p:nvSpPr>
        <p:spPr>
          <a:xfrm>
            <a:off x="941760" y="2560320"/>
            <a:ext cx="3474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Class = blueprint (attributes + methods). Object = instance that follows the blueprint.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38" name="Shape 22"/>
          <p:cNvSpPr/>
          <p:nvPr/>
        </p:nvSpPr>
        <p:spPr>
          <a:xfrm>
            <a:off x="4800600" y="2139840"/>
            <a:ext cx="4205880" cy="8956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9" name="Shape 23"/>
          <p:cNvSpPr/>
          <p:nvPr/>
        </p:nvSpPr>
        <p:spPr>
          <a:xfrm>
            <a:off x="4800600" y="2139840"/>
            <a:ext cx="72720" cy="895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0" name="Shape 24"/>
          <p:cNvSpPr/>
          <p:nvPr/>
        </p:nvSpPr>
        <p:spPr>
          <a:xfrm>
            <a:off x="4965120" y="2194560"/>
            <a:ext cx="365400" cy="3654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1" name="Text 25"/>
          <p:cNvSpPr/>
          <p:nvPr/>
        </p:nvSpPr>
        <p:spPr>
          <a:xfrm>
            <a:off x="4965120" y="21945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④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42" name="Text 26"/>
          <p:cNvSpPr/>
          <p:nvPr/>
        </p:nvSpPr>
        <p:spPr>
          <a:xfrm>
            <a:off x="5422320" y="219456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Constructor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43" name="Text 27"/>
          <p:cNvSpPr/>
          <p:nvPr/>
        </p:nvSpPr>
        <p:spPr>
          <a:xfrm>
            <a:off x="5422320" y="2560320"/>
            <a:ext cx="3474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__init__ runs automatically. Use it for config code that must run before the user acts.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44" name="Shape 28"/>
          <p:cNvSpPr/>
          <p:nvPr/>
        </p:nvSpPr>
        <p:spPr>
          <a:xfrm>
            <a:off x="320040" y="3108960"/>
            <a:ext cx="4205880" cy="8956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45" name="Shape 29"/>
          <p:cNvSpPr/>
          <p:nvPr/>
        </p:nvSpPr>
        <p:spPr>
          <a:xfrm>
            <a:off x="320040" y="3108960"/>
            <a:ext cx="72720" cy="89568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6" name="Shape 30"/>
          <p:cNvSpPr/>
          <p:nvPr/>
        </p:nvSpPr>
        <p:spPr>
          <a:xfrm>
            <a:off x="484560" y="3163680"/>
            <a:ext cx="365400" cy="365400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7" name="Text 31"/>
          <p:cNvSpPr/>
          <p:nvPr/>
        </p:nvSpPr>
        <p:spPr>
          <a:xfrm>
            <a:off x="484560" y="31636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⑤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48" name="Text 32"/>
          <p:cNvSpPr/>
          <p:nvPr/>
        </p:nvSpPr>
        <p:spPr>
          <a:xfrm>
            <a:off x="941760" y="316368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self = Object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49" name="Text 33"/>
          <p:cNvSpPr/>
          <p:nvPr/>
        </p:nvSpPr>
        <p:spPr>
          <a:xfrm>
            <a:off x="941760" y="3529440"/>
            <a:ext cx="3474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Memory-proven. self IS the object. Golden Rule: class members only accessible via object.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50" name="Shape 34"/>
          <p:cNvSpPr/>
          <p:nvPr/>
        </p:nvSpPr>
        <p:spPr>
          <a:xfrm>
            <a:off x="4800600" y="3108960"/>
            <a:ext cx="4205880" cy="8956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51" name="Shape 35"/>
          <p:cNvSpPr/>
          <p:nvPr/>
        </p:nvSpPr>
        <p:spPr>
          <a:xfrm>
            <a:off x="4800600" y="3108960"/>
            <a:ext cx="72720" cy="8956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2" name="Shape 36"/>
          <p:cNvSpPr/>
          <p:nvPr/>
        </p:nvSpPr>
        <p:spPr>
          <a:xfrm>
            <a:off x="4965120" y="3163680"/>
            <a:ext cx="365400" cy="365400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3" name="Text 37"/>
          <p:cNvSpPr/>
          <p:nvPr/>
        </p:nvSpPr>
        <p:spPr>
          <a:xfrm>
            <a:off x="4965120" y="31636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⑥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54" name="Text 38"/>
          <p:cNvSpPr/>
          <p:nvPr/>
        </p:nvSpPr>
        <p:spPr>
          <a:xfrm>
            <a:off x="5422320" y="316368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Magic Methods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55" name="Text 39"/>
          <p:cNvSpPr/>
          <p:nvPr/>
        </p:nvSpPr>
        <p:spPr>
          <a:xfrm>
            <a:off x="5422320" y="3529440"/>
            <a:ext cx="3474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__str__, __add__, __sub__, __mul__, __truediv__ — auto-triggered by Python in context.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56" name="Shape 40"/>
          <p:cNvSpPr/>
          <p:nvPr/>
        </p:nvSpPr>
        <p:spPr>
          <a:xfrm>
            <a:off x="320040" y="4078080"/>
            <a:ext cx="4205880" cy="8956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57" name="Shape 41"/>
          <p:cNvSpPr/>
          <p:nvPr/>
        </p:nvSpPr>
        <p:spPr>
          <a:xfrm>
            <a:off x="320040" y="4078080"/>
            <a:ext cx="72720" cy="895680"/>
          </a:xfrm>
          <a:prstGeom prst="rect">
            <a:avLst/>
          </a:prstGeom>
          <a:solidFill>
            <a:srgbClr val="f15bb5"/>
          </a:solidFill>
          <a:ln w="12700">
            <a:solidFill>
              <a:srgbClr val="f15bb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8" name="Shape 42"/>
          <p:cNvSpPr/>
          <p:nvPr/>
        </p:nvSpPr>
        <p:spPr>
          <a:xfrm>
            <a:off x="484560" y="4133160"/>
            <a:ext cx="365400" cy="365400"/>
          </a:xfrm>
          <a:prstGeom prst="ellipse">
            <a:avLst/>
          </a:prstGeom>
          <a:solidFill>
            <a:srgbClr val="f15bb5"/>
          </a:solidFill>
          <a:ln w="12700">
            <a:solidFill>
              <a:srgbClr val="f15bb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9" name="Text 43"/>
          <p:cNvSpPr/>
          <p:nvPr/>
        </p:nvSpPr>
        <p:spPr>
          <a:xfrm>
            <a:off x="484560" y="41331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⑦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60" name="Text 44"/>
          <p:cNvSpPr/>
          <p:nvPr/>
        </p:nvSpPr>
        <p:spPr>
          <a:xfrm>
            <a:off x="941760" y="413316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Fraction Class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61" name="Text 45"/>
          <p:cNvSpPr/>
          <p:nvPr/>
        </p:nvSpPr>
        <p:spPr>
          <a:xfrm>
            <a:off x="941760" y="4498920"/>
            <a:ext cx="3474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Built a complete custom data type: display, +, −, ×, ÷, and decimal conversion.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62" name="Shape 46"/>
          <p:cNvSpPr/>
          <p:nvPr/>
        </p:nvSpPr>
        <p:spPr>
          <a:xfrm>
            <a:off x="4800600" y="4078080"/>
            <a:ext cx="4205880" cy="8956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63" name="Shape 47"/>
          <p:cNvSpPr/>
          <p:nvPr/>
        </p:nvSpPr>
        <p:spPr>
          <a:xfrm>
            <a:off x="4800600" y="4078080"/>
            <a:ext cx="72720" cy="895680"/>
          </a:xfrm>
          <a:prstGeom prst="rect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4" name="Shape 48"/>
          <p:cNvSpPr/>
          <p:nvPr/>
        </p:nvSpPr>
        <p:spPr>
          <a:xfrm>
            <a:off x="4965120" y="4133160"/>
            <a:ext cx="365400" cy="365400"/>
          </a:xfrm>
          <a:prstGeom prst="ellipse">
            <a:avLst/>
          </a:prstGeom>
          <a:solidFill>
            <a:srgbClr val="8da9c4"/>
          </a:solidFill>
          <a:ln w="12700">
            <a:solidFill>
              <a:srgbClr val="8da9c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5" name="Text 49"/>
          <p:cNvSpPr/>
          <p:nvPr/>
        </p:nvSpPr>
        <p:spPr>
          <a:xfrm>
            <a:off x="4965120" y="41331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⑧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66" name="Text 50"/>
          <p:cNvSpPr/>
          <p:nvPr/>
        </p:nvSpPr>
        <p:spPr>
          <a:xfrm>
            <a:off x="5422320" y="413316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Libraries = Classes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67" name="Text 51"/>
          <p:cNvSpPr/>
          <p:nvPr/>
        </p:nvSpPr>
        <p:spPr>
          <a:xfrm>
            <a:off x="5422320" y="4498920"/>
            <a:ext cx="3474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da9c4"/>
                </a:solidFill>
                <a:latin typeface="Calibri"/>
                <a:ea typeface="Calibri"/>
              </a:rPr>
              <a:t>NumPy, Pandas, Matplotlib — all built exactly as you just built Fraction. You can too.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68" name="Shape 52"/>
          <p:cNvSpPr/>
          <p:nvPr/>
        </p:nvSpPr>
        <p:spPr>
          <a:xfrm>
            <a:off x="320040" y="4937760"/>
            <a:ext cx="8503560" cy="109440"/>
          </a:xfrm>
          <a:prstGeom prst="rect">
            <a:avLst/>
          </a:prstGeom>
          <a:solidFill>
            <a:srgbClr val="122233"/>
          </a:solidFill>
          <a:ln w="12700">
            <a:solidFill>
              <a:srgbClr val="12223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69" name="Text 53"/>
          <p:cNvSpPr/>
          <p:nvPr/>
        </p:nvSpPr>
        <p:spPr>
          <a:xfrm>
            <a:off x="457200" y="4937760"/>
            <a:ext cx="82292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8da9c4"/>
                </a:solidFill>
                <a:latin typeface="Calibri"/>
                <a:ea typeface="Calibri"/>
              </a:rPr>
              <a:t>Day 2: Encapsulation · Polymorphism · Abstraction · Memory  |  Day 3: Inheritance  |  Day 4: OOP Project  |  Day 5: Interview Prep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2026-02-21T09:16:38Z</dcterms:created>
  <dc:creator>PptxGenJS</dc:creator>
  <dc:description/>
  <dc:language>en-IN</dc:language>
  <cp:lastModifiedBy/>
  <dcterms:modified xsi:type="dcterms:W3CDTF">2026-02-21T21:02:26Z</dcterms:modified>
  <cp:revision>4</cp:revision>
  <dc:subject>PptxGenJS Presentation</dc:subject>
  <dc:title>OOP in Python – Part 4: Magic Methods &amp; Fraction Class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