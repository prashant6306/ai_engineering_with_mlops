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</a:t>
            </a:r>
            <a:r>
              <a:rPr b="0" lang="en-IN" sz="4400" spc="-1" strike="noStrike">
                <a:latin typeface="Arial"/>
              </a:rPr>
              <a:t>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7010701-17A7-4FD0-A6E2-62E5FCEBBC2A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94DE31-78F0-4213-8326-12D8752B376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21CD7A-8FEE-43D3-82B9-F0BFCF245EC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E838DA-5B22-4350-9204-4828F70FA45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6B54F3-C60A-4683-BE87-EA6A02FAE8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622166-CAF3-4E0E-87BF-F168CED6B50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70FCF2-8912-418E-8B84-EB270693389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4da6d9"/>
          </a:solidFill>
          <a:ln w="12700">
            <a:solidFill>
              <a:srgbClr val="4da6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6400800" y="182880"/>
            <a:ext cx="3474000" cy="3474000"/>
          </a:xfrm>
          <a:prstGeom prst="rect">
            <a:avLst/>
          </a:prstGeom>
          <a:solidFill>
            <a:srgbClr val="1c6ea4">
              <a:alpha val="20000"/>
            </a:srgbClr>
          </a:solidFill>
          <a:ln w="12700">
            <a:solidFill>
              <a:srgbClr val="4da6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6949440" y="731520"/>
            <a:ext cx="2285280" cy="2285280"/>
          </a:xfrm>
          <a:prstGeom prst="rect">
            <a:avLst/>
          </a:prstGeom>
          <a:solidFill>
            <a:srgbClr val="4da6d9">
              <a:alpha val="25000"/>
            </a:srgbClr>
          </a:solidFill>
          <a:ln w="12700">
            <a:solidFill>
              <a:srgbClr val="5dad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457200" y="1005840"/>
            <a:ext cx="1370880" cy="137088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457200" y="1005840"/>
            <a:ext cx="1370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DejaVu Sans"/>
              </a:rPr>
              <a:t>16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2395800"/>
            <a:ext cx="1370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39c12"/>
                </a:solidFill>
                <a:latin typeface="Calibri"/>
                <a:ea typeface="DejaVu Sans"/>
              </a:rPr>
              <a:t>Part 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2103120" y="777240"/>
            <a:ext cx="64000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Import</a:t>
            </a:r>
            <a:endParaRPr b="0" lang="en-IN" sz="4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Variations &amp;</a:t>
            </a:r>
            <a:endParaRPr b="0" lang="en-IN" sz="4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Search Path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2103120" y="3127320"/>
            <a:ext cx="6400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dade2"/>
                </a:solidFill>
                <a:latin typeface="Calibri"/>
                <a:ea typeface="DejaVu Sans"/>
              </a:rPr>
              <a:t>from ... import · aliases · sys.path · __name__ guard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0" y="4114800"/>
            <a:ext cx="9143280" cy="102816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457200" y="4114800"/>
            <a:ext cx="822888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"Know where Python looks before you import"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"/>
          <p:cNvSpPr/>
          <p:nvPr/>
        </p:nvSpPr>
        <p:spPr>
          <a:xfrm>
            <a:off x="365760" y="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  <a:ea typeface="DejaVu Sans"/>
              </a:rPr>
              <a:t>Variations of  import  — Side by Side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274320" y="713160"/>
            <a:ext cx="8594640" cy="410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3"/>
          <p:cNvSpPr/>
          <p:nvPr/>
        </p:nvSpPr>
        <p:spPr>
          <a:xfrm>
            <a:off x="320040" y="71316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Variant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2377440" y="71316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Code Example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6400800" y="713160"/>
            <a:ext cx="2422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When to Use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274320" y="1170360"/>
            <a:ext cx="8594640" cy="721800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Shape 7"/>
          <p:cNvSpPr/>
          <p:nvPr/>
        </p:nvSpPr>
        <p:spPr>
          <a:xfrm>
            <a:off x="274320" y="1170360"/>
            <a:ext cx="54000" cy="72180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8"/>
          <p:cNvSpPr/>
          <p:nvPr/>
        </p:nvSpPr>
        <p:spPr>
          <a:xfrm>
            <a:off x="384120" y="1207080"/>
            <a:ext cx="1919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c6ea4"/>
                </a:solidFill>
                <a:latin typeface="Consolas"/>
                <a:ea typeface="Consolas"/>
              </a:rPr>
              <a:t>import module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2377440" y="1207080"/>
            <a:ext cx="3922200" cy="685080"/>
          </a:xfrm>
          <a:prstGeom prst="rect">
            <a:avLst/>
          </a:prstGeom>
          <a:solidFill>
            <a:srgbClr val="07111a"/>
          </a:solidFill>
          <a:ln w="1016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0"/>
          <p:cNvSpPr/>
          <p:nvPr/>
        </p:nvSpPr>
        <p:spPr>
          <a:xfrm>
            <a:off x="2432160" y="1225440"/>
            <a:ext cx="3839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import statistics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m = statistics.mean([10,20,30])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s = statistics.stdev([10,20,30])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print(m, s)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6446520" y="1207080"/>
            <a:ext cx="2331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Access via module name prefix.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Safest — no name collisions.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274320" y="1943280"/>
            <a:ext cx="8594640" cy="721800"/>
          </a:xfrm>
          <a:prstGeom prst="rect">
            <a:avLst/>
          </a:prstGeom>
          <a:solidFill>
            <a:srgbClr val="fdfefe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Shape 13"/>
          <p:cNvSpPr/>
          <p:nvPr/>
        </p:nvSpPr>
        <p:spPr>
          <a:xfrm>
            <a:off x="274320" y="1943280"/>
            <a:ext cx="54000" cy="721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4"/>
          <p:cNvSpPr/>
          <p:nvPr/>
        </p:nvSpPr>
        <p:spPr>
          <a:xfrm>
            <a:off x="384120" y="1979640"/>
            <a:ext cx="1919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6a085"/>
                </a:solidFill>
                <a:latin typeface="Consolas"/>
                <a:ea typeface="Consolas"/>
              </a:rPr>
              <a:t>from module import name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2377440" y="1979640"/>
            <a:ext cx="3922200" cy="685440"/>
          </a:xfrm>
          <a:prstGeom prst="rect">
            <a:avLst/>
          </a:prstGeom>
          <a:solidFill>
            <a:srgbClr val="07111a"/>
          </a:solidFill>
          <a:ln w="1016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6"/>
          <p:cNvSpPr/>
          <p:nvPr/>
        </p:nvSpPr>
        <p:spPr>
          <a:xfrm>
            <a:off x="2432160" y="1998000"/>
            <a:ext cx="3839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from statistics import mean, stdev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m = mean([10,20,30])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s = stdev([10,20,30])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print(m, s)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6446520" y="1979640"/>
            <a:ext cx="2331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Import specific names directly.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No prefix needed.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274320" y="2715840"/>
            <a:ext cx="8594640" cy="721800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Shape 19"/>
          <p:cNvSpPr/>
          <p:nvPr/>
        </p:nvSpPr>
        <p:spPr>
          <a:xfrm>
            <a:off x="274320" y="2715840"/>
            <a:ext cx="54000" cy="721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20"/>
          <p:cNvSpPr/>
          <p:nvPr/>
        </p:nvSpPr>
        <p:spPr>
          <a:xfrm>
            <a:off x="384120" y="2752200"/>
            <a:ext cx="1919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e67e22"/>
                </a:solidFill>
                <a:latin typeface="Consolas"/>
                <a:ea typeface="Consolas"/>
              </a:rPr>
              <a:t>from module import *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2377440" y="2752200"/>
            <a:ext cx="3922200" cy="685440"/>
          </a:xfrm>
          <a:prstGeom prst="rect">
            <a:avLst/>
          </a:prstGeom>
          <a:solidFill>
            <a:srgbClr val="07111a"/>
          </a:solidFill>
          <a:ln w="1016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22"/>
          <p:cNvSpPr/>
          <p:nvPr/>
        </p:nvSpPr>
        <p:spPr>
          <a:xfrm>
            <a:off x="2432160" y="2770560"/>
            <a:ext cx="3839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from statistics import *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# Everything from statistics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# is now in scope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print(mean([5,10,15]))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7" name="Text 23"/>
          <p:cNvSpPr/>
          <p:nvPr/>
        </p:nvSpPr>
        <p:spPr>
          <a:xfrm>
            <a:off x="6446520" y="2752200"/>
            <a:ext cx="2331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⚠ </a:t>
            </a: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Imports everything.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Can pollute namespace.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274320" y="3488400"/>
            <a:ext cx="8594640" cy="721800"/>
          </a:xfrm>
          <a:prstGeom prst="rect">
            <a:avLst/>
          </a:prstGeom>
          <a:solidFill>
            <a:srgbClr val="fdfefe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25"/>
          <p:cNvSpPr/>
          <p:nvPr/>
        </p:nvSpPr>
        <p:spPr>
          <a:xfrm>
            <a:off x="274320" y="3488400"/>
            <a:ext cx="54000" cy="721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6"/>
          <p:cNvSpPr/>
          <p:nvPr/>
        </p:nvSpPr>
        <p:spPr>
          <a:xfrm>
            <a:off x="384120" y="3525120"/>
            <a:ext cx="1919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8e44ad"/>
                </a:solidFill>
                <a:latin typeface="Consolas"/>
                <a:ea typeface="Consolas"/>
              </a:rPr>
              <a:t>import module as alias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2377440" y="3525120"/>
            <a:ext cx="3922200" cy="685080"/>
          </a:xfrm>
          <a:prstGeom prst="rect">
            <a:avLst/>
          </a:prstGeom>
          <a:solidFill>
            <a:srgbClr val="07111a"/>
          </a:solidFill>
          <a:ln w="1016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8"/>
          <p:cNvSpPr/>
          <p:nvPr/>
        </p:nvSpPr>
        <p:spPr>
          <a:xfrm>
            <a:off x="2432160" y="3543480"/>
            <a:ext cx="3839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import statistics as st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m = st.mean([10,20,30])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print(m)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# Shorter alias for long names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3" name="Text 29"/>
          <p:cNvSpPr/>
          <p:nvPr/>
        </p:nvSpPr>
        <p:spPr>
          <a:xfrm>
            <a:off x="6446520" y="3525120"/>
            <a:ext cx="2331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Rename on import.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Useful for long module names.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274320" y="4260960"/>
            <a:ext cx="8594640" cy="721800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31"/>
          <p:cNvSpPr/>
          <p:nvPr/>
        </p:nvSpPr>
        <p:spPr>
          <a:xfrm>
            <a:off x="274320" y="4260960"/>
            <a:ext cx="54000" cy="721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32"/>
          <p:cNvSpPr/>
          <p:nvPr/>
        </p:nvSpPr>
        <p:spPr>
          <a:xfrm>
            <a:off x="384120" y="4297680"/>
            <a:ext cx="1919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c0392b"/>
                </a:solidFill>
                <a:latin typeface="Consolas"/>
                <a:ea typeface="Consolas"/>
              </a:rPr>
              <a:t>from module import name as alias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2377440" y="4297680"/>
            <a:ext cx="3922200" cy="845640"/>
          </a:xfrm>
          <a:prstGeom prst="rect">
            <a:avLst/>
          </a:prstGeom>
          <a:solidFill>
            <a:srgbClr val="07111a"/>
          </a:solidFill>
          <a:ln w="1016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34"/>
          <p:cNvSpPr/>
          <p:nvPr/>
        </p:nvSpPr>
        <p:spPr>
          <a:xfrm>
            <a:off x="2432160" y="4316040"/>
            <a:ext cx="3839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from statistics import 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mean as avg,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stdev as spread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fc3f7"/>
                </a:solidFill>
                <a:latin typeface="Consolas"/>
                <a:ea typeface="Consolas"/>
              </a:rPr>
              <a:t>print(avg([10,20,30]))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9" name="Text 35"/>
          <p:cNvSpPr/>
          <p:nvPr/>
        </p:nvSpPr>
        <p:spPr>
          <a:xfrm>
            <a:off x="6446520" y="4297680"/>
            <a:ext cx="2331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Rename specific functions.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Maximum flexibility.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6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"/>
          <p:cNvSpPr/>
          <p:nvPr/>
        </p:nvSpPr>
        <p:spPr>
          <a:xfrm>
            <a:off x="365760" y="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  <a:ea typeface="DejaVu Sans"/>
              </a:rPr>
              <a:t>Aliases in Action — Real-World Pattern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320040" y="731520"/>
            <a:ext cx="8503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1b2838"/>
                </a:solidFill>
                <a:latin typeface="Calibri"/>
                <a:ea typeface="DejaVu Sans"/>
              </a:rPr>
              <a:t>Scenario: A data-science helper script that uses alias conventions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274320" y="1143000"/>
            <a:ext cx="5211360" cy="3748320"/>
          </a:xfrm>
          <a:prstGeom prst="rect">
            <a:avLst/>
          </a:prstGeom>
          <a:solidFill>
            <a:srgbClr val="07111a"/>
          </a:solidFill>
          <a:ln w="19050">
            <a:solidFill>
              <a:srgbClr val="4da6d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Text 4"/>
          <p:cNvSpPr/>
          <p:nvPr/>
        </p:nvSpPr>
        <p:spPr>
          <a:xfrm>
            <a:off x="411480" y="1234440"/>
            <a:ext cx="498276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6a9fa8"/>
                </a:solidFill>
                <a:latin typeface="Consolas"/>
                <a:ea typeface="Consolas"/>
              </a:rPr>
              <a:t># data_pipeline.py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json            </a:t>
            </a:r>
            <a:r>
              <a:rPr b="0" i="1" lang="en-US" sz="1200" spc="-1" strike="noStrike">
                <a:solidFill>
                  <a:srgbClr val="6a9fa8"/>
                </a:solidFill>
                <a:latin typeface="Consolas"/>
                <a:ea typeface="Consolas"/>
              </a:rPr>
              <a:t># standard module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csv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os              </a:t>
            </a:r>
            <a:r>
              <a:rPr b="0" i="1" lang="en-US" sz="1200" spc="-1" strike="noStrike">
                <a:solidFill>
                  <a:srgbClr val="6a9fa8"/>
                </a:solidFill>
                <a:latin typeface="Consolas"/>
                <a:ea typeface="Consolas"/>
              </a:rPr>
              <a:t># standard module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6a9fa8"/>
                </a:solidFill>
                <a:latin typeface="Consolas"/>
                <a:ea typeface="Consolas"/>
              </a:rPr>
              <a:t># Aliases shorten long module names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geo_utils </a:t>
            </a: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as </a:t>
            </a: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geo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text_cleaner </a:t>
            </a: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as </a:t>
            </a: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tc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6a9fa8"/>
                </a:solidFill>
                <a:latin typeface="Consolas"/>
                <a:ea typeface="Consolas"/>
              </a:rPr>
              <a:t># Specific-name aliases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from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geo_utils </a:t>
            </a: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km_to_miles </a:t>
            </a: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as </a:t>
            </a: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convert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data_folder = os.path.join(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"data"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, 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"raw"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area = geo.circle_area(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5)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miles = convert(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100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clean_name = tc.strip_spaces(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"  Alice  "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5669280" y="1170360"/>
            <a:ext cx="3245400" cy="822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6ea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6" name="Shape 6"/>
          <p:cNvSpPr/>
          <p:nvPr/>
        </p:nvSpPr>
        <p:spPr>
          <a:xfrm>
            <a:off x="5669280" y="1170360"/>
            <a:ext cx="54000" cy="82224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7"/>
          <p:cNvSpPr/>
          <p:nvPr/>
        </p:nvSpPr>
        <p:spPr>
          <a:xfrm>
            <a:off x="5779080" y="1188720"/>
            <a:ext cx="3016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c6ea4"/>
                </a:solidFill>
                <a:latin typeface="Calibri"/>
                <a:ea typeface="DejaVu Sans"/>
              </a:rPr>
              <a:t>Keep aliases short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5779080" y="1499760"/>
            <a:ext cx="30168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12529"/>
                </a:solidFill>
                <a:latin typeface="Calibri"/>
                <a:ea typeface="DejaVu Sans"/>
              </a:rPr>
              <a:t>geo, tc, np, pd — short but meaningful. Single letters (g, t) are too cryptic.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5669280" y="2103120"/>
            <a:ext cx="3245400" cy="822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08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Shape 10"/>
          <p:cNvSpPr/>
          <p:nvPr/>
        </p:nvSpPr>
        <p:spPr>
          <a:xfrm>
            <a:off x="5669280" y="2103120"/>
            <a:ext cx="54000" cy="8222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11"/>
          <p:cNvSpPr/>
          <p:nvPr/>
        </p:nvSpPr>
        <p:spPr>
          <a:xfrm>
            <a:off x="5779080" y="2121480"/>
            <a:ext cx="3016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6a085"/>
                </a:solidFill>
                <a:latin typeface="Calibri"/>
                <a:ea typeface="DejaVu Sans"/>
              </a:rPr>
              <a:t>Community conventions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5779080" y="2432160"/>
            <a:ext cx="30168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12529"/>
                </a:solidFill>
                <a:latin typeface="Calibri"/>
                <a:ea typeface="DejaVu Sans"/>
              </a:rPr>
              <a:t>The Python community has standard aliases: numpy → np, pandas → pd, matplotlib → plt. Follow them.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3" name="Shape 13"/>
          <p:cNvSpPr/>
          <p:nvPr/>
        </p:nvSpPr>
        <p:spPr>
          <a:xfrm>
            <a:off x="5669280" y="3035880"/>
            <a:ext cx="3245400" cy="822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14"/>
          <p:cNvSpPr/>
          <p:nvPr/>
        </p:nvSpPr>
        <p:spPr>
          <a:xfrm>
            <a:off x="5669280" y="3035880"/>
            <a:ext cx="54000" cy="822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5"/>
          <p:cNvSpPr/>
          <p:nvPr/>
        </p:nvSpPr>
        <p:spPr>
          <a:xfrm>
            <a:off x="5779080" y="3054240"/>
            <a:ext cx="3016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Calibri"/>
                <a:ea typeface="DejaVu Sans"/>
              </a:rPr>
              <a:t>Don't over-alias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6" name="Text 16"/>
          <p:cNvSpPr/>
          <p:nvPr/>
        </p:nvSpPr>
        <p:spPr>
          <a:xfrm>
            <a:off x="5779080" y="3364920"/>
            <a:ext cx="30168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12529"/>
                </a:solidFill>
                <a:latin typeface="Calibri"/>
                <a:ea typeface="DejaVu Sans"/>
              </a:rPr>
              <a:t>If a module name is already short (os, re, csv), an alias adds no value and may confuse readers.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7" name="Shape 17"/>
          <p:cNvSpPr/>
          <p:nvPr/>
        </p:nvSpPr>
        <p:spPr>
          <a:xfrm>
            <a:off x="5669280" y="3968640"/>
            <a:ext cx="3245400" cy="822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Shape 18"/>
          <p:cNvSpPr/>
          <p:nvPr/>
        </p:nvSpPr>
        <p:spPr>
          <a:xfrm>
            <a:off x="5669280" y="3968640"/>
            <a:ext cx="54000" cy="822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9"/>
          <p:cNvSpPr/>
          <p:nvPr/>
        </p:nvSpPr>
        <p:spPr>
          <a:xfrm>
            <a:off x="5779080" y="3986640"/>
            <a:ext cx="3016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8e44ad"/>
                </a:solidFill>
                <a:latin typeface="Calibri"/>
                <a:ea typeface="DejaVu Sans"/>
              </a:rPr>
              <a:t>from X import Y as Z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0" name="Text 20"/>
          <p:cNvSpPr/>
          <p:nvPr/>
        </p:nvSpPr>
        <p:spPr>
          <a:xfrm>
            <a:off x="5779080" y="4297680"/>
            <a:ext cx="30168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12529"/>
                </a:solidFill>
                <a:latin typeface="Calibri"/>
                <a:ea typeface="DejaVu Sans"/>
              </a:rPr>
              <a:t>Lets you rename a specific function — ideal when two modules export the same function name.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"/>
          <p:cNvSpPr/>
          <p:nvPr/>
        </p:nvSpPr>
        <p:spPr>
          <a:xfrm>
            <a:off x="365760" y="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Module Search Sequence — How Python finds your module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274320" y="777240"/>
            <a:ext cx="547920" cy="63936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3"/>
          <p:cNvSpPr/>
          <p:nvPr/>
        </p:nvSpPr>
        <p:spPr>
          <a:xfrm>
            <a:off x="274320" y="77724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859680" y="777240"/>
            <a:ext cx="4296960" cy="639360"/>
          </a:xfrm>
          <a:prstGeom prst="rect">
            <a:avLst/>
          </a:prstGeom>
          <a:solidFill>
            <a:srgbClr val="fdfefe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5"/>
          <p:cNvSpPr/>
          <p:nvPr/>
        </p:nvSpPr>
        <p:spPr>
          <a:xfrm>
            <a:off x="960120" y="8139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c6ea4"/>
                </a:solidFill>
                <a:latin typeface="Calibri"/>
                <a:ea typeface="DejaVu Sans"/>
              </a:rPr>
              <a:t>Built-in Modules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960120" y="112464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alibri"/>
                <a:ea typeface="DejaVu Sans"/>
              </a:rPr>
              <a:t>sys, os, math, json, re …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Shape 7"/>
          <p:cNvSpPr/>
          <p:nvPr/>
        </p:nvSpPr>
        <p:spPr>
          <a:xfrm>
            <a:off x="530280" y="1435680"/>
            <a:ext cx="45000" cy="20052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8"/>
          <p:cNvSpPr/>
          <p:nvPr/>
        </p:nvSpPr>
        <p:spPr>
          <a:xfrm>
            <a:off x="384120" y="1435680"/>
            <a:ext cx="3193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▼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960120" y="1454040"/>
            <a:ext cx="319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c757d"/>
                </a:solidFill>
                <a:latin typeface="Calibri"/>
                <a:ea typeface="DejaVu Sans"/>
              </a:rPr>
              <a:t>Not found? ↓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1" name="Shape 10"/>
          <p:cNvSpPr/>
          <p:nvPr/>
        </p:nvSpPr>
        <p:spPr>
          <a:xfrm>
            <a:off x="274320" y="1627560"/>
            <a:ext cx="547920" cy="6393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11"/>
          <p:cNvSpPr/>
          <p:nvPr/>
        </p:nvSpPr>
        <p:spPr>
          <a:xfrm>
            <a:off x="274320" y="162756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859680" y="1627560"/>
            <a:ext cx="4296960" cy="639360"/>
          </a:xfrm>
          <a:prstGeom prst="rect">
            <a:avLst/>
          </a:prstGeom>
          <a:solidFill>
            <a:srgbClr val="fdfefe"/>
          </a:solidFill>
          <a:ln w="127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3"/>
          <p:cNvSpPr/>
          <p:nvPr/>
        </p:nvSpPr>
        <p:spPr>
          <a:xfrm>
            <a:off x="960120" y="166428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6a085"/>
                </a:solidFill>
                <a:latin typeface="Calibri"/>
                <a:ea typeface="DejaVu Sans"/>
              </a:rPr>
              <a:t>Current Directory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960120" y="197496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alibri"/>
                <a:ea typeface="DejaVu Sans"/>
              </a:rPr>
              <a:t>Same folder as your script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Shape 15"/>
          <p:cNvSpPr/>
          <p:nvPr/>
        </p:nvSpPr>
        <p:spPr>
          <a:xfrm>
            <a:off x="530280" y="2286000"/>
            <a:ext cx="45000" cy="20052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16"/>
          <p:cNvSpPr/>
          <p:nvPr/>
        </p:nvSpPr>
        <p:spPr>
          <a:xfrm>
            <a:off x="384120" y="2286000"/>
            <a:ext cx="3193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▼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8" name="Text 17"/>
          <p:cNvSpPr/>
          <p:nvPr/>
        </p:nvSpPr>
        <p:spPr>
          <a:xfrm>
            <a:off x="960120" y="2304360"/>
            <a:ext cx="319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c757d"/>
                </a:solidFill>
                <a:latin typeface="Calibri"/>
                <a:ea typeface="DejaVu Sans"/>
              </a:rPr>
              <a:t>Not found? ↓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9" name="Shape 18"/>
          <p:cNvSpPr/>
          <p:nvPr/>
        </p:nvSpPr>
        <p:spPr>
          <a:xfrm>
            <a:off x="274320" y="2477880"/>
            <a:ext cx="547920" cy="639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9"/>
          <p:cNvSpPr/>
          <p:nvPr/>
        </p:nvSpPr>
        <p:spPr>
          <a:xfrm>
            <a:off x="274320" y="247788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" name="Shape 20"/>
          <p:cNvSpPr/>
          <p:nvPr/>
        </p:nvSpPr>
        <p:spPr>
          <a:xfrm>
            <a:off x="859680" y="2477880"/>
            <a:ext cx="4296960" cy="639360"/>
          </a:xfrm>
          <a:prstGeom prst="rect">
            <a:avLst/>
          </a:prstGeom>
          <a:solidFill>
            <a:srgbClr val="fdfefe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21"/>
          <p:cNvSpPr/>
          <p:nvPr/>
        </p:nvSpPr>
        <p:spPr>
          <a:xfrm>
            <a:off x="960120" y="251460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e67e22"/>
                </a:solidFill>
                <a:latin typeface="Calibri"/>
                <a:ea typeface="DejaVu Sans"/>
              </a:rPr>
              <a:t>PYTHONPATH Dirs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33" name="Text 22"/>
          <p:cNvSpPr/>
          <p:nvPr/>
        </p:nvSpPr>
        <p:spPr>
          <a:xfrm>
            <a:off x="960120" y="282564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alibri"/>
                <a:ea typeface="DejaVu Sans"/>
              </a:rPr>
              <a:t>Environment variable (user-configured)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4" name="Shape 23"/>
          <p:cNvSpPr/>
          <p:nvPr/>
        </p:nvSpPr>
        <p:spPr>
          <a:xfrm>
            <a:off x="530280" y="3136320"/>
            <a:ext cx="45000" cy="20052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24"/>
          <p:cNvSpPr/>
          <p:nvPr/>
        </p:nvSpPr>
        <p:spPr>
          <a:xfrm>
            <a:off x="384120" y="3136320"/>
            <a:ext cx="3193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▼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960120" y="3154680"/>
            <a:ext cx="319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c757d"/>
                </a:solidFill>
                <a:latin typeface="Calibri"/>
                <a:ea typeface="DejaVu Sans"/>
              </a:rPr>
              <a:t>Not found? ↓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7" name="Shape 26"/>
          <p:cNvSpPr/>
          <p:nvPr/>
        </p:nvSpPr>
        <p:spPr>
          <a:xfrm>
            <a:off x="274320" y="3328560"/>
            <a:ext cx="547920" cy="6393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27"/>
          <p:cNvSpPr/>
          <p:nvPr/>
        </p:nvSpPr>
        <p:spPr>
          <a:xfrm>
            <a:off x="274320" y="332856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" name="Shape 28"/>
          <p:cNvSpPr/>
          <p:nvPr/>
        </p:nvSpPr>
        <p:spPr>
          <a:xfrm>
            <a:off x="859680" y="3328560"/>
            <a:ext cx="4296960" cy="639360"/>
          </a:xfrm>
          <a:prstGeom prst="rect">
            <a:avLst/>
          </a:prstGeom>
          <a:solidFill>
            <a:srgbClr val="fdfefe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29"/>
          <p:cNvSpPr/>
          <p:nvPr/>
        </p:nvSpPr>
        <p:spPr>
          <a:xfrm>
            <a:off x="960120" y="336492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8e44ad"/>
                </a:solidFill>
                <a:latin typeface="Calibri"/>
                <a:ea typeface="DejaVu Sans"/>
              </a:rPr>
              <a:t>Installation Dirs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1" name="Text 30"/>
          <p:cNvSpPr/>
          <p:nvPr/>
        </p:nvSpPr>
        <p:spPr>
          <a:xfrm>
            <a:off x="960120" y="367596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alibri"/>
                <a:ea typeface="DejaVu Sans"/>
              </a:rPr>
              <a:t>Site-packages (pip-installed packages)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2" name="Shape 31"/>
          <p:cNvSpPr/>
          <p:nvPr/>
        </p:nvSpPr>
        <p:spPr>
          <a:xfrm>
            <a:off x="530280" y="3986640"/>
            <a:ext cx="45000" cy="20052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32"/>
          <p:cNvSpPr/>
          <p:nvPr/>
        </p:nvSpPr>
        <p:spPr>
          <a:xfrm>
            <a:off x="384120" y="3986640"/>
            <a:ext cx="3193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c757d"/>
                </a:solidFill>
                <a:latin typeface="Calibri"/>
                <a:ea typeface="DejaVu Sans"/>
              </a:rPr>
              <a:t>▼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Text 33"/>
          <p:cNvSpPr/>
          <p:nvPr/>
        </p:nvSpPr>
        <p:spPr>
          <a:xfrm>
            <a:off x="960120" y="4005000"/>
            <a:ext cx="319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c757d"/>
                </a:solidFill>
                <a:latin typeface="Calibri"/>
                <a:ea typeface="DejaVu Sans"/>
              </a:rPr>
              <a:t>Not found? ↓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45" name="Shape 34"/>
          <p:cNvSpPr/>
          <p:nvPr/>
        </p:nvSpPr>
        <p:spPr>
          <a:xfrm>
            <a:off x="274320" y="4178880"/>
            <a:ext cx="547920" cy="639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35"/>
          <p:cNvSpPr/>
          <p:nvPr/>
        </p:nvSpPr>
        <p:spPr>
          <a:xfrm>
            <a:off x="274320" y="4178880"/>
            <a:ext cx="547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" name="Shape 36"/>
          <p:cNvSpPr/>
          <p:nvPr/>
        </p:nvSpPr>
        <p:spPr>
          <a:xfrm>
            <a:off x="859680" y="4178880"/>
            <a:ext cx="4296960" cy="63936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37"/>
          <p:cNvSpPr/>
          <p:nvPr/>
        </p:nvSpPr>
        <p:spPr>
          <a:xfrm>
            <a:off x="960120" y="42152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e74c3c"/>
                </a:solidFill>
                <a:latin typeface="Calibri"/>
                <a:ea typeface="DejaVu Sans"/>
              </a:rPr>
              <a:t>ModuleNotFoundError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9" name="Text 38"/>
          <p:cNvSpPr/>
          <p:nvPr/>
        </p:nvSpPr>
        <p:spPr>
          <a:xfrm>
            <a:off x="960120" y="452628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alibri"/>
                <a:ea typeface="DejaVu Sans"/>
              </a:rPr>
              <a:t>Python gives up — name is wrong or not installed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0" name="Shape 39"/>
          <p:cNvSpPr/>
          <p:nvPr/>
        </p:nvSpPr>
        <p:spPr>
          <a:xfrm>
            <a:off x="5623560" y="749880"/>
            <a:ext cx="3291120" cy="4223880"/>
          </a:xfrm>
          <a:prstGeom prst="rect">
            <a:avLst/>
          </a:prstGeom>
          <a:solidFill>
            <a:srgbClr val="07111a"/>
          </a:solidFill>
          <a:ln w="19050">
            <a:solidFill>
              <a:srgbClr val="4da6d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1" name="Shape 40"/>
          <p:cNvSpPr/>
          <p:nvPr/>
        </p:nvSpPr>
        <p:spPr>
          <a:xfrm>
            <a:off x="5623560" y="749880"/>
            <a:ext cx="3291120" cy="38340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41"/>
          <p:cNvSpPr/>
          <p:nvPr/>
        </p:nvSpPr>
        <p:spPr>
          <a:xfrm>
            <a:off x="5687640" y="74988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Inspecting sys.path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3" name="Text 42"/>
          <p:cNvSpPr/>
          <p:nvPr/>
        </p:nvSpPr>
        <p:spPr>
          <a:xfrm>
            <a:off x="5715000" y="1188720"/>
            <a:ext cx="30898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150" spc="-1" strike="noStrike">
                <a:solidFill>
                  <a:srgbClr val="7ec8e3"/>
                </a:solidFill>
                <a:latin typeface="Consolas"/>
                <a:ea typeface="Consolas"/>
              </a:rPr>
              <a:t>sys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50" spc="-1" strike="noStrike">
                <a:solidFill>
                  <a:srgbClr val="6a9fa8"/>
                </a:solidFill>
                <a:latin typeface="Consolas"/>
                <a:ea typeface="Consolas"/>
              </a:rPr>
              <a:t># Print search directories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f39c12"/>
                </a:solidFill>
                <a:latin typeface="Consolas"/>
                <a:ea typeface="Consolas"/>
              </a:rPr>
              <a:t>for 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path </a:t>
            </a:r>
            <a:r>
              <a:rPr b="1" lang="en-US" sz="1150" spc="-1" strike="noStrike">
                <a:solidFill>
                  <a:srgbClr val="f39c12"/>
                </a:solidFill>
                <a:latin typeface="Consolas"/>
                <a:ea typeface="Consolas"/>
              </a:rPr>
              <a:t>in 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sys.path: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4fc3f7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fc3f7"/>
                </a:solidFill>
                <a:latin typeface="Consolas"/>
                <a:ea typeface="Consolas"/>
              </a:rPr>
              <a:t>print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(path)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50" spc="-1" strike="noStrike">
                <a:solidFill>
                  <a:srgbClr val="6a9fa8"/>
                </a:solidFill>
                <a:latin typeface="Consolas"/>
                <a:ea typeface="Consolas"/>
              </a:rPr>
              <a:t># Typical output: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# ''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# '/usr/lib/python3.11'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# '/usr/local/lib/python3.11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#    /dist-packages'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50" spc="-1" strike="noStrike">
                <a:solidFill>
                  <a:srgbClr val="6a9fa8"/>
                </a:solidFill>
                <a:latin typeface="Consolas"/>
                <a:ea typeface="Consolas"/>
              </a:rPr>
              <a:t># Add a custom path: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sys.path.append(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"/home/user/my_libs"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50" spc="-1" strike="noStrike">
                <a:solidFill>
                  <a:srgbClr val="6a9fa8"/>
                </a:solidFill>
                <a:latin typeface="Consolas"/>
                <a:ea typeface="Consolas"/>
              </a:rPr>
              <a:t># Now Python searches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ea"/>
                </a:solidFill>
                <a:latin typeface="Consolas"/>
                <a:ea typeface="Consolas"/>
              </a:rPr>
              <a:t># your_libs folder too!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6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"/>
          <p:cNvSpPr/>
          <p:nvPr/>
        </p:nvSpPr>
        <p:spPr>
          <a:xfrm>
            <a:off x="365760" y="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libri"/>
                <a:ea typeface="DejaVu Sans"/>
              </a:rPr>
              <a:t>Same Code, Different Interpretation — __name__ in depth</a:t>
            </a:r>
            <a:endParaRPr b="0" lang="en-IN" sz="2300" spc="-1" strike="noStrike">
              <a:latin typeface="Arial"/>
            </a:endParaRPr>
          </a:p>
        </p:txBody>
      </p:sp>
      <p:sp>
        <p:nvSpPr>
          <p:cNvPr id="156" name="Shape 2"/>
          <p:cNvSpPr/>
          <p:nvPr/>
        </p:nvSpPr>
        <p:spPr>
          <a:xfrm>
            <a:off x="274320" y="749880"/>
            <a:ext cx="8594640" cy="2513880"/>
          </a:xfrm>
          <a:prstGeom prst="rect">
            <a:avLst/>
          </a:prstGeom>
          <a:solidFill>
            <a:srgbClr val="07111a"/>
          </a:solidFill>
          <a:ln w="19050">
            <a:solidFill>
              <a:srgbClr val="4da6d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Shape 3"/>
          <p:cNvSpPr/>
          <p:nvPr/>
        </p:nvSpPr>
        <p:spPr>
          <a:xfrm>
            <a:off x="274320" y="749880"/>
            <a:ext cx="8594640" cy="38340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4"/>
          <p:cNvSpPr/>
          <p:nvPr/>
        </p:nvSpPr>
        <p:spPr>
          <a:xfrm>
            <a:off x="384120" y="749880"/>
            <a:ext cx="8320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📄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currency_tools.py  — one file, two roles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411480" y="1188720"/>
            <a:ext cx="83203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USD_TO_INR = 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83.5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def </a:t>
            </a: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convert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(usd):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return usd * USD_TO_INR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def </a:t>
            </a: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_run_demo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print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"Demo: $100 →"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, convert(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100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))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if 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__name__ == 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"__main__"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	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_run_demo()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8d8ea"/>
                </a:solidFill>
                <a:latin typeface="Consolas"/>
                <a:ea typeface="Consolas"/>
              </a:rPr>
              <a:t># runs ONLY when file is executed directly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274320" y="3401640"/>
            <a:ext cx="4205520" cy="1508040"/>
          </a:xfrm>
          <a:prstGeom prst="rect">
            <a:avLst/>
          </a:prstGeom>
          <a:solidFill>
            <a:srgbClr val="ebf9ee"/>
          </a:solidFill>
          <a:ln w="19050">
            <a:solidFill>
              <a:srgbClr val="27ae6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Shape 7"/>
          <p:cNvSpPr/>
          <p:nvPr/>
        </p:nvSpPr>
        <p:spPr>
          <a:xfrm>
            <a:off x="274320" y="3401640"/>
            <a:ext cx="4205520" cy="383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8"/>
          <p:cNvSpPr/>
          <p:nvPr/>
        </p:nvSpPr>
        <p:spPr>
          <a:xfrm>
            <a:off x="365760" y="3401640"/>
            <a:ext cx="4022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Run directly:  python currency_tools.py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384120" y="3822120"/>
            <a:ext cx="398592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onsolas"/>
                <a:ea typeface="Consolas"/>
              </a:rPr>
              <a:t>Output: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onsolas"/>
                <a:ea typeface="Consolas"/>
              </a:rPr>
              <a:t>Demo: $100 → 8350.0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onsolas"/>
                <a:ea typeface="Consolas"/>
              </a:rPr>
              <a:t>__name__ = '__main__'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onsolas"/>
                <a:ea typeface="Consolas"/>
              </a:rPr>
              <a:t>So _run_demo() IS called ✓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4709160" y="3401640"/>
            <a:ext cx="4205520" cy="1508040"/>
          </a:xfrm>
          <a:prstGeom prst="rect">
            <a:avLst/>
          </a:prstGeom>
          <a:solidFill>
            <a:srgbClr val="ebf5fb"/>
          </a:solidFill>
          <a:ln w="19050">
            <a:solidFill>
              <a:srgbClr val="1c6ea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Shape 11"/>
          <p:cNvSpPr/>
          <p:nvPr/>
        </p:nvSpPr>
        <p:spPr>
          <a:xfrm>
            <a:off x="4709160" y="3401640"/>
            <a:ext cx="4205520" cy="38340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12"/>
          <p:cNvSpPr/>
          <p:nvPr/>
        </p:nvSpPr>
        <p:spPr>
          <a:xfrm>
            <a:off x="4800600" y="3401640"/>
            <a:ext cx="4022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Imported:  import currency_tools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4818960" y="3822120"/>
            <a:ext cx="398592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onsolas"/>
                <a:ea typeface="Consolas"/>
              </a:rPr>
              <a:t>No output on import.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onsolas"/>
                <a:ea typeface="Consolas"/>
              </a:rPr>
              <a:t>__name__ = 'currency_tools'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onsolas"/>
                <a:ea typeface="Consolas"/>
              </a:rPr>
              <a:t>So _run_demo() is NOT called ✗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onsolas"/>
                <a:ea typeface="Consolas"/>
              </a:rPr>
              <a:t>currency_tools.convert(50) works fine.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1"/>
          <p:cNvSpPr/>
          <p:nvPr/>
        </p:nvSpPr>
        <p:spPr>
          <a:xfrm>
            <a:off x="365760" y="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Importing Multiple Modules — Pattern &amp; Example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274320" y="749880"/>
            <a:ext cx="5211360" cy="4205520"/>
          </a:xfrm>
          <a:prstGeom prst="rect">
            <a:avLst/>
          </a:prstGeom>
          <a:solidFill>
            <a:srgbClr val="07111a"/>
          </a:solidFill>
          <a:ln w="19050">
            <a:solidFill>
              <a:srgbClr val="4da6d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1" name="Shape 3"/>
          <p:cNvSpPr/>
          <p:nvPr/>
        </p:nvSpPr>
        <p:spPr>
          <a:xfrm>
            <a:off x="274320" y="749880"/>
            <a:ext cx="5211360" cy="38340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4"/>
          <p:cNvSpPr/>
          <p:nvPr/>
        </p:nvSpPr>
        <p:spPr>
          <a:xfrm>
            <a:off x="384120" y="749880"/>
            <a:ext cx="4982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📄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climate_report.py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3" name="Text 5"/>
          <p:cNvSpPr/>
          <p:nvPr/>
        </p:nvSpPr>
        <p:spPr>
          <a:xfrm>
            <a:off x="411480" y="1188720"/>
            <a:ext cx="498276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6a9fa8"/>
                </a:solidFill>
                <a:latin typeface="Consolas"/>
                <a:ea typeface="Consolas"/>
              </a:rPr>
              <a:t># Standard library modules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math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statistics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random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6a9fa8"/>
                </a:solidFill>
                <a:latin typeface="Consolas"/>
                <a:ea typeface="Consolas"/>
              </a:rPr>
              <a:t># User-defined module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weather_utils </a:t>
            </a:r>
            <a:r>
              <a:rPr b="1" lang="en-US" sz="1200" spc="-1" strike="noStrike">
                <a:solidFill>
                  <a:srgbClr val="f39c12"/>
                </a:solidFill>
                <a:latin typeface="Consolas"/>
                <a:ea typeface="Consolas"/>
              </a:rPr>
              <a:t>as </a:t>
            </a: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wu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readings = [random.uniform(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15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, 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38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             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for _ in range(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7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)]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avg   = statistics.mean(readings)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spread = statistics.stdev(readings)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peak  = math(readings)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print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(f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"Avg  : {avg:.1f} °C"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print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(f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"Spread: {spread:.2f}"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fc3f7"/>
                </a:solidFill>
                <a:latin typeface="Consolas"/>
                <a:ea typeface="Consolas"/>
              </a:rPr>
              <a:t>print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(f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"Peak : {wu.fahrenheit(peak):.1f} °F"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5669280" y="804600"/>
            <a:ext cx="3245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b2838"/>
                </a:solidFill>
                <a:latin typeface="Calibri"/>
                <a:ea typeface="DejaVu Sans"/>
              </a:rPr>
              <a:t>Module types used: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5669280" y="1234440"/>
            <a:ext cx="3245400" cy="1755000"/>
          </a:xfrm>
          <a:prstGeom prst="rect">
            <a:avLst/>
          </a:prstGeom>
          <a:solidFill>
            <a:srgbClr val="d6eaf8"/>
          </a:solidFill>
          <a:ln w="19050">
            <a:solidFill>
              <a:srgbClr val="1c6ea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Shape 8"/>
          <p:cNvSpPr/>
          <p:nvPr/>
        </p:nvSpPr>
        <p:spPr>
          <a:xfrm>
            <a:off x="5669280" y="1234440"/>
            <a:ext cx="3245400" cy="38340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9"/>
          <p:cNvSpPr/>
          <p:nvPr/>
        </p:nvSpPr>
        <p:spPr>
          <a:xfrm>
            <a:off x="5742360" y="1234440"/>
            <a:ext cx="3089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Standard Library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8" name="Shape 10"/>
          <p:cNvSpPr/>
          <p:nvPr/>
        </p:nvSpPr>
        <p:spPr>
          <a:xfrm>
            <a:off x="5779080" y="1710000"/>
            <a:ext cx="1325160" cy="273600"/>
          </a:xfrm>
          <a:prstGeom prst="rect">
            <a:avLst/>
          </a:prstGeom>
          <a:solidFill>
            <a:srgbClr val="1c6ea4">
              <a:alpha val="75000"/>
            </a:srgbClr>
          </a:solidFill>
          <a:ln w="1016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1"/>
          <p:cNvSpPr/>
          <p:nvPr/>
        </p:nvSpPr>
        <p:spPr>
          <a:xfrm>
            <a:off x="5779080" y="1710000"/>
            <a:ext cx="1325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math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0" name="Shape 12"/>
          <p:cNvSpPr/>
          <p:nvPr/>
        </p:nvSpPr>
        <p:spPr>
          <a:xfrm>
            <a:off x="5779080" y="2048400"/>
            <a:ext cx="1325160" cy="273600"/>
          </a:xfrm>
          <a:prstGeom prst="rect">
            <a:avLst/>
          </a:prstGeom>
          <a:solidFill>
            <a:srgbClr val="1c6ea4">
              <a:alpha val="75000"/>
            </a:srgbClr>
          </a:solidFill>
          <a:ln w="1016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13"/>
          <p:cNvSpPr/>
          <p:nvPr/>
        </p:nvSpPr>
        <p:spPr>
          <a:xfrm>
            <a:off x="5779080" y="2048400"/>
            <a:ext cx="1325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statistics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2" name="Shape 14"/>
          <p:cNvSpPr/>
          <p:nvPr/>
        </p:nvSpPr>
        <p:spPr>
          <a:xfrm>
            <a:off x="5779080" y="2386440"/>
            <a:ext cx="1325160" cy="273600"/>
          </a:xfrm>
          <a:prstGeom prst="rect">
            <a:avLst/>
          </a:prstGeom>
          <a:solidFill>
            <a:srgbClr val="1c6ea4">
              <a:alpha val="75000"/>
            </a:srgbClr>
          </a:solidFill>
          <a:ln w="1016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5"/>
          <p:cNvSpPr/>
          <p:nvPr/>
        </p:nvSpPr>
        <p:spPr>
          <a:xfrm>
            <a:off x="5779080" y="2386440"/>
            <a:ext cx="1325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random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7178040" y="169164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12529"/>
                </a:solidFill>
                <a:latin typeface="Calibri"/>
                <a:ea typeface="DejaVu Sans"/>
              </a:rPr>
              <a:t>Bundled with Python — no install needed.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5669280" y="3200400"/>
            <a:ext cx="3245400" cy="1755000"/>
          </a:xfrm>
          <a:prstGeom prst="rect">
            <a:avLst/>
          </a:prstGeom>
          <a:solidFill>
            <a:srgbClr val="d6eaf8"/>
          </a:solidFill>
          <a:ln w="19050">
            <a:solidFill>
              <a:srgbClr val="16a08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Shape 18"/>
          <p:cNvSpPr/>
          <p:nvPr/>
        </p:nvSpPr>
        <p:spPr>
          <a:xfrm>
            <a:off x="5669280" y="3200400"/>
            <a:ext cx="3245400" cy="3834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9"/>
          <p:cNvSpPr/>
          <p:nvPr/>
        </p:nvSpPr>
        <p:spPr>
          <a:xfrm>
            <a:off x="5742360" y="3200400"/>
            <a:ext cx="3089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User-Defined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Shape 20"/>
          <p:cNvSpPr/>
          <p:nvPr/>
        </p:nvSpPr>
        <p:spPr>
          <a:xfrm>
            <a:off x="5779080" y="3675960"/>
            <a:ext cx="1600560" cy="283680"/>
          </a:xfrm>
          <a:prstGeom prst="rect">
            <a:avLst/>
          </a:prstGeom>
          <a:solidFill>
            <a:srgbClr val="16a085">
              <a:alpha val="75000"/>
            </a:srgbClr>
          </a:solidFill>
          <a:ln w="1016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21"/>
          <p:cNvSpPr/>
          <p:nvPr/>
        </p:nvSpPr>
        <p:spPr>
          <a:xfrm>
            <a:off x="5779080" y="3675960"/>
            <a:ext cx="1325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weather_utis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7178040" y="36576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12529"/>
                </a:solidFill>
                <a:latin typeface="Calibri"/>
                <a:ea typeface="DejaVu Sans"/>
              </a:rPr>
              <a:t>Your own .py files in the project folder.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1" name="Shape 23"/>
          <p:cNvSpPr/>
          <p:nvPr/>
        </p:nvSpPr>
        <p:spPr>
          <a:xfrm>
            <a:off x="5669280" y="4491720"/>
            <a:ext cx="3245400" cy="547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24"/>
          <p:cNvSpPr/>
          <p:nvPr/>
        </p:nvSpPr>
        <p:spPr>
          <a:xfrm>
            <a:off x="5760720" y="4407480"/>
            <a:ext cx="3089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💡  </a:t>
            </a:r>
            <a:r>
              <a:rPr b="0" lang="en-US" sz="1100" spc="-1" strike="noStrike">
                <a:solidFill>
                  <a:srgbClr val="212529"/>
                </a:solidFill>
                <a:latin typeface="Calibri"/>
                <a:ea typeface="DejaVu Sans"/>
              </a:rPr>
              <a:t>__name__ in climate_report.py = '__main__' when run directly.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2026-02-19T12:42:33Z</dcterms:created>
  <dc:creator>PptxGenJS</dc:creator>
  <dc:description/>
  <dc:language>en-IN</dc:language>
  <cp:lastModifiedBy/>
  <dcterms:modified xsi:type="dcterms:W3CDTF">2026-02-19T22:34:51Z</dcterms:modified>
  <cp:revision>5</cp:revision>
  <dc:subject>PptxGenJS Presentation</dc:subject>
  <dc:title>Python Modules &amp; Packages - Part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