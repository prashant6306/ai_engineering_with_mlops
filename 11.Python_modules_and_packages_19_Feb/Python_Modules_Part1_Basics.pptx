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274320"/>
            <a:ext cx="3200400" cy="3200400"/>
          </a:xfrm>
          <a:prstGeom prst="rect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731520"/>
            <a:ext cx="2286000" cy="2286000"/>
          </a:xfrm>
          <a:prstGeom prst="rect">
            <a:avLst/>
          </a:prstGeom>
          <a:solidFill>
            <a:srgbClr val="40916C">
              <a:alpha val="35000"/>
            </a:srgbClr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1371600" cy="13716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16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2103120" y="777240"/>
            <a:ext cx="6217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2103120" y="283464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4C69D"/>
                </a:solidFill>
              </a:rPr>
              <a:t>Organise your Python code for reusability, clarity and scale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1480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D8F3DC"/>
                </a:solidFill>
              </a:rPr>
              <a:t>"Organise, and you will be better off..."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is a Module?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023360" cy="4114800"/>
          </a:xfrm>
          <a:prstGeom prst="rect">
            <a:avLst/>
          </a:prstGeom>
          <a:solidFill>
            <a:srgbClr val="D8F3DC"/>
          </a:solidFill>
          <a:ln w="190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412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529"/>
                </a:solidFill>
              </a:rPr>
              <a:t>A module is simply a .py file that contains Python definitions — functions, variables, and classes — which can be reused in other programs.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12529"/>
                </a:solidFill>
              </a:rPr>
              <a:t>Think of it as a toolbox: you build the tools once, then pick the ones you need for each job.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11480" y="3127248"/>
            <a:ext cx="3703320" cy="685800"/>
          </a:xfrm>
          <a:prstGeom prst="rect">
            <a:avLst/>
          </a:prstGeom>
          <a:solidFill>
            <a:srgbClr val="40916C">
              <a:alpha val="85000"/>
            </a:srgbClr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31638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♻  Reusability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34655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Write once, use anywhere. No copy-paste duplication.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3931920"/>
            <a:ext cx="3703320" cy="685800"/>
          </a:xfrm>
          <a:prstGeom prst="rect">
            <a:avLst/>
          </a:prstGeom>
          <a:solidFill>
            <a:srgbClr val="2D6A4F">
              <a:alpha val="85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9684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🏗  Organisation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42702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Split large programs into focused, manageable files.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749808"/>
            <a:ext cx="4114800" cy="4114800"/>
          </a:xfrm>
          <a:prstGeom prst="rect">
            <a:avLst/>
          </a:prstGeom>
          <a:solidFill>
            <a:srgbClr val="FEFAE0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73168" y="8412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</a:rPr>
              <a:t>Anatomy of a Module  (weather_utils.py)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00600" y="1261872"/>
            <a:ext cx="3840480" cy="777240"/>
          </a:xfrm>
          <a:prstGeom prst="rect">
            <a:avLst/>
          </a:prstGeom>
          <a:solidFill>
            <a:srgbClr val="D8F3DC"/>
          </a:solidFill>
          <a:ln w="6350">
            <a:solidFill>
              <a:srgbClr val="4091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2984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Module docstring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151790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"Tools for weather data processing"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130552"/>
            <a:ext cx="3840480" cy="777240"/>
          </a:xfrm>
          <a:prstGeom prst="rect">
            <a:avLst/>
          </a:prstGeom>
          <a:solidFill>
            <a:srgbClr val="B7E4C7"/>
          </a:solidFill>
          <a:ln w="6350">
            <a:solidFill>
              <a:srgbClr val="4091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1671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Constants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2386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MAX_TEMP = 60   MIN_TEMP = -40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999232"/>
            <a:ext cx="3840480" cy="777240"/>
          </a:xfrm>
          <a:prstGeom prst="rect">
            <a:avLst/>
          </a:prstGeom>
          <a:solidFill>
            <a:srgbClr val="74C69D"/>
          </a:solidFill>
          <a:ln w="6350">
            <a:solidFill>
              <a:srgbClr val="4091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0358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Function: celsius_to_fahrenheit()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32552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celsius_to_fahrenheit(c):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F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 * 9/5 + 32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867912"/>
            <a:ext cx="3840480" cy="777240"/>
          </a:xfrm>
          <a:prstGeom prst="rect">
            <a:avLst/>
          </a:prstGeom>
          <a:solidFill>
            <a:srgbClr val="52B788"/>
          </a:solidFill>
          <a:ln w="6350">
            <a:solidFill>
              <a:srgbClr val="4091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9044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Function: describe_weather()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92040" y="41239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describe_weather(temp):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temp &gt; 30: return 'Hot'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Main Module &amp; __name__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529"/>
                </a:solidFill>
              </a:rPr>
              <a:t>Every Python file that is run directly becomes the MAIN module. Python sets its __name__ variable to '__main__'.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12529"/>
                </a:solidFill>
              </a:rPr>
              <a:t>When the same file is imported by another script, __name__ is set to the file's own name (without .py).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4023360" cy="3200400"/>
          </a:xfrm>
          <a:prstGeom prst="rect">
            <a:avLst/>
          </a:prstGeom>
          <a:solidFill>
            <a:srgbClr val="D8F3DC"/>
          </a:solidFill>
          <a:ln w="1905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91640"/>
            <a:ext cx="4023360" cy="43891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9164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▶  Run directly:  python reporter.py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2240280"/>
            <a:ext cx="3749040" cy="2194560"/>
          </a:xfrm>
          <a:prstGeom prst="rect">
            <a:avLst/>
          </a:prstGeom>
          <a:solidFill>
            <a:srgbClr val="0D1F15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04288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reporter.py
</a:t>
            </a:r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generate_report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"Report generated"
</a:t>
            </a:r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(__name__)  </a:t>
            </a:r>
            <a:pPr indent="0" marL="0">
              <a:buNone/>
            </a:pPr>
            <a:r>
              <a:rPr lang="en-US" sz="120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__main__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generate_report()    </a:t>
            </a:r>
            <a:pPr indent="0" marL="0">
              <a:buNone/>
            </a:pPr>
            <a:r>
              <a:rPr lang="en-US" sz="120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runs!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691640"/>
            <a:ext cx="4023360" cy="3200400"/>
          </a:xfrm>
          <a:prstGeom prst="rect">
            <a:avLst/>
          </a:prstGeom>
          <a:solidFill>
            <a:srgbClr val="D8F3DC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691640"/>
            <a:ext cx="4023360" cy="4389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9164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529"/>
                </a:solidFill>
              </a:rPr>
              <a:t>📦  Imported by another file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983480" y="2240280"/>
            <a:ext cx="3749040" cy="2194560"/>
          </a:xfrm>
          <a:prstGeom prst="rect">
            <a:avLst/>
          </a:prstGeom>
          <a:solidFill>
            <a:srgbClr val="0D1F15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2304288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dashboard.py
</a:t>
            </a:r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reporter
</a:t>
            </a:r>
            <a:pPr indent="0" marL="0">
              <a:buNone/>
            </a:pPr>
            <a:r>
              <a:rPr lang="en-US" sz="1200" i="1" dirty="0">
                <a:solidFill>
                  <a:srgbClr val="6A9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__name__ inside reporter.py
</a:t>
            </a:r>
            <a:pPr indent="0" marL="0">
              <a:buNone/>
            </a:pPr>
            <a:r>
              <a:rPr lang="en-US" sz="120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is now  'reporter'  NOT __main__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reporter.generate_report()
</a:t>
            </a:r>
            <a:pPr indent="0" marL="0">
              <a:buNone/>
            </a:pPr>
            <a:r>
              <a:rPr lang="en-US" sz="120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only explicit calls 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43400" y="30175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6A4F"/>
                </a:solidFill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The __name__ Guard — Dual-Purpose Files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749808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</a:rPr>
              <a:t>Problem: 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417320" y="80467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Some code in a file should only run when the file is executed directly — NOT when it is imported. Without the guard, helper code runs unintentionally.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5120640" cy="3337560"/>
          </a:xfrm>
          <a:prstGeom prst="rect">
            <a:avLst/>
          </a:prstGeom>
          <a:solidFill>
            <a:srgbClr val="0D1F15"/>
          </a:solidFill>
          <a:ln w="19050">
            <a:solidFill>
              <a:srgbClr val="74C6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719072"/>
            <a:ext cx="489204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inventory_tools.py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 = </a:t>
            </a:r>
            <a:pPr indent="0" marL="0">
              <a:buNone/>
            </a:pPr>
            <a:r>
              <a:rPr lang="en-US" sz="12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"Chennai Depot"
</a:t>
            </a:r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check_stock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(item):
</a:t>
            </a:r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(f"Stock for {item}: OK")
</a:t>
            </a:r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run_audit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
</a:t>
            </a:r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("Running full audit...")
</a:t>
            </a:r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check_stock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("Laptops")
</a:t>
            </a:r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check_stock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("Monitors")
</a:t>
            </a:r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__name__ == </a:t>
            </a:r>
            <a:pPr indent="0" marL="0">
              <a:buNone/>
            </a:pPr>
            <a:r>
              <a:rPr lang="en-US" sz="12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"__main__"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run_audit()    </a:t>
            </a:r>
            <a:pPr indent="0" marL="0">
              <a:buNone/>
            </a:pPr>
            <a:r>
              <a:rPr lang="en-US" sz="120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only runs directly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23560" y="1691640"/>
            <a:ext cx="3246120" cy="56692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50992" y="1691640"/>
            <a:ext cx="31912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Python loads  inventory_tools.py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23560" y="2423160"/>
            <a:ext cx="3246120" cy="5669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50992" y="2423160"/>
            <a:ext cx="31912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529"/>
                </a:solidFill>
              </a:rPr>
              <a:t>Is __name__ == '__main__' 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205472" y="2304288"/>
            <a:ext cx="54864" cy="146304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31089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YES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23560" y="3127248"/>
            <a:ext cx="1463040" cy="566928"/>
          </a:xfrm>
          <a:prstGeom prst="rect">
            <a:avLst/>
          </a:prstGeom>
          <a:solidFill>
            <a:srgbClr val="1B4332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312724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4C69D"/>
                </a:solidFill>
              </a:rPr>
              <a:t>run_audit()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4C69D"/>
                </a:solidFill>
              </a:rPr>
              <a:t>executes 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35240" y="31089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NO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60920" y="3127248"/>
            <a:ext cx="1508760" cy="566928"/>
          </a:xfrm>
          <a:prstGeom prst="rect">
            <a:avLst/>
          </a:prstGeom>
          <a:solidFill>
            <a:srgbClr val="E63946">
              <a:alpha val="8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3127248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run_audit()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skipped ✗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23560" y="3858768"/>
            <a:ext cx="3246120" cy="1051560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42432" y="3913632"/>
            <a:ext cx="2999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When is this useful?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42432" y="4206240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</a:rPr>
              <a:t>→ A file that is both a standalone script AND a reusable library.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</a:rPr>
              <a:t>→ Run tests/demos when executed directly.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Multiple Modules — Why Split Code?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0624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4206240" cy="5486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749808"/>
            <a:ext cx="3986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Reason 1:  Splitting a Large Program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0916C"/>
                </a:solidFill>
              </a:rPr>
              <a:t>★ Ease of Development &amp; Maintenance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1700784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A 2 000-line billing system is hard to navigate. Split it into billing_calc.py, tax_rules.py, and invoice_printer.py — each team member owns one file.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749808"/>
            <a:ext cx="420624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749808"/>
            <a:ext cx="4206240" cy="5486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749808"/>
            <a:ext cx="3986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Reason 2:  Shared Utility Libraries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18888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6A4F"/>
                </a:solidFill>
              </a:rPr>
              <a:t>★ Reuse Across Many Projects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18888" y="1700784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A set of data-validation helpers used in 10 different apps? Store them in validators.py once and import wherever needed — no copy-paste.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32461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</a:rPr>
              <a:t>Visual Architecture  —  Billing System split into modules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520440" y="3675888"/>
            <a:ext cx="2103120" cy="640080"/>
          </a:xfrm>
          <a:prstGeom prst="rect">
            <a:avLst/>
          </a:prstGeom>
          <a:solidFill>
            <a:srgbClr val="1B4332"/>
          </a:solidFill>
          <a:ln w="19050">
            <a:solidFill>
              <a:srgbClr val="74C6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20440" y="367588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main_app.py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4572000"/>
            <a:ext cx="2103120" cy="530352"/>
          </a:xfrm>
          <a:prstGeom prst="rect">
            <a:avLst/>
          </a:prstGeom>
          <a:solidFill>
            <a:srgbClr val="40916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57200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billing_calc.py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303020" y="4315968"/>
            <a:ext cx="45720" cy="274320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0440" y="4572000"/>
            <a:ext cx="2103120" cy="530352"/>
          </a:xfrm>
          <a:prstGeom prst="rect">
            <a:avLst/>
          </a:prstGeom>
          <a:solidFill>
            <a:srgbClr val="40916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457200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tax_rules.py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49140" y="4315968"/>
            <a:ext cx="45720" cy="274320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4572000"/>
            <a:ext cx="2103120" cy="530352"/>
          </a:xfrm>
          <a:prstGeom prst="rect">
            <a:avLst/>
          </a:prstGeom>
          <a:solidFill>
            <a:srgbClr val="40916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457200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invoice_printer.py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95260" y="4315968"/>
            <a:ext cx="45720" cy="274320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Importing a Module — Complete Example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60520" cy="4206240"/>
          </a:xfrm>
          <a:prstGeom prst="rect">
            <a:avLst/>
          </a:prstGeom>
          <a:solidFill>
            <a:srgbClr val="0D1F15"/>
          </a:solidFill>
          <a:ln w="19050">
            <a:solidFill>
              <a:srgbClr val="74C6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4160520" cy="4114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7498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📄  geo_utils.py  (module)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393192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EARTH_RADIUS_KM = </a:t>
            </a:r>
            <a:pPr indent="0" marL="0">
              <a:buNone/>
            </a:pPr>
            <a:r>
              <a:rPr lang="en-US" sz="12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6371
</a:t>
            </a:r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circle_area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(radius):
</a:t>
            </a:r>
            <a:pPr indent="0" marL="0">
              <a:buNone/>
            </a:pPr>
            <a:r>
              <a:rPr lang="en-US" sz="1200" i="1" dirty="0">
                <a:solidFill>
                  <a:srgbClr val="6A9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"""Area of a circle."""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math.pi * radius ** </a:t>
            </a:r>
            <a:pPr indent="0" marL="0">
              <a:buNone/>
            </a:pPr>
            <a:r>
              <a:rPr lang="en-US" sz="12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
</a:t>
            </a:r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km_to_miles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(km):
</a:t>
            </a:r>
            <a:pPr indent="0" marL="0">
              <a:buNone/>
            </a:pPr>
            <a:r>
              <a:rPr lang="en-US" sz="1200" i="1" dirty="0">
                <a:solidFill>
                  <a:srgbClr val="6A9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"""Convert km to miles."""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 * </a:t>
            </a:r>
            <a:pPr indent="0" marL="0">
              <a:buNone/>
            </a:pPr>
            <a:r>
              <a:rPr lang="en-US" sz="12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0.621371
</a:t>
            </a:r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sphere_volume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(r):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</a:t>
            </a:r>
            <a:pPr indent="0" marL="0">
              <a:buNone/>
            </a:pPr>
            <a:r>
              <a:rPr lang="en-US" sz="12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indent="0" marL="0">
              <a:buNone/>
            </a:pPr>
            <a:r>
              <a:rPr lang="en-US" sz="12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math.pi * r ** </a:t>
            </a:r>
            <a:pPr indent="0" marL="0">
              <a:buNone/>
            </a:pPr>
            <a:r>
              <a:rPr lang="en-US" sz="12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749808"/>
            <a:ext cx="4160520" cy="4206240"/>
          </a:xfrm>
          <a:prstGeom prst="rect">
            <a:avLst/>
          </a:prstGeom>
          <a:solidFill>
            <a:srgbClr val="0D1F15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749808"/>
            <a:ext cx="416052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7498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529"/>
                </a:solidFill>
              </a:rPr>
              <a:t>📄  explorer.py  (main program)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28032" y="1234440"/>
            <a:ext cx="393192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geo_utils
</a:t>
            </a:r>
            <a:pPr indent="0" marL="0">
              <a:buNone/>
            </a:pPr>
            <a:r>
              <a:rPr lang="en-US" sz="1200" i="1" dirty="0">
                <a:solidFill>
                  <a:srgbClr val="6A9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module name as prefix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</a:t>
            </a:r>
            <a:pPr indent="0" marL="0">
              <a:buNone/>
            </a:pPr>
            <a:r>
              <a:rPr lang="en-US" sz="12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7.5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 = geo_utils.circle_area(r)
</a:t>
            </a:r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pPr indent="0" marL="0">
              <a:buNone/>
            </a:pPr>
            <a:r>
              <a:rPr lang="en-US" sz="12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"Area = {area:.2f}"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 = geo_utils.km_to_miles(</a:t>
            </a:r>
            <a:pPr indent="0" marL="0">
              <a:buNone/>
            </a:pPr>
            <a:r>
              <a:rPr lang="en-US" sz="12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pPr indent="0" marL="0">
              <a:buNone/>
            </a:pPr>
            <a:r>
              <a:rPr lang="en-US" sz="12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"100 km = {dist:.1f} miles"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= geo_utils.sphere_volume(</a:t>
            </a:r>
            <a:pPr indent="0" marL="0">
              <a:buNone/>
            </a:pPr>
            <a:r>
              <a:rPr lang="en-US" sz="12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pPr indent="0" marL="0">
              <a:buNone/>
            </a:pPr>
            <a:r>
              <a:rPr lang="en-US" sz="12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"Vol = {vol:.2f} cu-units"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Modules &amp; Packages - Part 1</dc:title>
  <dc:subject>PptxGenJS Presentation</dc:subject>
  <dc:creator>PptxGenJS</dc:creator>
  <cp:lastModifiedBy>PptxGenJS</cp:lastModifiedBy>
  <cp:revision>1</cp:revision>
  <dcterms:created xsi:type="dcterms:W3CDTF">2026-02-19T12:40:40Z</dcterms:created>
  <dcterms:modified xsi:type="dcterms:W3CDTF">2026-02-19T12:40:40Z</dcterms:modified>
</cp:coreProperties>
</file>