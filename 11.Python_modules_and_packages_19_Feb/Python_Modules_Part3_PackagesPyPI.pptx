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FAC0EDB-C328-4C38-B7DF-589F010A2FE8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AE439D-D026-4729-9F28-4597CA101AA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8D29C49-6115-4190-A024-A34CEA65BF3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97B0AB6-651A-4BF2-A16D-E744A551DC3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C4DA007-4834-477D-B02D-34973A51D1D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D38398B-E8E2-4B72-B101-21B5836E7D2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D957DB6-A9F5-4F66-A3E8-F32F4D89A35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07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6217920" y="182880"/>
            <a:ext cx="3474360" cy="3474360"/>
          </a:xfrm>
          <a:prstGeom prst="rect">
            <a:avLst/>
          </a:prstGeom>
          <a:solidFill>
            <a:srgbClr val="6b2d8b">
              <a:alpha val="20000"/>
            </a:srgbClr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6766560" y="731520"/>
            <a:ext cx="2285640" cy="2285640"/>
          </a:xfrm>
          <a:prstGeom prst="rect">
            <a:avLst/>
          </a:prstGeom>
          <a:solidFill>
            <a:srgbClr val="9b59b6">
              <a:alpha val="28000"/>
            </a:srgbClr>
          </a:solidFill>
          <a:ln w="12700">
            <a:solidFill>
              <a:srgbClr val="d7bd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hape 3"/>
          <p:cNvSpPr/>
          <p:nvPr/>
        </p:nvSpPr>
        <p:spPr>
          <a:xfrm>
            <a:off x="457200" y="1005840"/>
            <a:ext cx="1371240" cy="137124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8" name="Text 4"/>
          <p:cNvSpPr/>
          <p:nvPr/>
        </p:nvSpPr>
        <p:spPr>
          <a:xfrm>
            <a:off x="457200" y="1005840"/>
            <a:ext cx="1371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Calibri"/>
              </a:rPr>
              <a:t>16</a:t>
            </a:r>
            <a:endParaRPr b="0" lang="en-IN" sz="46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457200" y="239580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1c40f"/>
                </a:solidFill>
                <a:latin typeface="Calibri"/>
              </a:rPr>
              <a:t>Part 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2103120" y="685800"/>
            <a:ext cx="640044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Packages &amp;</a:t>
            </a:r>
            <a:endParaRPr b="0" lang="en-IN" sz="4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Third-Party</a:t>
            </a:r>
            <a:endParaRPr b="0" lang="en-IN" sz="4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Libraries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2103120" y="3291840"/>
            <a:ext cx="6400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d7bde2"/>
                </a:solidFill>
                <a:latin typeface="Calibri"/>
              </a:rPr>
              <a:t>__init__.py · Nested packages · PyPI · pip install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0" y="4114800"/>
            <a:ext cx="9143640" cy="102852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9"/>
          <p:cNvSpPr/>
          <p:nvPr/>
        </p:nvSpPr>
        <p:spPr>
          <a:xfrm>
            <a:off x="457200" y="4114800"/>
            <a:ext cx="822924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800" spc="-1" strike="noStrike">
                <a:solidFill>
                  <a:srgbClr val="ffffff"/>
                </a:solidFill>
                <a:latin typeface="Calibri"/>
              </a:rPr>
              <a:t>"The Python ecosystem — millions of packages at your command"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2c0735"/>
          </a:solidFill>
          <a:ln w="12700">
            <a:solidFill>
              <a:srgbClr val="2c073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1"/>
          <p:cNvSpPr/>
          <p:nvPr/>
        </p:nvSpPr>
        <p:spPr>
          <a:xfrm>
            <a:off x="365760" y="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What is a Package?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320040" y="731520"/>
            <a:ext cx="8503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12529"/>
                </a:solidFill>
                <a:latin typeface="Calibri"/>
              </a:rPr>
              <a:t>A package is a folder that contains related modules — plus a special file called __init__.py that tells Python "this folder is a package".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274320" y="1417320"/>
            <a:ext cx="2742840" cy="100548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8" name="Text 4"/>
          <p:cNvSpPr/>
          <p:nvPr/>
        </p:nvSpPr>
        <p:spPr>
          <a:xfrm>
            <a:off x="365760" y="144468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🗄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Filing Cabinet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365760" y="18288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7bde2"/>
                </a:solidFill>
                <a:latin typeface="Calibri"/>
              </a:rPr>
              <a:t>↔  </a:t>
            </a:r>
            <a:r>
              <a:rPr b="0" lang="en-US" sz="1250" spc="-1" strike="noStrike">
                <a:solidFill>
                  <a:srgbClr val="d7bde2"/>
                </a:solidFill>
                <a:latin typeface="Calibri"/>
              </a:rPr>
              <a:t>Python: Package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3063240" y="1691640"/>
            <a:ext cx="18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6c757d"/>
                </a:solidFill>
                <a:latin typeface="Calibri"/>
              </a:rPr>
              <a:t>⊃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3200400" y="1417320"/>
            <a:ext cx="2742840" cy="1005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2" name="Text 8"/>
          <p:cNvSpPr/>
          <p:nvPr/>
        </p:nvSpPr>
        <p:spPr>
          <a:xfrm>
            <a:off x="3291840" y="144468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📂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Drawer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3" name="Text 9"/>
          <p:cNvSpPr/>
          <p:nvPr/>
        </p:nvSpPr>
        <p:spPr>
          <a:xfrm>
            <a:off x="3291840" y="18288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7bde2"/>
                </a:solidFill>
                <a:latin typeface="Calibri"/>
              </a:rPr>
              <a:t>↔  </a:t>
            </a:r>
            <a:r>
              <a:rPr b="0" lang="en-US" sz="1250" spc="-1" strike="noStrike">
                <a:solidFill>
                  <a:srgbClr val="d7bde2"/>
                </a:solidFill>
                <a:latin typeface="Calibri"/>
              </a:rPr>
              <a:t>Python: Sub-package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5989320" y="1691640"/>
            <a:ext cx="18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6c757d"/>
                </a:solidFill>
                <a:latin typeface="Calibri"/>
              </a:rPr>
              <a:t>⊃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65" name="Shape 11"/>
          <p:cNvSpPr/>
          <p:nvPr/>
        </p:nvSpPr>
        <p:spPr>
          <a:xfrm>
            <a:off x="6126480" y="1417320"/>
            <a:ext cx="2742840" cy="100548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6" name="Text 12"/>
          <p:cNvSpPr/>
          <p:nvPr/>
        </p:nvSpPr>
        <p:spPr>
          <a:xfrm>
            <a:off x="6217920" y="144468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📄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Individual Files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7" name="Text 13"/>
          <p:cNvSpPr/>
          <p:nvPr/>
        </p:nvSpPr>
        <p:spPr>
          <a:xfrm>
            <a:off x="6217920" y="18288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7bde2"/>
                </a:solidFill>
                <a:latin typeface="Calibri"/>
              </a:rPr>
              <a:t>↔  </a:t>
            </a:r>
            <a:r>
              <a:rPr b="0" lang="en-US" sz="1250" spc="-1" strike="noStrike">
                <a:solidFill>
                  <a:srgbClr val="d7bde2"/>
                </a:solidFill>
                <a:latin typeface="Calibri"/>
              </a:rPr>
              <a:t>Python: Modules (.py)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68" name="Text 14"/>
          <p:cNvSpPr/>
          <p:nvPr/>
        </p:nvSpPr>
        <p:spPr>
          <a:xfrm>
            <a:off x="274320" y="2606040"/>
            <a:ext cx="8595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b2d8b"/>
                </a:solidFill>
                <a:latin typeface="Calibri"/>
              </a:rPr>
              <a:t>Anatomy of a Package  —  finance_suite/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274320" y="3035880"/>
            <a:ext cx="8595000" cy="1874160"/>
          </a:xfrm>
          <a:prstGeom prst="rect">
            <a:avLst/>
          </a:prstGeom>
          <a:solidFill>
            <a:srgbClr val="f5eef8"/>
          </a:solidFill>
          <a:ln w="19050">
            <a:solidFill>
              <a:srgbClr val="6b2d8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0" name="Shape 16"/>
          <p:cNvSpPr/>
          <p:nvPr/>
        </p:nvSpPr>
        <p:spPr>
          <a:xfrm>
            <a:off x="274320" y="3035880"/>
            <a:ext cx="8595000" cy="36540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17"/>
          <p:cNvSpPr/>
          <p:nvPr/>
        </p:nvSpPr>
        <p:spPr>
          <a:xfrm>
            <a:off x="384120" y="3035880"/>
            <a:ext cx="832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📁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finance_suite/  (package directory)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502920" y="3520440"/>
            <a:ext cx="393156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c40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Shape 19"/>
          <p:cNvSpPr/>
          <p:nvPr/>
        </p:nvSpPr>
        <p:spPr>
          <a:xfrm>
            <a:off x="502920" y="3520440"/>
            <a:ext cx="45360" cy="50256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20"/>
          <p:cNvSpPr/>
          <p:nvPr/>
        </p:nvSpPr>
        <p:spPr>
          <a:xfrm>
            <a:off x="631080" y="3557160"/>
            <a:ext cx="1416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⚙ </a:t>
            </a:r>
            <a:r>
              <a:rPr b="1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__init__.py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5" name="Text 21"/>
          <p:cNvSpPr/>
          <p:nvPr/>
        </p:nvSpPr>
        <p:spPr>
          <a:xfrm>
            <a:off x="2103120" y="3575160"/>
            <a:ext cx="2239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212529"/>
                </a:solidFill>
                <a:latin typeface="Calibri"/>
              </a:rPr>
              <a:t>Required! Marks this as a package. Can contain init code.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76" name="Shape 22"/>
          <p:cNvSpPr/>
          <p:nvPr/>
        </p:nvSpPr>
        <p:spPr>
          <a:xfrm>
            <a:off x="4754880" y="3520440"/>
            <a:ext cx="393156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Shape 23"/>
          <p:cNvSpPr/>
          <p:nvPr/>
        </p:nvSpPr>
        <p:spPr>
          <a:xfrm>
            <a:off x="4754880" y="3520440"/>
            <a:ext cx="45360" cy="5025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24"/>
          <p:cNvSpPr/>
          <p:nvPr/>
        </p:nvSpPr>
        <p:spPr>
          <a:xfrm>
            <a:off x="4883040" y="3557160"/>
            <a:ext cx="1416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9b6"/>
                </a:solidFill>
                <a:latin typeface="Consolas"/>
                <a:ea typeface="Consolas"/>
              </a:rPr>
              <a:t>📄 </a:t>
            </a:r>
            <a:r>
              <a:rPr b="1" lang="en-US" sz="1200" spc="-1" strike="noStrike">
                <a:solidFill>
                  <a:srgbClr val="9b59b6"/>
                </a:solidFill>
                <a:latin typeface="Consolas"/>
                <a:ea typeface="Consolas"/>
              </a:rPr>
              <a:t>tax.py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9" name="Text 25"/>
          <p:cNvSpPr/>
          <p:nvPr/>
        </p:nvSpPr>
        <p:spPr>
          <a:xfrm>
            <a:off x="6355080" y="3575160"/>
            <a:ext cx="2239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212529"/>
                </a:solidFill>
                <a:latin typeface="Calibri"/>
              </a:rPr>
              <a:t>Module: tax_rate(), apply_gst() etc.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80" name="Shape 26"/>
          <p:cNvSpPr/>
          <p:nvPr/>
        </p:nvSpPr>
        <p:spPr>
          <a:xfrm>
            <a:off x="502920" y="4142160"/>
            <a:ext cx="393156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Shape 27"/>
          <p:cNvSpPr/>
          <p:nvPr/>
        </p:nvSpPr>
        <p:spPr>
          <a:xfrm>
            <a:off x="502920" y="4142160"/>
            <a:ext cx="45360" cy="5025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28"/>
          <p:cNvSpPr/>
          <p:nvPr/>
        </p:nvSpPr>
        <p:spPr>
          <a:xfrm>
            <a:off x="631080" y="4178880"/>
            <a:ext cx="1416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9b6"/>
                </a:solidFill>
                <a:latin typeface="Consolas"/>
                <a:ea typeface="Consolas"/>
              </a:rPr>
              <a:t>📄 </a:t>
            </a:r>
            <a:r>
              <a:rPr b="1" lang="en-US" sz="1200" spc="-1" strike="noStrike">
                <a:solidFill>
                  <a:srgbClr val="9b59b6"/>
                </a:solidFill>
                <a:latin typeface="Consolas"/>
                <a:ea typeface="Consolas"/>
              </a:rPr>
              <a:t>invoice.py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3" name="Text 29"/>
          <p:cNvSpPr/>
          <p:nvPr/>
        </p:nvSpPr>
        <p:spPr>
          <a:xfrm>
            <a:off x="2103120" y="4197240"/>
            <a:ext cx="2239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212529"/>
                </a:solidFill>
                <a:latin typeface="Calibri"/>
              </a:rPr>
              <a:t>Module: create_invoice(), print_pdf() etc.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84" name="Shape 30"/>
          <p:cNvSpPr/>
          <p:nvPr/>
        </p:nvSpPr>
        <p:spPr>
          <a:xfrm>
            <a:off x="4754880" y="4142160"/>
            <a:ext cx="393156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Shape 31"/>
          <p:cNvSpPr/>
          <p:nvPr/>
        </p:nvSpPr>
        <p:spPr>
          <a:xfrm>
            <a:off x="4754880" y="4142160"/>
            <a:ext cx="45360" cy="5025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32"/>
          <p:cNvSpPr/>
          <p:nvPr/>
        </p:nvSpPr>
        <p:spPr>
          <a:xfrm>
            <a:off x="4883040" y="4178880"/>
            <a:ext cx="1416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9b6"/>
                </a:solidFill>
                <a:latin typeface="Consolas"/>
                <a:ea typeface="Consolas"/>
              </a:rPr>
              <a:t>📄 </a:t>
            </a:r>
            <a:r>
              <a:rPr b="1" lang="en-US" sz="1200" spc="-1" strike="noStrike">
                <a:solidFill>
                  <a:srgbClr val="9b59b6"/>
                </a:solidFill>
                <a:latin typeface="Consolas"/>
                <a:ea typeface="Consolas"/>
              </a:rPr>
              <a:t>currency.py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7" name="Text 33"/>
          <p:cNvSpPr/>
          <p:nvPr/>
        </p:nvSpPr>
        <p:spPr>
          <a:xfrm>
            <a:off x="6355080" y="4197240"/>
            <a:ext cx="2239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212529"/>
                </a:solidFill>
                <a:latin typeface="Calibri"/>
              </a:rPr>
              <a:t>Module: convert(), format_inr() etc.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1"/>
          <p:cNvSpPr/>
          <p:nvPr/>
        </p:nvSpPr>
        <p:spPr>
          <a:xfrm>
            <a:off x="365760" y="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__init__.py — The Package Marker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274320" y="777240"/>
            <a:ext cx="3931560" cy="91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2d8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1" name="Shape 3"/>
          <p:cNvSpPr/>
          <p:nvPr/>
        </p:nvSpPr>
        <p:spPr>
          <a:xfrm>
            <a:off x="274320" y="777240"/>
            <a:ext cx="502560" cy="91404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4"/>
          <p:cNvSpPr/>
          <p:nvPr/>
        </p:nvSpPr>
        <p:spPr>
          <a:xfrm>
            <a:off x="274320" y="777240"/>
            <a:ext cx="502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🏷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868680" y="85032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b2d8b"/>
                </a:solidFill>
                <a:latin typeface="Calibri"/>
              </a:rPr>
              <a:t>Identifies a package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868680" y="1179720"/>
            <a:ext cx="3245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529"/>
                </a:solidFill>
                <a:latin typeface="Calibri"/>
              </a:rPr>
              <a:t>Without __init__.py, Python treats the folder as a plain directory, not a package.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5" name="Shape 7"/>
          <p:cNvSpPr/>
          <p:nvPr/>
        </p:nvSpPr>
        <p:spPr>
          <a:xfrm>
            <a:off x="274320" y="1801440"/>
            <a:ext cx="3931560" cy="91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2d8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6" name="Shape 8"/>
          <p:cNvSpPr/>
          <p:nvPr/>
        </p:nvSpPr>
        <p:spPr>
          <a:xfrm>
            <a:off x="274320" y="1801440"/>
            <a:ext cx="502560" cy="91404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9"/>
          <p:cNvSpPr/>
          <p:nvPr/>
        </p:nvSpPr>
        <p:spPr>
          <a:xfrm>
            <a:off x="274320" y="1801440"/>
            <a:ext cx="502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🔧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868680" y="187452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b2d8b"/>
                </a:solidFill>
                <a:latin typeface="Calibri"/>
              </a:rPr>
              <a:t>Runs on import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9" name="Text 11"/>
          <p:cNvSpPr/>
          <p:nvPr/>
        </p:nvSpPr>
        <p:spPr>
          <a:xfrm>
            <a:off x="868680" y="2203560"/>
            <a:ext cx="3245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529"/>
                </a:solidFill>
                <a:latin typeface="Calibri"/>
              </a:rPr>
              <a:t>Code inside __init__.py executes the very first time the package is imported.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0" name="Shape 12"/>
          <p:cNvSpPr/>
          <p:nvPr/>
        </p:nvSpPr>
        <p:spPr>
          <a:xfrm>
            <a:off x="274320" y="2825640"/>
            <a:ext cx="3931560" cy="91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2d8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" name="Shape 13"/>
          <p:cNvSpPr/>
          <p:nvPr/>
        </p:nvSpPr>
        <p:spPr>
          <a:xfrm>
            <a:off x="274320" y="2825640"/>
            <a:ext cx="502560" cy="91404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14"/>
          <p:cNvSpPr/>
          <p:nvPr/>
        </p:nvSpPr>
        <p:spPr>
          <a:xfrm>
            <a:off x="274320" y="2825640"/>
            <a:ext cx="502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📋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03" name="Text 15"/>
          <p:cNvSpPr/>
          <p:nvPr/>
        </p:nvSpPr>
        <p:spPr>
          <a:xfrm>
            <a:off x="868680" y="289872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b2d8b"/>
                </a:solidFill>
                <a:latin typeface="Calibri"/>
              </a:rPr>
              <a:t>Can be empty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4" name="Text 16"/>
          <p:cNvSpPr/>
          <p:nvPr/>
        </p:nvSpPr>
        <p:spPr>
          <a:xfrm>
            <a:off x="868680" y="3227760"/>
            <a:ext cx="3245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529"/>
                </a:solidFill>
                <a:latin typeface="Calibri"/>
              </a:rPr>
              <a:t>An empty __init__.py is perfectly valid — it's just the marker that matters.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5" name="Shape 17"/>
          <p:cNvSpPr/>
          <p:nvPr/>
        </p:nvSpPr>
        <p:spPr>
          <a:xfrm>
            <a:off x="274320" y="3849480"/>
            <a:ext cx="3931560" cy="91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2d8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6" name="Shape 18"/>
          <p:cNvSpPr/>
          <p:nvPr/>
        </p:nvSpPr>
        <p:spPr>
          <a:xfrm>
            <a:off x="274320" y="3849480"/>
            <a:ext cx="502560" cy="91404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19"/>
          <p:cNvSpPr/>
          <p:nvPr/>
        </p:nvSpPr>
        <p:spPr>
          <a:xfrm>
            <a:off x="274320" y="3849480"/>
            <a:ext cx="502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🔗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08" name="Text 20"/>
          <p:cNvSpPr/>
          <p:nvPr/>
        </p:nvSpPr>
        <p:spPr>
          <a:xfrm>
            <a:off x="868680" y="392292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b2d8b"/>
                </a:solidFill>
                <a:latin typeface="Calibri"/>
              </a:rPr>
              <a:t>Re-export shortcuts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9" name="Text 21"/>
          <p:cNvSpPr/>
          <p:nvPr/>
        </p:nvSpPr>
        <p:spPr>
          <a:xfrm>
            <a:off x="868680" y="4251960"/>
            <a:ext cx="3245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529"/>
                </a:solidFill>
                <a:latin typeface="Calibri"/>
              </a:rPr>
              <a:t>Put commonly used names here so users can write:  from finance_suite import tax_rate  instead of the full path.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0" name="Shape 22"/>
          <p:cNvSpPr/>
          <p:nvPr/>
        </p:nvSpPr>
        <p:spPr>
          <a:xfrm>
            <a:off x="4434840" y="749880"/>
            <a:ext cx="4434480" cy="2121120"/>
          </a:xfrm>
          <a:prstGeom prst="rect">
            <a:avLst/>
          </a:prstGeom>
          <a:solidFill>
            <a:srgbClr val="140320"/>
          </a:solidFill>
          <a:ln w="19050">
            <a:solidFill>
              <a:srgbClr val="f1c40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1" name="Shape 23"/>
          <p:cNvSpPr/>
          <p:nvPr/>
        </p:nvSpPr>
        <p:spPr>
          <a:xfrm>
            <a:off x="4434840" y="749880"/>
            <a:ext cx="4434480" cy="36540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24"/>
          <p:cNvSpPr/>
          <p:nvPr/>
        </p:nvSpPr>
        <p:spPr>
          <a:xfrm>
            <a:off x="4544640" y="74988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212529"/>
                </a:solidFill>
                <a:latin typeface="Calibri"/>
              </a:rPr>
              <a:t>📄  </a:t>
            </a:r>
            <a:r>
              <a:rPr b="1" lang="en-US" sz="1250" spc="-1" strike="noStrike">
                <a:solidFill>
                  <a:srgbClr val="212529"/>
                </a:solidFill>
                <a:latin typeface="Calibri"/>
              </a:rPr>
              <a:t>finance_suite/__init__.py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13" name="Text 25"/>
          <p:cNvSpPr/>
          <p:nvPr/>
        </p:nvSpPr>
        <p:spPr>
          <a:xfrm>
            <a:off x="4544640" y="1170360"/>
            <a:ext cx="4205880" cy="16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i="1" lang="en-US" sz="1200" spc="-1" strike="noStrike">
                <a:solidFill>
                  <a:srgbClr val="6a9fa8"/>
                </a:solidFill>
                <a:latin typeface="Consolas"/>
                <a:ea typeface="Consolas"/>
              </a:rPr>
              <a:t># Package initialisation</a:t>
            </a:r>
            <a:endParaRPr b="0" lang="en-IN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ce93d8"/>
                </a:solidFill>
                <a:latin typeface="Consolas"/>
                <a:ea typeface="Consolas"/>
              </a:rPr>
              <a:t>print</a:t>
            </a:r>
            <a:r>
              <a:rPr b="0" lang="en-US" sz="1200" spc="-1" strike="noStrike">
                <a:solidFill>
                  <a:srgbClr val="98fb98"/>
                </a:solidFill>
                <a:latin typeface="Consolas"/>
                <a:ea typeface="Consolas"/>
              </a:rPr>
              <a:t>("finance_suite loaded")</a:t>
            </a:r>
            <a:endParaRPr b="0" lang="en-IN" sz="1200" spc="-1" strike="noStrike">
              <a:latin typeface="Arial"/>
            </a:endParaRPr>
          </a:p>
          <a:p>
            <a:endParaRPr b="0" lang="en-IN" sz="1200" spc="-1" strike="noStrike">
              <a:latin typeface="Arial"/>
            </a:endParaRPr>
          </a:p>
          <a:p>
            <a:r>
              <a:rPr b="0" i="1" lang="en-US" sz="1200" spc="-1" strike="noStrike">
                <a:solidFill>
                  <a:srgbClr val="6a9fa8"/>
                </a:solidFill>
                <a:latin typeface="Consolas"/>
                <a:ea typeface="Consolas"/>
              </a:rPr>
              <a:t># Re-export for convenience</a:t>
            </a:r>
            <a:endParaRPr b="0" lang="en-IN" sz="1200" spc="-1" strike="noStrike">
              <a:latin typeface="Arial"/>
            </a:endParaRPr>
          </a:p>
          <a:p>
            <a:r>
              <a:rPr b="1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from </a:t>
            </a:r>
            <a:r>
              <a:rPr b="0" lang="en-US" sz="1200" spc="-1" strike="noStrike">
                <a:solidFill>
                  <a:srgbClr val="7ec8e3"/>
                </a:solidFill>
                <a:latin typeface="Consolas"/>
                <a:ea typeface="Consolas"/>
              </a:rPr>
              <a:t>.tax </a:t>
            </a:r>
            <a:r>
              <a:rPr b="1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import </a:t>
            </a:r>
            <a:r>
              <a:rPr b="0" lang="en-US" sz="1200" spc="-1" strike="noStrike">
                <a:solidFill>
                  <a:srgbClr val="ce93d8"/>
                </a:solidFill>
                <a:latin typeface="Consolas"/>
                <a:ea typeface="Consolas"/>
              </a:rPr>
              <a:t>tax_rate</a:t>
            </a:r>
            <a:endParaRPr b="0" lang="en-IN" sz="1200" spc="-1" strike="noStrike">
              <a:latin typeface="Arial"/>
            </a:endParaRPr>
          </a:p>
          <a:p>
            <a:r>
              <a:rPr b="1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from </a:t>
            </a:r>
            <a:r>
              <a:rPr b="0" lang="en-US" sz="1200" spc="-1" strike="noStrike">
                <a:solidFill>
                  <a:srgbClr val="7ec8e3"/>
                </a:solidFill>
                <a:latin typeface="Consolas"/>
                <a:ea typeface="Consolas"/>
              </a:rPr>
              <a:t>.currency </a:t>
            </a:r>
            <a:r>
              <a:rPr b="1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import </a:t>
            </a:r>
            <a:r>
              <a:rPr b="0" lang="en-US" sz="1200" spc="-1" strike="noStrike">
                <a:solidFill>
                  <a:srgbClr val="ce93d8"/>
                </a:solidFill>
                <a:latin typeface="Consolas"/>
                <a:ea typeface="Consolas"/>
              </a:rPr>
              <a:t>convert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</p:txBody>
      </p:sp>
      <p:sp>
        <p:nvSpPr>
          <p:cNvPr id="114" name="Shape 26"/>
          <p:cNvSpPr/>
          <p:nvPr/>
        </p:nvSpPr>
        <p:spPr>
          <a:xfrm>
            <a:off x="4434840" y="2971800"/>
            <a:ext cx="4434480" cy="1919880"/>
          </a:xfrm>
          <a:prstGeom prst="rect">
            <a:avLst/>
          </a:prstGeom>
          <a:solidFill>
            <a:srgbClr val="140320"/>
          </a:solidFill>
          <a:ln w="19050">
            <a:solidFill>
              <a:srgbClr val="9b59b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5" name="Shape 27"/>
          <p:cNvSpPr/>
          <p:nvPr/>
        </p:nvSpPr>
        <p:spPr>
          <a:xfrm>
            <a:off x="4434840" y="2971800"/>
            <a:ext cx="4434480" cy="3654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28"/>
          <p:cNvSpPr/>
          <p:nvPr/>
        </p:nvSpPr>
        <p:spPr>
          <a:xfrm>
            <a:off x="4544640" y="297180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📄 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main.py — using the package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17" name="Text 29"/>
          <p:cNvSpPr/>
          <p:nvPr/>
        </p:nvSpPr>
        <p:spPr>
          <a:xfrm>
            <a:off x="4544640" y="3383280"/>
            <a:ext cx="420588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import </a:t>
            </a:r>
            <a:r>
              <a:rPr b="0" lang="en-US" sz="1200" spc="-1" strike="noStrike">
                <a:solidFill>
                  <a:srgbClr val="7ec8e3"/>
                </a:solidFill>
                <a:latin typeface="Consolas"/>
                <a:ea typeface="Consolas"/>
              </a:rPr>
              <a:t>finance_suite.tax </a:t>
            </a:r>
            <a:r>
              <a:rPr b="1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as </a:t>
            </a:r>
            <a:r>
              <a:rPr b="0" lang="en-US" sz="1200" spc="-1" strike="noStrike">
                <a:solidFill>
                  <a:srgbClr val="ce93d8"/>
                </a:solidFill>
                <a:latin typeface="Consolas"/>
                <a:ea typeface="Consolas"/>
              </a:rPr>
              <a:t>ft</a:t>
            </a:r>
            <a:endParaRPr b="0" lang="en-IN" sz="1200" spc="-1" strike="noStrike">
              <a:latin typeface="Arial"/>
            </a:endParaRPr>
          </a:p>
          <a:p>
            <a:r>
              <a:rPr b="1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import </a:t>
            </a:r>
            <a:r>
              <a:rPr b="0" lang="en-US" sz="1200" spc="-1" strike="noStrike">
                <a:solidFill>
                  <a:srgbClr val="7ec8e3"/>
                </a:solidFill>
                <a:latin typeface="Consolas"/>
                <a:ea typeface="Consolas"/>
              </a:rPr>
              <a:t>finance_suite.invoice </a:t>
            </a:r>
            <a:r>
              <a:rPr b="1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as </a:t>
            </a:r>
            <a:r>
              <a:rPr b="0" lang="en-US" sz="1200" spc="-1" strike="noStrike">
                <a:solidFill>
                  <a:srgbClr val="ce93d8"/>
                </a:solidFill>
                <a:latin typeface="Consolas"/>
                <a:ea typeface="Consolas"/>
              </a:rPr>
              <a:t>fi</a:t>
            </a:r>
            <a:endParaRPr b="0" lang="en-IN" sz="1200" spc="-1" strike="noStrike">
              <a:latin typeface="Arial"/>
            </a:endParaRPr>
          </a:p>
          <a:p>
            <a:endParaRPr b="0" lang="en-IN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rate = ft.tax_rate(</a:t>
            </a:r>
            <a:r>
              <a:rPr b="0" lang="en-US" sz="1200" spc="-1" strike="noStrike">
                <a:solidFill>
                  <a:srgbClr val="98fb98"/>
                </a:solidFill>
                <a:latin typeface="Consolas"/>
                <a:ea typeface="Consolas"/>
              </a:rPr>
              <a:t>50000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)</a:t>
            </a:r>
            <a:endParaRPr b="0" lang="en-IN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fi.create_invoice(</a:t>
            </a:r>
            <a:r>
              <a:rPr b="0" lang="en-US" sz="1200" spc="-1" strike="noStrike">
                <a:solidFill>
                  <a:srgbClr val="98fb98"/>
                </a:solidFill>
                <a:latin typeface="Consolas"/>
                <a:ea typeface="Consolas"/>
              </a:rPr>
              <a:t>"INV-001"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, rate)</a:t>
            </a:r>
            <a:endParaRPr b="0" lang="en-IN" sz="1200" spc="-1" strike="noStrike">
              <a:latin typeface="Arial"/>
            </a:endParaRPr>
          </a:p>
          <a:p>
            <a:endParaRPr b="0" lang="en-IN" sz="1200" spc="-1" strike="noStrike">
              <a:latin typeface="Arial"/>
            </a:endParaRPr>
          </a:p>
          <a:p>
            <a:r>
              <a:rPr b="0" i="1" lang="en-US" sz="1200" spc="-1" strike="noStrike">
                <a:solidFill>
                  <a:srgbClr val="6a9fa8"/>
                </a:solidFill>
                <a:latin typeface="Consolas"/>
                <a:ea typeface="Consolas"/>
              </a:rPr>
              <a:t># OR use re-exported shortcut:</a:t>
            </a:r>
            <a:endParaRPr b="0" lang="en-IN" sz="1200" spc="-1" strike="noStrike">
              <a:latin typeface="Arial"/>
            </a:endParaRPr>
          </a:p>
          <a:p>
            <a:r>
              <a:rPr b="1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from </a:t>
            </a:r>
            <a:r>
              <a:rPr b="0" lang="en-US" sz="1200" spc="-1" strike="noStrike">
                <a:solidFill>
                  <a:srgbClr val="7ec8e3"/>
                </a:solidFill>
                <a:latin typeface="Consolas"/>
                <a:ea typeface="Consolas"/>
              </a:rPr>
              <a:t>finance_suite </a:t>
            </a:r>
            <a:r>
              <a:rPr b="1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import </a:t>
            </a:r>
            <a:r>
              <a:rPr b="0" lang="en-US" sz="1200" spc="-1" strike="noStrike">
                <a:solidFill>
                  <a:srgbClr val="ce93d8"/>
                </a:solidFill>
                <a:latin typeface="Consolas"/>
                <a:ea typeface="Consolas"/>
              </a:rPr>
              <a:t>convert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e93d8"/>
                </a:solidFill>
                <a:latin typeface="Consolas"/>
                <a:ea typeface="Consolas"/>
              </a:rPr>
              <a:t>print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(convert(</a:t>
            </a:r>
            <a:r>
              <a:rPr b="0" lang="en-US" sz="1200" spc="-1" strike="noStrike">
                <a:solidFill>
                  <a:srgbClr val="98fb98"/>
                </a:solidFill>
                <a:latin typeface="Consolas"/>
                <a:ea typeface="Consolas"/>
              </a:rPr>
              <a:t>100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, </a:t>
            </a:r>
            <a:r>
              <a:rPr b="0" lang="en-US" sz="1200" spc="-1" strike="noStrike">
                <a:solidFill>
                  <a:srgbClr val="98fb98"/>
                </a:solidFill>
                <a:latin typeface="Consolas"/>
                <a:ea typeface="Consolas"/>
              </a:rPr>
              <a:t>"USD"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))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2c0735"/>
          </a:solidFill>
          <a:ln w="12700">
            <a:solidFill>
              <a:srgbClr val="2c073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1"/>
          <p:cNvSpPr/>
          <p:nvPr/>
        </p:nvSpPr>
        <p:spPr>
          <a:xfrm>
            <a:off x="365760" y="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Nested Sub-Packages — Folder Tree &amp; Import Paths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0" name="Shape 2"/>
          <p:cNvSpPr/>
          <p:nvPr/>
        </p:nvSpPr>
        <p:spPr>
          <a:xfrm>
            <a:off x="274320" y="749880"/>
            <a:ext cx="4114440" cy="4205880"/>
          </a:xfrm>
          <a:prstGeom prst="rect">
            <a:avLst/>
          </a:prstGeom>
          <a:solidFill>
            <a:srgbClr val="f5eef8"/>
          </a:solidFill>
          <a:ln w="19050">
            <a:solidFill>
              <a:srgbClr val="6b2d8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1" name="Shape 3"/>
          <p:cNvSpPr/>
          <p:nvPr/>
        </p:nvSpPr>
        <p:spPr>
          <a:xfrm>
            <a:off x="274320" y="749880"/>
            <a:ext cx="4114440" cy="38376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4"/>
          <p:cNvSpPr/>
          <p:nvPr/>
        </p:nvSpPr>
        <p:spPr>
          <a:xfrm>
            <a:off x="384120" y="74988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📁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ecommerce/  (top-level package)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475560" y="1225440"/>
            <a:ext cx="3748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__init__.py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475560" y="1490400"/>
            <a:ext cx="3748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b2d8b"/>
                </a:solidFill>
                <a:latin typeface="Consolas"/>
                <a:ea typeface="Consolas"/>
              </a:rPr>
              <a:t>📁  </a:t>
            </a:r>
            <a:r>
              <a:rPr b="0" lang="en-US" sz="1200" spc="-1" strike="noStrike">
                <a:solidFill>
                  <a:srgbClr val="6b2d8b"/>
                </a:solidFill>
                <a:latin typeface="Consolas"/>
                <a:ea typeface="Consolas"/>
              </a:rPr>
              <a:t>orders/   (sub-package)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887040" y="1755720"/>
            <a:ext cx="3337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__init__.py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887040" y="2020680"/>
            <a:ext cx="3337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b59b6"/>
                </a:solidFill>
                <a:latin typeface="Consolas"/>
                <a:ea typeface="Consolas"/>
              </a:rPr>
              <a:t>cart.py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7" name="Text 9"/>
          <p:cNvSpPr/>
          <p:nvPr/>
        </p:nvSpPr>
        <p:spPr>
          <a:xfrm>
            <a:off x="887040" y="2286000"/>
            <a:ext cx="3337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b59b6"/>
                </a:solidFill>
                <a:latin typeface="Consolas"/>
                <a:ea typeface="Consolas"/>
              </a:rPr>
              <a:t>checkout.py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8" name="Text 10"/>
          <p:cNvSpPr/>
          <p:nvPr/>
        </p:nvSpPr>
        <p:spPr>
          <a:xfrm>
            <a:off x="475560" y="2551320"/>
            <a:ext cx="3748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b2d8b"/>
                </a:solidFill>
                <a:latin typeface="Consolas"/>
                <a:ea typeface="Consolas"/>
              </a:rPr>
              <a:t>📁  </a:t>
            </a:r>
            <a:r>
              <a:rPr b="0" lang="en-US" sz="1200" spc="-1" strike="noStrike">
                <a:solidFill>
                  <a:srgbClr val="6b2d8b"/>
                </a:solidFill>
                <a:latin typeface="Consolas"/>
                <a:ea typeface="Consolas"/>
              </a:rPr>
              <a:t>inventory/  (sub-package)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9" name="Text 11"/>
          <p:cNvSpPr/>
          <p:nvPr/>
        </p:nvSpPr>
        <p:spPr>
          <a:xfrm>
            <a:off x="887040" y="2816280"/>
            <a:ext cx="3337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__init__.py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0" name="Text 12"/>
          <p:cNvSpPr/>
          <p:nvPr/>
        </p:nvSpPr>
        <p:spPr>
          <a:xfrm>
            <a:off x="887040" y="3081600"/>
            <a:ext cx="3337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b59b6"/>
                </a:solidFill>
                <a:latin typeface="Consolas"/>
                <a:ea typeface="Consolas"/>
              </a:rPr>
              <a:t>stock.py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1" name="Text 13"/>
          <p:cNvSpPr/>
          <p:nvPr/>
        </p:nvSpPr>
        <p:spPr>
          <a:xfrm>
            <a:off x="887040" y="3346560"/>
            <a:ext cx="3337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b59b6"/>
                </a:solidFill>
                <a:latin typeface="Consolas"/>
                <a:ea typeface="Consolas"/>
              </a:rPr>
              <a:t>warehouse.py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2" name="Text 14"/>
          <p:cNvSpPr/>
          <p:nvPr/>
        </p:nvSpPr>
        <p:spPr>
          <a:xfrm>
            <a:off x="475560" y="3611880"/>
            <a:ext cx="3748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b2d8b"/>
                </a:solidFill>
                <a:latin typeface="Consolas"/>
                <a:ea typeface="Consolas"/>
              </a:rPr>
              <a:t>📁  </a:t>
            </a:r>
            <a:r>
              <a:rPr b="0" lang="en-US" sz="1200" spc="-1" strike="noStrike">
                <a:solidFill>
                  <a:srgbClr val="6b2d8b"/>
                </a:solidFill>
                <a:latin typeface="Consolas"/>
                <a:ea typeface="Consolas"/>
              </a:rPr>
              <a:t>payments/  (sub-package)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3" name="Text 15"/>
          <p:cNvSpPr/>
          <p:nvPr/>
        </p:nvSpPr>
        <p:spPr>
          <a:xfrm>
            <a:off x="887040" y="3877200"/>
            <a:ext cx="3337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__init__.py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4" name="Text 16"/>
          <p:cNvSpPr/>
          <p:nvPr/>
        </p:nvSpPr>
        <p:spPr>
          <a:xfrm>
            <a:off x="887040" y="4142160"/>
            <a:ext cx="3337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b59b6"/>
                </a:solidFill>
                <a:latin typeface="Consolas"/>
                <a:ea typeface="Consolas"/>
              </a:rPr>
              <a:t>gateway.py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5" name="Text 17"/>
          <p:cNvSpPr/>
          <p:nvPr/>
        </p:nvSpPr>
        <p:spPr>
          <a:xfrm>
            <a:off x="887040" y="4407480"/>
            <a:ext cx="3337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b59b6"/>
                </a:solidFill>
                <a:latin typeface="Consolas"/>
                <a:ea typeface="Consolas"/>
              </a:rPr>
              <a:t>refund.py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6" name="Shape 18"/>
          <p:cNvSpPr/>
          <p:nvPr/>
        </p:nvSpPr>
        <p:spPr>
          <a:xfrm>
            <a:off x="4663440" y="749880"/>
            <a:ext cx="4205880" cy="4205880"/>
          </a:xfrm>
          <a:prstGeom prst="rect">
            <a:avLst/>
          </a:prstGeom>
          <a:solidFill>
            <a:srgbClr val="140320"/>
          </a:solidFill>
          <a:ln w="19050">
            <a:solidFill>
              <a:srgbClr val="9b59b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7" name="Shape 19"/>
          <p:cNvSpPr/>
          <p:nvPr/>
        </p:nvSpPr>
        <p:spPr>
          <a:xfrm>
            <a:off x="4663440" y="749880"/>
            <a:ext cx="4205880" cy="3837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20"/>
          <p:cNvSpPr/>
          <p:nvPr/>
        </p:nvSpPr>
        <p:spPr>
          <a:xfrm>
            <a:off x="4773240" y="749880"/>
            <a:ext cx="4004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📄 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app.py — importing sub-packages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39" name="Text 21"/>
          <p:cNvSpPr/>
          <p:nvPr/>
        </p:nvSpPr>
        <p:spPr>
          <a:xfrm>
            <a:off x="4773240" y="1188720"/>
            <a:ext cx="40046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i="1" lang="en-US" sz="1150" spc="-1" strike="noStrike">
                <a:solidFill>
                  <a:srgbClr val="6a9fa8"/>
                </a:solidFill>
                <a:latin typeface="Consolas"/>
                <a:ea typeface="Consolas"/>
              </a:rPr>
              <a:t># Full package path imports</a:t>
            </a:r>
            <a:endParaRPr b="0" lang="en-IN" sz="1150" spc="-1" strike="noStrike">
              <a:latin typeface="Arial"/>
            </a:endParaRPr>
          </a:p>
          <a:p>
            <a:r>
              <a:rPr b="1" lang="en-US" sz="1150" spc="-1" strike="noStrike">
                <a:solidFill>
                  <a:srgbClr val="f1c40f"/>
                </a:solidFill>
                <a:latin typeface="Consolas"/>
                <a:ea typeface="Consolas"/>
              </a:rPr>
              <a:t>import </a:t>
            </a:r>
            <a:r>
              <a:rPr b="0" lang="en-US" sz="1150" spc="-1" strike="noStrike">
                <a:solidFill>
                  <a:srgbClr val="7ec8e3"/>
                </a:solidFill>
                <a:latin typeface="Consolas"/>
                <a:ea typeface="Consolas"/>
              </a:rPr>
              <a:t>ecommerce.orders.cart </a:t>
            </a:r>
            <a:r>
              <a:rPr b="1" lang="en-US" sz="1150" spc="-1" strike="noStrike">
                <a:solidFill>
                  <a:srgbClr val="f1c40f"/>
                </a:solidFill>
                <a:latin typeface="Consolas"/>
                <a:ea typeface="Consolas"/>
              </a:rPr>
              <a:t>as </a:t>
            </a:r>
            <a:r>
              <a:rPr b="0" lang="en-US" sz="1150" spc="-1" strike="noStrike">
                <a:solidFill>
                  <a:srgbClr val="ce93d8"/>
                </a:solidFill>
                <a:latin typeface="Consolas"/>
                <a:ea typeface="Consolas"/>
              </a:rPr>
              <a:t>cart</a:t>
            </a:r>
            <a:endParaRPr b="0" lang="en-IN" sz="1150" spc="-1" strike="noStrike">
              <a:latin typeface="Arial"/>
            </a:endParaRPr>
          </a:p>
          <a:p>
            <a:r>
              <a:rPr b="1" lang="en-US" sz="1150" spc="-1" strike="noStrike">
                <a:solidFill>
                  <a:srgbClr val="f1c40f"/>
                </a:solidFill>
                <a:latin typeface="Consolas"/>
                <a:ea typeface="Consolas"/>
              </a:rPr>
              <a:t>import </a:t>
            </a:r>
            <a:r>
              <a:rPr b="0" lang="en-US" sz="1150" spc="-1" strike="noStrike">
                <a:solidFill>
                  <a:srgbClr val="7ec8e3"/>
                </a:solidFill>
                <a:latin typeface="Consolas"/>
                <a:ea typeface="Consolas"/>
              </a:rPr>
              <a:t>ecommerce.inventory.stock </a:t>
            </a:r>
            <a:r>
              <a:rPr b="1" lang="en-US" sz="1150" spc="-1" strike="noStrike">
                <a:solidFill>
                  <a:srgbClr val="f1c40f"/>
                </a:solidFill>
                <a:latin typeface="Consolas"/>
                <a:ea typeface="Consolas"/>
              </a:rPr>
              <a:t>as </a:t>
            </a:r>
            <a:r>
              <a:rPr b="0" lang="en-US" sz="1150" spc="-1" strike="noStrike">
                <a:solidFill>
                  <a:srgbClr val="ce93d8"/>
                </a:solidFill>
                <a:latin typeface="Consolas"/>
                <a:ea typeface="Consolas"/>
              </a:rPr>
              <a:t>stk</a:t>
            </a:r>
            <a:endParaRPr b="0" lang="en-IN" sz="1150" spc="-1" strike="noStrike">
              <a:latin typeface="Arial"/>
            </a:endParaRPr>
          </a:p>
          <a:p>
            <a:r>
              <a:rPr b="1" lang="en-US" sz="1150" spc="-1" strike="noStrike">
                <a:solidFill>
                  <a:srgbClr val="f1c40f"/>
                </a:solidFill>
                <a:latin typeface="Consolas"/>
                <a:ea typeface="Consolas"/>
              </a:rPr>
              <a:t>import </a:t>
            </a:r>
            <a:r>
              <a:rPr b="0" lang="en-US" sz="1150" spc="-1" strike="noStrike">
                <a:solidFill>
                  <a:srgbClr val="7ec8e3"/>
                </a:solidFill>
                <a:latin typeface="Consolas"/>
                <a:ea typeface="Consolas"/>
              </a:rPr>
              <a:t>ecommerce.payments.gateway </a:t>
            </a:r>
            <a:r>
              <a:rPr b="1" lang="en-US" sz="1150" spc="-1" strike="noStrike">
                <a:solidFill>
                  <a:srgbClr val="f1c40f"/>
                </a:solidFill>
                <a:latin typeface="Consolas"/>
                <a:ea typeface="Consolas"/>
              </a:rPr>
              <a:t>as </a:t>
            </a:r>
            <a:r>
              <a:rPr b="0" lang="en-US" sz="1150" spc="-1" strike="noStrike">
                <a:solidFill>
                  <a:srgbClr val="ce93d8"/>
                </a:solidFill>
                <a:latin typeface="Consolas"/>
                <a:ea typeface="Consolas"/>
              </a:rPr>
              <a:t>gw</a:t>
            </a:r>
            <a:endParaRPr b="0" lang="en-IN" sz="1150" spc="-1" strike="noStrike">
              <a:latin typeface="Arial"/>
            </a:endParaRPr>
          </a:p>
          <a:p>
            <a:endParaRPr b="0" lang="en-IN" sz="1150" spc="-1" strike="noStrike">
              <a:latin typeface="Arial"/>
            </a:endParaRPr>
          </a:p>
          <a:p>
            <a:r>
              <a:rPr b="0" i="1" lang="en-US" sz="1150" spc="-1" strike="noStrike">
                <a:solidFill>
                  <a:srgbClr val="6a9fa8"/>
                </a:solidFill>
                <a:latin typeface="Consolas"/>
                <a:ea typeface="Consolas"/>
              </a:rPr>
              <a:t># from ... import style</a:t>
            </a:r>
            <a:endParaRPr b="0" lang="en-IN" sz="1150" spc="-1" strike="noStrike">
              <a:latin typeface="Arial"/>
            </a:endParaRPr>
          </a:p>
          <a:p>
            <a:r>
              <a:rPr b="1" lang="en-US" sz="1150" spc="-1" strike="noStrike">
                <a:solidFill>
                  <a:srgbClr val="f1c40f"/>
                </a:solidFill>
                <a:latin typeface="Consolas"/>
                <a:ea typeface="Consolas"/>
              </a:rPr>
              <a:t>from </a:t>
            </a:r>
            <a:r>
              <a:rPr b="0" lang="en-US" sz="1150" spc="-1" strike="noStrike">
                <a:solidFill>
                  <a:srgbClr val="7ec8e3"/>
                </a:solidFill>
                <a:latin typeface="Consolas"/>
                <a:ea typeface="Consolas"/>
              </a:rPr>
              <a:t>ecommerce.orders </a:t>
            </a:r>
            <a:r>
              <a:rPr b="1" lang="en-US" sz="1150" spc="-1" strike="noStrike">
                <a:solidFill>
                  <a:srgbClr val="f1c40f"/>
                </a:solidFill>
                <a:latin typeface="Consolas"/>
                <a:ea typeface="Consolas"/>
              </a:rPr>
              <a:t>import </a:t>
            </a:r>
            <a:r>
              <a:rPr b="0" lang="en-US" sz="1150" spc="-1" strike="noStrike">
                <a:solidFill>
                  <a:srgbClr val="ce93d8"/>
                </a:solidFill>
                <a:latin typeface="Consolas"/>
                <a:ea typeface="Consolas"/>
              </a:rPr>
              <a:t>checkout</a:t>
            </a:r>
            <a:endParaRPr b="0" lang="en-IN" sz="1150" spc="-1" strike="noStrike">
              <a:latin typeface="Arial"/>
            </a:endParaRPr>
          </a:p>
          <a:p>
            <a:endParaRPr b="0" lang="en-IN" sz="1150" spc="-1" strike="noStrike">
              <a:latin typeface="Arial"/>
            </a:endParaRPr>
          </a:p>
          <a:p>
            <a:r>
              <a:rPr b="0" i="1" lang="en-US" sz="1150" spc="-1" strike="noStrike">
                <a:solidFill>
                  <a:srgbClr val="6a9fa8"/>
                </a:solidFill>
                <a:latin typeface="Consolas"/>
                <a:ea typeface="Consolas"/>
              </a:rPr>
              <a:t># Use the sub-modules</a:t>
            </a:r>
            <a:endParaRPr b="0" lang="en-IN" sz="1150" spc="-1" strike="noStrike">
              <a:latin typeface="Arial"/>
            </a:endParaRPr>
          </a:p>
          <a:p>
            <a:r>
              <a:rPr b="0" lang="en-US" sz="1150" spc="-1" strike="noStrike">
                <a:solidFill>
                  <a:srgbClr val="ffffff"/>
                </a:solidFill>
                <a:latin typeface="Consolas"/>
                <a:ea typeface="Consolas"/>
              </a:rPr>
              <a:t>cart.add_item(</a:t>
            </a:r>
            <a:r>
              <a:rPr b="0" lang="en-US" sz="1150" spc="-1" strike="noStrike">
                <a:solidFill>
                  <a:srgbClr val="98fb98"/>
                </a:solidFill>
                <a:latin typeface="Consolas"/>
                <a:ea typeface="Consolas"/>
              </a:rPr>
              <a:t>"Laptop"</a:t>
            </a:r>
            <a:r>
              <a:rPr b="0" lang="en-US" sz="1150" spc="-1" strike="noStrike">
                <a:solidFill>
                  <a:srgbClr val="ffffff"/>
                </a:solidFill>
                <a:latin typeface="Consolas"/>
                <a:ea typeface="Consolas"/>
              </a:rPr>
              <a:t>, qty=</a:t>
            </a:r>
            <a:r>
              <a:rPr b="0" lang="en-US" sz="1150" spc="-1" strike="noStrike">
                <a:solidFill>
                  <a:srgbClr val="98fb98"/>
                </a:solidFill>
                <a:latin typeface="Consolas"/>
                <a:ea typeface="Consolas"/>
              </a:rPr>
              <a:t>1</a:t>
            </a:r>
            <a:r>
              <a:rPr b="0" lang="en-US" sz="1150" spc="-1" strike="noStrike">
                <a:solidFill>
                  <a:srgbClr val="ffffff"/>
                </a:solidFill>
                <a:latin typeface="Consolas"/>
                <a:ea typeface="Consolas"/>
              </a:rPr>
              <a:t>)</a:t>
            </a:r>
            <a:endParaRPr b="0" lang="en-IN" sz="1150" spc="-1" strike="noStrike">
              <a:latin typeface="Arial"/>
            </a:endParaRPr>
          </a:p>
          <a:p>
            <a:r>
              <a:rPr b="0" lang="en-US" sz="1150" spc="-1" strike="noStrike">
                <a:solidFill>
                  <a:srgbClr val="ffffff"/>
                </a:solidFill>
                <a:latin typeface="Consolas"/>
                <a:ea typeface="Consolas"/>
              </a:rPr>
              <a:t>stk.check_availability(</a:t>
            </a:r>
            <a:r>
              <a:rPr b="0" lang="en-US" sz="1150" spc="-1" strike="noStrike">
                <a:solidFill>
                  <a:srgbClr val="98fb98"/>
                </a:solidFill>
                <a:latin typeface="Consolas"/>
                <a:ea typeface="Consolas"/>
              </a:rPr>
              <a:t>"Laptop"</a:t>
            </a:r>
            <a:r>
              <a:rPr b="0" lang="en-US" sz="1150" spc="-1" strike="noStrike">
                <a:solidFill>
                  <a:srgbClr val="ffffff"/>
                </a:solidFill>
                <a:latin typeface="Consolas"/>
                <a:ea typeface="Consolas"/>
              </a:rPr>
              <a:t>)</a:t>
            </a:r>
            <a:endParaRPr b="0" lang="en-IN" sz="1150" spc="-1" strike="noStrike">
              <a:latin typeface="Arial"/>
            </a:endParaRPr>
          </a:p>
          <a:p>
            <a:r>
              <a:rPr b="0" lang="en-US" sz="1150" spc="-1" strike="noStrike">
                <a:solidFill>
                  <a:srgbClr val="ffffff"/>
                </a:solidFill>
                <a:latin typeface="Consolas"/>
                <a:ea typeface="Consolas"/>
              </a:rPr>
              <a:t>checkout.place_order()</a:t>
            </a:r>
            <a:endParaRPr b="0" lang="en-IN" sz="1150" spc="-1" strike="noStrike">
              <a:latin typeface="Arial"/>
            </a:endParaRPr>
          </a:p>
          <a:p>
            <a:r>
              <a:rPr b="0" lang="en-US" sz="1150" spc="-1" strike="noStrike">
                <a:solidFill>
                  <a:srgbClr val="ffffff"/>
                </a:solidFill>
                <a:latin typeface="Consolas"/>
                <a:ea typeface="Consolas"/>
              </a:rPr>
              <a:t>gw.process_payment(</a:t>
            </a:r>
            <a:r>
              <a:rPr b="0" lang="en-US" sz="1150" spc="-1" strike="noStrike">
                <a:solidFill>
                  <a:srgbClr val="98fb98"/>
                </a:solidFill>
                <a:latin typeface="Consolas"/>
                <a:ea typeface="Consolas"/>
              </a:rPr>
              <a:t>49999</a:t>
            </a:r>
            <a:r>
              <a:rPr b="0" lang="en-US" sz="1150" spc="-1" strike="noStrike">
                <a:solidFill>
                  <a:srgbClr val="ffffff"/>
                </a:solidFill>
                <a:latin typeface="Consolas"/>
                <a:ea typeface="Consolas"/>
              </a:rPr>
              <a:t>, </a:t>
            </a:r>
            <a:r>
              <a:rPr b="0" lang="en-US" sz="1150" spc="-1" strike="noStrike">
                <a:solidFill>
                  <a:srgbClr val="98fb98"/>
                </a:solidFill>
                <a:latin typeface="Consolas"/>
                <a:ea typeface="Consolas"/>
              </a:rPr>
              <a:t>"UPI"</a:t>
            </a:r>
            <a:r>
              <a:rPr b="0" lang="en-US" sz="1150" spc="-1" strike="noStrike">
                <a:solidFill>
                  <a:srgbClr val="ffffff"/>
                </a:solidFill>
                <a:latin typeface="Consolas"/>
                <a:ea typeface="Consolas"/>
              </a:rPr>
              <a:t>)</a:t>
            </a:r>
            <a:endParaRPr b="0" lang="en-IN" sz="1150" spc="-1" strike="noStrike">
              <a:latin typeface="Arial"/>
            </a:endParaRPr>
          </a:p>
          <a:p>
            <a:endParaRPr b="0" lang="en-IN" sz="1150" spc="-1" strike="noStrike">
              <a:latin typeface="Arial"/>
            </a:endParaRPr>
          </a:p>
          <a:p>
            <a:r>
              <a:rPr b="0" i="1" lang="en-US" sz="1150" spc="-1" strike="noStrike">
                <a:solidFill>
                  <a:srgbClr val="6a9fa8"/>
                </a:solidFill>
                <a:latin typeface="Consolas"/>
                <a:ea typeface="Consolas"/>
              </a:rPr>
              <a:t># Dot-notation = folder path!</a:t>
            </a:r>
            <a:endParaRPr b="0" lang="en-IN" sz="1150" spc="-1" strike="noStrike">
              <a:latin typeface="Arial"/>
            </a:endParaRPr>
          </a:p>
          <a:p>
            <a:r>
              <a:rPr b="0" lang="en-US" sz="1150" spc="-1" strike="noStrike">
                <a:solidFill>
                  <a:srgbClr val="a8d8ea"/>
                </a:solidFill>
                <a:latin typeface="Consolas"/>
                <a:ea typeface="Consolas"/>
              </a:rPr>
              <a:t># ecommerce.orders.cart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ea"/>
                </a:solidFill>
                <a:latin typeface="Consolas"/>
                <a:ea typeface="Consolas"/>
              </a:rPr>
              <a:t>#  folder  . folder . file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1"/>
          <p:cNvSpPr/>
          <p:nvPr/>
        </p:nvSpPr>
        <p:spPr>
          <a:xfrm>
            <a:off x="365760" y="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Third-Party Packages — PyPI &amp; pip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42" name="Shape 2"/>
          <p:cNvSpPr/>
          <p:nvPr/>
        </p:nvSpPr>
        <p:spPr>
          <a:xfrm>
            <a:off x="274320" y="749880"/>
            <a:ext cx="3977280" cy="1919880"/>
          </a:xfrm>
          <a:prstGeom prst="rect">
            <a:avLst/>
          </a:prstGeom>
          <a:solidFill>
            <a:srgbClr val="ffffff"/>
          </a:solidFill>
          <a:ln w="19050">
            <a:solidFill>
              <a:srgbClr val="6b2d8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3" name="Shape 3"/>
          <p:cNvSpPr/>
          <p:nvPr/>
        </p:nvSpPr>
        <p:spPr>
          <a:xfrm>
            <a:off x="274320" y="749880"/>
            <a:ext cx="3977280" cy="43848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4"/>
          <p:cNvSpPr/>
          <p:nvPr/>
        </p:nvSpPr>
        <p:spPr>
          <a:xfrm>
            <a:off x="384120" y="749880"/>
            <a:ext cx="3748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🌐  </a:t>
            </a: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PyPI — Python Package Index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384120" y="1261800"/>
            <a:ext cx="374868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529"/>
                </a:solidFill>
                <a:latin typeface="Calibri"/>
              </a:rPr>
              <a:t>pypi.org hosts hundreds of thousands of open-source Python packages contributed by the global Python community (Pythonistas).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529"/>
                </a:solidFill>
                <a:latin typeface="Calibri"/>
              </a:rPr>
              <a:t>Anyone can publish there — and you can use any package for free!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6" name="Text 6"/>
          <p:cNvSpPr/>
          <p:nvPr/>
        </p:nvSpPr>
        <p:spPr>
          <a:xfrm>
            <a:off x="274320" y="2788920"/>
            <a:ext cx="8595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6b2d8b"/>
                </a:solidFill>
                <a:latin typeface="Calibri"/>
              </a:rPr>
              <a:t>How to install and use a third-party package: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47" name="Shape 7"/>
          <p:cNvSpPr/>
          <p:nvPr/>
        </p:nvSpPr>
        <p:spPr>
          <a:xfrm>
            <a:off x="274320" y="3154680"/>
            <a:ext cx="2742840" cy="12981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2d8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8" name="Shape 8"/>
          <p:cNvSpPr/>
          <p:nvPr/>
        </p:nvSpPr>
        <p:spPr>
          <a:xfrm>
            <a:off x="274320" y="3154680"/>
            <a:ext cx="2742840" cy="43848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9"/>
          <p:cNvSpPr/>
          <p:nvPr/>
        </p:nvSpPr>
        <p:spPr>
          <a:xfrm>
            <a:off x="365760" y="3154680"/>
            <a:ext cx="2559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1  Find on PyPI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50" name="Text 10"/>
          <p:cNvSpPr/>
          <p:nvPr/>
        </p:nvSpPr>
        <p:spPr>
          <a:xfrm>
            <a:off x="384120" y="3639240"/>
            <a:ext cx="2523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529"/>
                </a:solidFill>
                <a:latin typeface="Consolas"/>
                <a:ea typeface="Consolas"/>
              </a:rPr>
              <a:t>Search pypi.org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529"/>
                </a:solidFill>
                <a:latin typeface="Consolas"/>
                <a:ea typeface="Consolas"/>
              </a:rPr>
              <a:t>for the package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1" name="Text 11"/>
          <p:cNvSpPr/>
          <p:nvPr/>
        </p:nvSpPr>
        <p:spPr>
          <a:xfrm>
            <a:off x="3035880" y="3547800"/>
            <a:ext cx="182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6b2d8b"/>
                </a:solidFill>
                <a:latin typeface="Calibri"/>
              </a:rPr>
              <a:t>→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52" name="Shape 12"/>
          <p:cNvSpPr/>
          <p:nvPr/>
        </p:nvSpPr>
        <p:spPr>
          <a:xfrm>
            <a:off x="3200400" y="3154680"/>
            <a:ext cx="2742840" cy="1298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08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3" name="Shape 13"/>
          <p:cNvSpPr/>
          <p:nvPr/>
        </p:nvSpPr>
        <p:spPr>
          <a:xfrm>
            <a:off x="3200400" y="3154680"/>
            <a:ext cx="2742840" cy="4384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14"/>
          <p:cNvSpPr/>
          <p:nvPr/>
        </p:nvSpPr>
        <p:spPr>
          <a:xfrm>
            <a:off x="3291840" y="3154680"/>
            <a:ext cx="2559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2  pip install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55" name="Text 15"/>
          <p:cNvSpPr/>
          <p:nvPr/>
        </p:nvSpPr>
        <p:spPr>
          <a:xfrm>
            <a:off x="3310200" y="3639240"/>
            <a:ext cx="2523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529"/>
                </a:solidFill>
                <a:latin typeface="Consolas"/>
                <a:ea typeface="Consolas"/>
              </a:rPr>
              <a:t>Run in terminal: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529"/>
                </a:solidFill>
                <a:latin typeface="Consolas"/>
                <a:ea typeface="Consolas"/>
              </a:rPr>
              <a:t>pip install pkgname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6" name="Text 16"/>
          <p:cNvSpPr/>
          <p:nvPr/>
        </p:nvSpPr>
        <p:spPr>
          <a:xfrm>
            <a:off x="5961960" y="3547800"/>
            <a:ext cx="182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6a085"/>
                </a:solidFill>
                <a:latin typeface="Calibri"/>
              </a:rPr>
              <a:t>→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57" name="Shape 17"/>
          <p:cNvSpPr/>
          <p:nvPr/>
        </p:nvSpPr>
        <p:spPr>
          <a:xfrm>
            <a:off x="6126480" y="3154680"/>
            <a:ext cx="2742840" cy="1298160"/>
          </a:xfrm>
          <a:prstGeom prst="rect">
            <a:avLst/>
          </a:prstGeom>
          <a:solidFill>
            <a:srgbClr val="ffffff"/>
          </a:solidFill>
          <a:ln w="19050">
            <a:solidFill>
              <a:srgbClr val="9b59b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8" name="Shape 18"/>
          <p:cNvSpPr/>
          <p:nvPr/>
        </p:nvSpPr>
        <p:spPr>
          <a:xfrm>
            <a:off x="6126480" y="3154680"/>
            <a:ext cx="2742840" cy="438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19"/>
          <p:cNvSpPr/>
          <p:nvPr/>
        </p:nvSpPr>
        <p:spPr>
          <a:xfrm>
            <a:off x="6217920" y="3154680"/>
            <a:ext cx="2559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3  Import in code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60" name="Text 20"/>
          <p:cNvSpPr/>
          <p:nvPr/>
        </p:nvSpPr>
        <p:spPr>
          <a:xfrm>
            <a:off x="6236280" y="3639240"/>
            <a:ext cx="2523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529"/>
                </a:solidFill>
                <a:latin typeface="Consolas"/>
                <a:ea typeface="Consolas"/>
              </a:rPr>
              <a:t>import pkgname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529"/>
                </a:solidFill>
                <a:latin typeface="Consolas"/>
                <a:ea typeface="Consolas"/>
              </a:rPr>
              <a:t># use it!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1" name="Shape 21"/>
          <p:cNvSpPr/>
          <p:nvPr/>
        </p:nvSpPr>
        <p:spPr>
          <a:xfrm>
            <a:off x="4617720" y="749880"/>
            <a:ext cx="4251600" cy="1919880"/>
          </a:xfrm>
          <a:prstGeom prst="rect">
            <a:avLst/>
          </a:prstGeom>
          <a:solidFill>
            <a:srgbClr val="ffffff"/>
          </a:solidFill>
          <a:ln w="19050">
            <a:solidFill>
              <a:srgbClr val="9b59b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2" name="Shape 22"/>
          <p:cNvSpPr/>
          <p:nvPr/>
        </p:nvSpPr>
        <p:spPr>
          <a:xfrm>
            <a:off x="4617720" y="749880"/>
            <a:ext cx="4251600" cy="438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23"/>
          <p:cNvSpPr/>
          <p:nvPr/>
        </p:nvSpPr>
        <p:spPr>
          <a:xfrm>
            <a:off x="4727520" y="749880"/>
            <a:ext cx="4041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🌟 </a:t>
            </a: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Popular Third-Party Packages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64" name="Shape 24"/>
          <p:cNvSpPr/>
          <p:nvPr/>
        </p:nvSpPr>
        <p:spPr>
          <a:xfrm>
            <a:off x="4736520" y="1261800"/>
            <a:ext cx="1938240" cy="347040"/>
          </a:xfrm>
          <a:prstGeom prst="rect">
            <a:avLst/>
          </a:prstGeom>
          <a:solidFill>
            <a:srgbClr val="f5eef8"/>
          </a:solidFill>
          <a:ln w="1016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25"/>
          <p:cNvSpPr/>
          <p:nvPr/>
        </p:nvSpPr>
        <p:spPr>
          <a:xfrm>
            <a:off x="4791600" y="1261800"/>
            <a:ext cx="80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6b2d8b"/>
                </a:solidFill>
                <a:latin typeface="Consolas"/>
                <a:ea typeface="Consolas"/>
              </a:rPr>
              <a:t>requests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6" name="Text 26"/>
          <p:cNvSpPr/>
          <p:nvPr/>
        </p:nvSpPr>
        <p:spPr>
          <a:xfrm>
            <a:off x="5614560" y="1261800"/>
            <a:ext cx="1005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212529"/>
                </a:solidFill>
                <a:latin typeface="Calibri"/>
              </a:rPr>
              <a:t>HTTP calls, REST APIs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7" name="Shape 27"/>
          <p:cNvSpPr/>
          <p:nvPr/>
        </p:nvSpPr>
        <p:spPr>
          <a:xfrm>
            <a:off x="6839640" y="1261800"/>
            <a:ext cx="1938240" cy="347040"/>
          </a:xfrm>
          <a:prstGeom prst="rect">
            <a:avLst/>
          </a:prstGeom>
          <a:solidFill>
            <a:srgbClr val="f5eef8"/>
          </a:solidFill>
          <a:ln w="1016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28"/>
          <p:cNvSpPr/>
          <p:nvPr/>
        </p:nvSpPr>
        <p:spPr>
          <a:xfrm>
            <a:off x="6894720" y="1261800"/>
            <a:ext cx="80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6b2d8b"/>
                </a:solidFill>
                <a:latin typeface="Consolas"/>
                <a:ea typeface="Consolas"/>
              </a:rPr>
              <a:t>Pillow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9" name="Text 29"/>
          <p:cNvSpPr/>
          <p:nvPr/>
        </p:nvSpPr>
        <p:spPr>
          <a:xfrm>
            <a:off x="7717680" y="1261800"/>
            <a:ext cx="1005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212529"/>
                </a:solidFill>
                <a:latin typeface="Calibri"/>
              </a:rPr>
              <a:t>Image processing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0" name="Shape 30"/>
          <p:cNvSpPr/>
          <p:nvPr/>
        </p:nvSpPr>
        <p:spPr>
          <a:xfrm>
            <a:off x="4736520" y="1682640"/>
            <a:ext cx="1938240" cy="347040"/>
          </a:xfrm>
          <a:prstGeom prst="rect">
            <a:avLst/>
          </a:prstGeom>
          <a:solidFill>
            <a:srgbClr val="f5eef8"/>
          </a:solidFill>
          <a:ln w="1016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31"/>
          <p:cNvSpPr/>
          <p:nvPr/>
        </p:nvSpPr>
        <p:spPr>
          <a:xfrm>
            <a:off x="4791600" y="1682640"/>
            <a:ext cx="80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6b2d8b"/>
                </a:solidFill>
                <a:latin typeface="Consolas"/>
                <a:ea typeface="Consolas"/>
              </a:rPr>
              <a:t>Flask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2" name="Text 32"/>
          <p:cNvSpPr/>
          <p:nvPr/>
        </p:nvSpPr>
        <p:spPr>
          <a:xfrm>
            <a:off x="5614560" y="1682640"/>
            <a:ext cx="1005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212529"/>
                </a:solidFill>
                <a:latin typeface="Calibri"/>
              </a:rPr>
              <a:t>Web apps &amp; REST APIs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3" name="Shape 33"/>
          <p:cNvSpPr/>
          <p:nvPr/>
        </p:nvSpPr>
        <p:spPr>
          <a:xfrm>
            <a:off x="6839640" y="1682640"/>
            <a:ext cx="1938240" cy="347040"/>
          </a:xfrm>
          <a:prstGeom prst="rect">
            <a:avLst/>
          </a:prstGeom>
          <a:solidFill>
            <a:srgbClr val="f5eef8"/>
          </a:solidFill>
          <a:ln w="1016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34"/>
          <p:cNvSpPr/>
          <p:nvPr/>
        </p:nvSpPr>
        <p:spPr>
          <a:xfrm>
            <a:off x="6894720" y="1682640"/>
            <a:ext cx="80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6b2d8b"/>
                </a:solidFill>
                <a:latin typeface="Consolas"/>
                <a:ea typeface="Consolas"/>
              </a:rPr>
              <a:t>SQLAlchemy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5" name="Text 35"/>
          <p:cNvSpPr/>
          <p:nvPr/>
        </p:nvSpPr>
        <p:spPr>
          <a:xfrm>
            <a:off x="7717680" y="1682640"/>
            <a:ext cx="1005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212529"/>
                </a:solidFill>
                <a:latin typeface="Calibri"/>
              </a:rPr>
              <a:t>Database ORM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6" name="Shape 36"/>
          <p:cNvSpPr/>
          <p:nvPr/>
        </p:nvSpPr>
        <p:spPr>
          <a:xfrm>
            <a:off x="4736520" y="2103120"/>
            <a:ext cx="1938240" cy="347040"/>
          </a:xfrm>
          <a:prstGeom prst="rect">
            <a:avLst/>
          </a:prstGeom>
          <a:solidFill>
            <a:srgbClr val="f5eef8"/>
          </a:solidFill>
          <a:ln w="1016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37"/>
          <p:cNvSpPr/>
          <p:nvPr/>
        </p:nvSpPr>
        <p:spPr>
          <a:xfrm>
            <a:off x="4791600" y="2103120"/>
            <a:ext cx="80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6b2d8b"/>
                </a:solidFill>
                <a:latin typeface="Consolas"/>
                <a:ea typeface="Consolas"/>
              </a:rPr>
              <a:t>pytest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8" name="Text 38"/>
          <p:cNvSpPr/>
          <p:nvPr/>
        </p:nvSpPr>
        <p:spPr>
          <a:xfrm>
            <a:off x="5614560" y="2103120"/>
            <a:ext cx="1005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212529"/>
                </a:solidFill>
                <a:latin typeface="Calibri"/>
              </a:rPr>
              <a:t>Testing framework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9" name="Shape 39"/>
          <p:cNvSpPr/>
          <p:nvPr/>
        </p:nvSpPr>
        <p:spPr>
          <a:xfrm>
            <a:off x="6839640" y="2103120"/>
            <a:ext cx="1938240" cy="347040"/>
          </a:xfrm>
          <a:prstGeom prst="rect">
            <a:avLst/>
          </a:prstGeom>
          <a:solidFill>
            <a:srgbClr val="f5eef8"/>
          </a:solidFill>
          <a:ln w="1016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40"/>
          <p:cNvSpPr/>
          <p:nvPr/>
        </p:nvSpPr>
        <p:spPr>
          <a:xfrm>
            <a:off x="6894720" y="2103120"/>
            <a:ext cx="80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6b2d8b"/>
                </a:solidFill>
                <a:latin typeface="Consolas"/>
                <a:ea typeface="Consolas"/>
              </a:rPr>
              <a:t>rich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1" name="Text 41"/>
          <p:cNvSpPr/>
          <p:nvPr/>
        </p:nvSpPr>
        <p:spPr>
          <a:xfrm>
            <a:off x="7717680" y="2103120"/>
            <a:ext cx="1005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212529"/>
                </a:solidFill>
                <a:latin typeface="Calibri"/>
              </a:rPr>
              <a:t>Beautiful terminal output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2" name="Shape 42"/>
          <p:cNvSpPr/>
          <p:nvPr/>
        </p:nvSpPr>
        <p:spPr>
          <a:xfrm>
            <a:off x="274320" y="4590360"/>
            <a:ext cx="8595000" cy="475200"/>
          </a:xfrm>
          <a:prstGeom prst="rect">
            <a:avLst/>
          </a:prstGeom>
          <a:solidFill>
            <a:srgbClr val="140320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43"/>
          <p:cNvSpPr/>
          <p:nvPr/>
        </p:nvSpPr>
        <p:spPr>
          <a:xfrm>
            <a:off x="365760" y="4608720"/>
            <a:ext cx="8412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1c40f"/>
                </a:solidFill>
                <a:latin typeface="Consolas"/>
                <a:ea typeface="Consolas"/>
              </a:rPr>
              <a:t>pip install requests     </a:t>
            </a:r>
            <a:r>
              <a:rPr b="0" lang="en-US" sz="1150" spc="-1" strike="noStrike">
                <a:solidFill>
                  <a:srgbClr val="6c757d"/>
                </a:solidFill>
                <a:latin typeface="Consolas"/>
                <a:ea typeface="Consolas"/>
              </a:rPr>
              <a:t>│  </a:t>
            </a:r>
            <a:r>
              <a:rPr b="0" lang="en-US" sz="1150" spc="-1" strike="noStrike">
                <a:solidFill>
                  <a:srgbClr val="f1c40f"/>
                </a:solidFill>
                <a:latin typeface="Consolas"/>
                <a:ea typeface="Consolas"/>
              </a:rPr>
              <a:t>pip install requests==2.31.0    </a:t>
            </a:r>
            <a:r>
              <a:rPr b="0" lang="en-US" sz="1150" spc="-1" strike="noStrike">
                <a:solidFill>
                  <a:srgbClr val="6c757d"/>
                </a:solidFill>
                <a:latin typeface="Consolas"/>
                <a:ea typeface="Consolas"/>
              </a:rPr>
              <a:t>│  </a:t>
            </a:r>
            <a:r>
              <a:rPr b="0" lang="en-US" sz="1150" spc="-1" strike="noStrike">
                <a:solidFill>
                  <a:srgbClr val="f1c40f"/>
                </a:solidFill>
                <a:latin typeface="Consolas"/>
                <a:ea typeface="Consolas"/>
              </a:rPr>
              <a:t>pip list    </a:t>
            </a:r>
            <a:r>
              <a:rPr b="0" lang="en-US" sz="1150" spc="-1" strike="noStrike">
                <a:solidFill>
                  <a:srgbClr val="6c757d"/>
                </a:solidFill>
                <a:latin typeface="Consolas"/>
                <a:ea typeface="Consolas"/>
              </a:rPr>
              <a:t>│  </a:t>
            </a:r>
            <a:r>
              <a:rPr b="0" lang="en-US" sz="1150" spc="-1" strike="noStrike">
                <a:solidFill>
                  <a:srgbClr val="f1c40f"/>
                </a:solidFill>
                <a:latin typeface="Consolas"/>
                <a:ea typeface="Consolas"/>
              </a:rPr>
              <a:t>pip uninstall requests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07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Text 1"/>
          <p:cNvSpPr/>
          <p:nvPr/>
        </p:nvSpPr>
        <p:spPr>
          <a:xfrm>
            <a:off x="365760" y="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Chapter 16 — Complete Summary &amp; Cheat Sheet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86" name="Shape 2"/>
          <p:cNvSpPr/>
          <p:nvPr/>
        </p:nvSpPr>
        <p:spPr>
          <a:xfrm>
            <a:off x="274320" y="749880"/>
            <a:ext cx="4205880" cy="776880"/>
          </a:xfrm>
          <a:prstGeom prst="rect">
            <a:avLst/>
          </a:prstGeom>
          <a:solidFill>
            <a:srgbClr val="ffffff">
              <a:alpha val="10000"/>
            </a:srgbClr>
          </a:solidFill>
          <a:ln w="1524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Shape 3"/>
          <p:cNvSpPr/>
          <p:nvPr/>
        </p:nvSpPr>
        <p:spPr>
          <a:xfrm>
            <a:off x="274320" y="749880"/>
            <a:ext cx="63720" cy="7768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4"/>
          <p:cNvSpPr/>
          <p:nvPr/>
        </p:nvSpPr>
        <p:spPr>
          <a:xfrm>
            <a:off x="438840" y="79560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module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438840" y="1143000"/>
            <a:ext cx="3931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d7bde2"/>
                </a:solidFill>
                <a:latin typeface="Calibri"/>
              </a:rPr>
              <a:t>Any .py file — groups related functions, classes, constants for reuse.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90" name="Shape 6"/>
          <p:cNvSpPr/>
          <p:nvPr/>
        </p:nvSpPr>
        <p:spPr>
          <a:xfrm>
            <a:off x="4709160" y="749880"/>
            <a:ext cx="4205880" cy="776880"/>
          </a:xfrm>
          <a:prstGeom prst="rect">
            <a:avLst/>
          </a:prstGeom>
          <a:solidFill>
            <a:srgbClr val="ffffff">
              <a:alpha val="10000"/>
            </a:srgbClr>
          </a:solidFill>
          <a:ln w="15240">
            <a:solidFill>
              <a:srgbClr val="2980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Shape 7"/>
          <p:cNvSpPr/>
          <p:nvPr/>
        </p:nvSpPr>
        <p:spPr>
          <a:xfrm>
            <a:off x="4709160" y="749880"/>
            <a:ext cx="63720" cy="776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8"/>
          <p:cNvSpPr/>
          <p:nvPr/>
        </p:nvSpPr>
        <p:spPr>
          <a:xfrm>
            <a:off x="4873680" y="79560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import module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3" name="Text 9"/>
          <p:cNvSpPr/>
          <p:nvPr/>
        </p:nvSpPr>
        <p:spPr>
          <a:xfrm>
            <a:off x="4873680" y="1143000"/>
            <a:ext cx="3931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d7bde2"/>
                </a:solidFill>
                <a:latin typeface="Calibri"/>
              </a:rPr>
              <a:t>Load module; access via module.name prefix. Safest form.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94" name="Shape 10"/>
          <p:cNvSpPr/>
          <p:nvPr/>
        </p:nvSpPr>
        <p:spPr>
          <a:xfrm>
            <a:off x="274320" y="1618560"/>
            <a:ext cx="4205880" cy="776880"/>
          </a:xfrm>
          <a:prstGeom prst="rect">
            <a:avLst/>
          </a:prstGeom>
          <a:solidFill>
            <a:srgbClr val="ffffff">
              <a:alpha val="10000"/>
            </a:srgbClr>
          </a:solidFill>
          <a:ln w="1524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Shape 11"/>
          <p:cNvSpPr/>
          <p:nvPr/>
        </p:nvSpPr>
        <p:spPr>
          <a:xfrm>
            <a:off x="274320" y="1618560"/>
            <a:ext cx="63720" cy="7768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12"/>
          <p:cNvSpPr/>
          <p:nvPr/>
        </p:nvSpPr>
        <p:spPr>
          <a:xfrm>
            <a:off x="438840" y="16642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from mod import fn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7" name="Text 13"/>
          <p:cNvSpPr/>
          <p:nvPr/>
        </p:nvSpPr>
        <p:spPr>
          <a:xfrm>
            <a:off x="438840" y="2011680"/>
            <a:ext cx="3931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d7bde2"/>
                </a:solidFill>
                <a:latin typeface="Calibri"/>
              </a:rPr>
              <a:t>Import specific names directly — no prefix needed.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98" name="Shape 14"/>
          <p:cNvSpPr/>
          <p:nvPr/>
        </p:nvSpPr>
        <p:spPr>
          <a:xfrm>
            <a:off x="4709160" y="1618560"/>
            <a:ext cx="4205880" cy="776880"/>
          </a:xfrm>
          <a:prstGeom prst="rect">
            <a:avLst/>
          </a:prstGeom>
          <a:solidFill>
            <a:srgbClr val="ffffff">
              <a:alpha val="10000"/>
            </a:srgbClr>
          </a:solidFill>
          <a:ln w="1524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Shape 15"/>
          <p:cNvSpPr/>
          <p:nvPr/>
        </p:nvSpPr>
        <p:spPr>
          <a:xfrm>
            <a:off x="4709160" y="1618560"/>
            <a:ext cx="63720" cy="776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16"/>
          <p:cNvSpPr/>
          <p:nvPr/>
        </p:nvSpPr>
        <p:spPr>
          <a:xfrm>
            <a:off x="4873680" y="16642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import mod as alias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1" name="Text 17"/>
          <p:cNvSpPr/>
          <p:nvPr/>
        </p:nvSpPr>
        <p:spPr>
          <a:xfrm>
            <a:off x="4873680" y="2011680"/>
            <a:ext cx="3931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d7bde2"/>
                </a:solidFill>
                <a:latin typeface="Calibri"/>
              </a:rPr>
              <a:t>Rename module for brevity: import statistics as st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02" name="Shape 18"/>
          <p:cNvSpPr/>
          <p:nvPr/>
        </p:nvSpPr>
        <p:spPr>
          <a:xfrm>
            <a:off x="274320" y="2487240"/>
            <a:ext cx="4205880" cy="776880"/>
          </a:xfrm>
          <a:prstGeom prst="rect">
            <a:avLst/>
          </a:prstGeom>
          <a:solidFill>
            <a:srgbClr val="ffffff">
              <a:alpha val="10000"/>
            </a:srgbClr>
          </a:solidFill>
          <a:ln w="1524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Shape 19"/>
          <p:cNvSpPr/>
          <p:nvPr/>
        </p:nvSpPr>
        <p:spPr>
          <a:xfrm>
            <a:off x="274320" y="2487240"/>
            <a:ext cx="63720" cy="776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20"/>
          <p:cNvSpPr/>
          <p:nvPr/>
        </p:nvSpPr>
        <p:spPr>
          <a:xfrm>
            <a:off x="438840" y="253296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__name__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5" name="Text 21"/>
          <p:cNvSpPr/>
          <p:nvPr/>
        </p:nvSpPr>
        <p:spPr>
          <a:xfrm>
            <a:off x="438840" y="2880360"/>
            <a:ext cx="3931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d7bde2"/>
                </a:solidFill>
                <a:latin typeface="Calibri"/>
              </a:rPr>
              <a:t>'__main__' when run directly; module filename when imported.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06" name="Shape 22"/>
          <p:cNvSpPr/>
          <p:nvPr/>
        </p:nvSpPr>
        <p:spPr>
          <a:xfrm>
            <a:off x="4709160" y="2487240"/>
            <a:ext cx="4205880" cy="776880"/>
          </a:xfrm>
          <a:prstGeom prst="rect">
            <a:avLst/>
          </a:prstGeom>
          <a:solidFill>
            <a:srgbClr val="ffffff">
              <a:alpha val="10000"/>
            </a:srgbClr>
          </a:solidFill>
          <a:ln w="1524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Shape 23"/>
          <p:cNvSpPr/>
          <p:nvPr/>
        </p:nvSpPr>
        <p:spPr>
          <a:xfrm>
            <a:off x="4709160" y="2487240"/>
            <a:ext cx="63720" cy="776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24"/>
          <p:cNvSpPr/>
          <p:nvPr/>
        </p:nvSpPr>
        <p:spPr>
          <a:xfrm>
            <a:off x="4873680" y="253296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if __name__=='__main__'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9" name="Text 25"/>
          <p:cNvSpPr/>
          <p:nvPr/>
        </p:nvSpPr>
        <p:spPr>
          <a:xfrm>
            <a:off x="4873680" y="2880360"/>
            <a:ext cx="3931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d7bde2"/>
                </a:solidFill>
                <a:latin typeface="Calibri"/>
              </a:rPr>
              <a:t>Guard block — runs only when file is the entry point, not on import.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10" name="Shape 26"/>
          <p:cNvSpPr/>
          <p:nvPr/>
        </p:nvSpPr>
        <p:spPr>
          <a:xfrm>
            <a:off x="274320" y="3355920"/>
            <a:ext cx="4205880" cy="776880"/>
          </a:xfrm>
          <a:prstGeom prst="rect">
            <a:avLst/>
          </a:prstGeom>
          <a:solidFill>
            <a:srgbClr val="ffffff">
              <a:alpha val="10000"/>
            </a:srgbClr>
          </a:solidFill>
          <a:ln w="15240">
            <a:solidFill>
              <a:srgbClr val="117a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Shape 27"/>
          <p:cNvSpPr/>
          <p:nvPr/>
        </p:nvSpPr>
        <p:spPr>
          <a:xfrm>
            <a:off x="274320" y="3355920"/>
            <a:ext cx="63720" cy="77688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28"/>
          <p:cNvSpPr/>
          <p:nvPr/>
        </p:nvSpPr>
        <p:spPr>
          <a:xfrm>
            <a:off x="438840" y="340164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sys.path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3" name="Text 29"/>
          <p:cNvSpPr/>
          <p:nvPr/>
        </p:nvSpPr>
        <p:spPr>
          <a:xfrm>
            <a:off x="438840" y="3749040"/>
            <a:ext cx="3931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d7bde2"/>
                </a:solidFill>
                <a:latin typeface="Calibri"/>
              </a:rPr>
              <a:t>List of directories Python searches when you import a module.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14" name="Shape 30"/>
          <p:cNvSpPr/>
          <p:nvPr/>
        </p:nvSpPr>
        <p:spPr>
          <a:xfrm>
            <a:off x="4709160" y="3355920"/>
            <a:ext cx="4205880" cy="776880"/>
          </a:xfrm>
          <a:prstGeom prst="rect">
            <a:avLst/>
          </a:prstGeom>
          <a:solidFill>
            <a:srgbClr val="ffffff">
              <a:alpha val="10000"/>
            </a:srgbClr>
          </a:solidFill>
          <a:ln w="15240">
            <a:solidFill>
              <a:srgbClr val="6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Shape 31"/>
          <p:cNvSpPr/>
          <p:nvPr/>
        </p:nvSpPr>
        <p:spPr>
          <a:xfrm>
            <a:off x="4709160" y="3355920"/>
            <a:ext cx="63720" cy="77688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32"/>
          <p:cNvSpPr/>
          <p:nvPr/>
        </p:nvSpPr>
        <p:spPr>
          <a:xfrm>
            <a:off x="4873680" y="340164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package  +  __init__.py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7" name="Text 33"/>
          <p:cNvSpPr/>
          <p:nvPr/>
        </p:nvSpPr>
        <p:spPr>
          <a:xfrm>
            <a:off x="4873680" y="3749040"/>
            <a:ext cx="3931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d7bde2"/>
                </a:solidFill>
                <a:latin typeface="Calibri"/>
              </a:rPr>
              <a:t>A folder becomes a package when it contains __init__.py.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18" name="Shape 34"/>
          <p:cNvSpPr/>
          <p:nvPr/>
        </p:nvSpPr>
        <p:spPr>
          <a:xfrm>
            <a:off x="274320" y="4224600"/>
            <a:ext cx="4205880" cy="776880"/>
          </a:xfrm>
          <a:prstGeom prst="rect">
            <a:avLst/>
          </a:prstGeom>
          <a:solidFill>
            <a:srgbClr val="ffffff">
              <a:alpha val="10000"/>
            </a:srgbClr>
          </a:solidFill>
          <a:ln w="1524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Shape 35"/>
          <p:cNvSpPr/>
          <p:nvPr/>
        </p:nvSpPr>
        <p:spPr>
          <a:xfrm>
            <a:off x="274320" y="4224600"/>
            <a:ext cx="63720" cy="7768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36"/>
          <p:cNvSpPr/>
          <p:nvPr/>
        </p:nvSpPr>
        <p:spPr>
          <a:xfrm>
            <a:off x="438840" y="427032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package.subpkg.module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1" name="Text 37"/>
          <p:cNvSpPr/>
          <p:nvPr/>
        </p:nvSpPr>
        <p:spPr>
          <a:xfrm>
            <a:off x="438840" y="4617720"/>
            <a:ext cx="3931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d7bde2"/>
                </a:solidFill>
                <a:latin typeface="Calibri"/>
              </a:rPr>
              <a:t>Dot notation = directory path to the .py file.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22" name="Shape 38"/>
          <p:cNvSpPr/>
          <p:nvPr/>
        </p:nvSpPr>
        <p:spPr>
          <a:xfrm>
            <a:off x="4709160" y="4224600"/>
            <a:ext cx="4205880" cy="776880"/>
          </a:xfrm>
          <a:prstGeom prst="rect">
            <a:avLst/>
          </a:prstGeom>
          <a:solidFill>
            <a:srgbClr val="ffffff">
              <a:alpha val="10000"/>
            </a:srgbClr>
          </a:solidFill>
          <a:ln w="1524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Shape 39"/>
          <p:cNvSpPr/>
          <p:nvPr/>
        </p:nvSpPr>
        <p:spPr>
          <a:xfrm>
            <a:off x="4709160" y="4224600"/>
            <a:ext cx="63720" cy="776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40"/>
          <p:cNvSpPr/>
          <p:nvPr/>
        </p:nvSpPr>
        <p:spPr>
          <a:xfrm>
            <a:off x="4873680" y="427032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1c40f"/>
                </a:solidFill>
                <a:latin typeface="Consolas"/>
                <a:ea typeface="Consolas"/>
              </a:rPr>
              <a:t>pip install pkgname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5" name="Text 41"/>
          <p:cNvSpPr/>
          <p:nvPr/>
        </p:nvSpPr>
        <p:spPr>
          <a:xfrm>
            <a:off x="4873680" y="4617720"/>
            <a:ext cx="3931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d7bde2"/>
                </a:solidFill>
                <a:latin typeface="Calibri"/>
              </a:rPr>
              <a:t>Download &amp; install any package from PyPI (pypi.org).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2026-02-19T12:44:29Z</dcterms:created>
  <dc:creator>PptxGenJS</dc:creator>
  <dc:description/>
  <dc:language>en-IN</dc:language>
  <cp:lastModifiedBy>PptxGenJS</cp:lastModifiedBy>
  <dcterms:modified xsi:type="dcterms:W3CDTF">2026-02-19T12:44:29Z</dcterms:modified>
  <cp:revision>1</cp:revision>
  <dc:subject>PptxGenJS Presentation</dc:subject>
  <dc:title>Python Modules &amp; Packages - Part 3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